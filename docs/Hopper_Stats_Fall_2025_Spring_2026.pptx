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48" r:id="rId5"/>
  </p:sldMasterIdLst>
  <p:sldIdLst>
    <p:sldId id="258" r:id="rId6"/>
    <p:sldId id="259" r:id="rId7"/>
    <p:sldId id="276" r:id="rId8"/>
    <p:sldId id="260" r:id="rId9"/>
    <p:sldId id="261" r:id="rId10"/>
    <p:sldId id="262" r:id="rId11"/>
    <p:sldId id="264" r:id="rId12"/>
    <p:sldId id="266" r:id="rId13"/>
    <p:sldId id="267" r:id="rId14"/>
    <p:sldId id="268" r:id="rId15"/>
    <p:sldId id="269" r:id="rId16"/>
    <p:sldId id="265" r:id="rId17"/>
    <p:sldId id="263" r:id="rId18"/>
    <p:sldId id="275" r:id="rId19"/>
    <p:sldId id="270" r:id="rId20"/>
    <p:sldId id="271" r:id="rId21"/>
    <p:sldId id="272" r:id="rId22"/>
    <p:sldId id="301" r:id="rId23"/>
    <p:sldId id="305" r:id="rId24"/>
    <p:sldId id="302" r:id="rId25"/>
    <p:sldId id="303" r:id="rId26"/>
    <p:sldId id="304" r:id="rId27"/>
    <p:sldId id="306" r:id="rId28"/>
    <p:sldId id="307" r:id="rId29"/>
    <p:sldId id="308" r:id="rId30"/>
    <p:sldId id="274" r:id="rId31"/>
    <p:sldId id="273" r:id="rId32"/>
    <p:sldId id="277" r:id="rId33"/>
    <p:sldId id="279" r:id="rId34"/>
    <p:sldId id="284" r:id="rId35"/>
    <p:sldId id="283" r:id="rId36"/>
    <p:sldId id="282" r:id="rId37"/>
    <p:sldId id="278" r:id="rId38"/>
    <p:sldId id="281" r:id="rId39"/>
    <p:sldId id="280" r:id="rId40"/>
    <p:sldId id="285" r:id="rId41"/>
    <p:sldId id="286" r:id="rId42"/>
    <p:sldId id="287" r:id="rId43"/>
    <p:sldId id="288" r:id="rId44"/>
    <p:sldId id="291" r:id="rId45"/>
    <p:sldId id="289" r:id="rId46"/>
    <p:sldId id="290" r:id="rId47"/>
    <p:sldId id="292" r:id="rId48"/>
    <p:sldId id="293" r:id="rId49"/>
    <p:sldId id="298" r:id="rId50"/>
    <p:sldId id="300" r:id="rId51"/>
    <p:sldId id="299" r:id="rId52"/>
    <p:sldId id="294" r:id="rId53"/>
    <p:sldId id="295" r:id="rId54"/>
    <p:sldId id="296" r:id="rId55"/>
    <p:sldId id="29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568BD-CF17-B893-C2A4-EF439A7B50D5}" v="5703" dt="2026-05-04T03:45:15.938"/>
    <p1510:client id="{4C4ACA94-0519-67D4-9409-6897F728DF43}" v="411" dt="2026-05-04T20:41:42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61" Type="http://schemas.microsoft.com/office/2015/10/relationships/revisionInfo" Target="revisionInfo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heme" Target="theme/theme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presProps" Target="pres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5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80765E-9E46-F923-4537-881F829F0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b="19027"/>
          <a:stretch/>
        </p:blipFill>
        <p:spPr>
          <a:xfrm>
            <a:off x="-89029" y="88900"/>
            <a:ext cx="6234858" cy="676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AEAD9E-24CC-6878-AB18-EADB79A8DB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1000"/>
          </a:blip>
          <a:srcRect l="35154" b="58161"/>
          <a:stretch/>
        </p:blipFill>
        <p:spPr>
          <a:xfrm>
            <a:off x="0" y="2743003"/>
            <a:ext cx="11725928" cy="4114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649688-59E7-1703-6239-C6E17422C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360" y="2582103"/>
            <a:ext cx="5068866" cy="138053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E2DF3-20B9-5FE4-78BC-2A84C112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4360" y="4054718"/>
            <a:ext cx="506886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E67FE4-A40D-2EE9-BF1D-253FA66505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54" t="77958" r="56462"/>
          <a:stretch/>
        </p:blipFill>
        <p:spPr>
          <a:xfrm>
            <a:off x="8858859" y="0"/>
            <a:ext cx="3333141" cy="10308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587E38-3EC4-A044-D625-EEAF1E6EC06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43950" y="974724"/>
            <a:ext cx="4952702" cy="166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857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D8DBDB-5261-D586-111B-F461DB46AA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2222" b="18224"/>
          <a:stretch/>
        </p:blipFill>
        <p:spPr>
          <a:xfrm>
            <a:off x="11070437" y="5676900"/>
            <a:ext cx="1121563" cy="11945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671" t="64971" r="26779"/>
          <a:stretch/>
        </p:blipFill>
        <p:spPr>
          <a:xfrm>
            <a:off x="0" y="0"/>
            <a:ext cx="2044700" cy="989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60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671" t="64971" r="26779"/>
          <a:stretch/>
        </p:blipFill>
        <p:spPr>
          <a:xfrm>
            <a:off x="0" y="0"/>
            <a:ext cx="2044700" cy="989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0900" y="1825625"/>
            <a:ext cx="54229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704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097" t="73191" r="26779"/>
          <a:stretch/>
        </p:blipFill>
        <p:spPr>
          <a:xfrm>
            <a:off x="5956300" y="-2875"/>
            <a:ext cx="2400300" cy="75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890886"/>
            <a:ext cx="46863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0" y="2489201"/>
            <a:ext cx="46863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3334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B771-CD45-205F-806A-81678839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2503174"/>
            <a:ext cx="4819650" cy="1267453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E9AFD-F871-6540-2115-DB916F644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7800" y="3797615"/>
            <a:ext cx="4819650" cy="15001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765A9-74CD-CC1E-48E3-3A53C4270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3259" t="9001" r="21570" b="78140"/>
          <a:stretch/>
        </p:blipFill>
        <p:spPr>
          <a:xfrm>
            <a:off x="8681059" y="6256631"/>
            <a:ext cx="3510941" cy="601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D1F781-F4CE-AC60-F115-80945A7AEA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</a:blip>
          <a:srcRect l="6365" r="1479"/>
          <a:stretch/>
        </p:blipFill>
        <p:spPr>
          <a:xfrm>
            <a:off x="-1435100" y="419100"/>
            <a:ext cx="8085811" cy="698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56F55E-839E-3694-5C2F-4668203B2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61300" y="276893"/>
            <a:ext cx="3773552" cy="126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2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DD871-3B5C-C6B1-86B7-BAD5C9E02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15E8F-94C3-DEA7-72D7-43D974A5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3BC0-FF84-DF07-2D03-812433C8C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F68AE-1121-E34D-AB43-7EFA01D82E5E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4D14-8F6B-6828-E58B-9590E68C8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504E-6E70-6ECE-79C3-BCDDE83ED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FE883-4AC6-394B-8129-6E4BB686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982B-9CD7-2F3B-7B40-4913DC644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9405" y="3028671"/>
            <a:ext cx="8903821" cy="1380539"/>
          </a:xfrm>
        </p:spPr>
        <p:txBody>
          <a:bodyPr>
            <a:normAutofit/>
          </a:bodyPr>
          <a:lstStyle/>
          <a:p>
            <a:r>
              <a:rPr lang="en-US" dirty="0"/>
              <a:t>Hopper Stats – Fall 2025 – Spring </a:t>
            </a:r>
            <a:r>
              <a:rPr lang="en-US"/>
              <a:t>2026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5B958-4A47-BEDC-D7B7-4F6EFBE3A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405" y="4777732"/>
            <a:ext cx="890382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577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91568-4426-B858-D8B7-7AF78CAC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Stats</a:t>
            </a:r>
          </a:p>
        </p:txBody>
      </p:sp>
      <p:pic>
        <p:nvPicPr>
          <p:cNvPr id="3" name="Content Placeholder 2" descr="A screenshot of a graph&#10;&#10;AI-generated content may be incorrect.">
            <a:extLst>
              <a:ext uri="{FF2B5EF4-FFF2-40B4-BE49-F238E27FC236}">
                <a16:creationId xmlns:a16="http://schemas.microsoft.com/office/drawing/2014/main" id="{027B359C-DCEC-80AA-5BE5-C01FB562B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744" y="3431519"/>
            <a:ext cx="4162425" cy="261937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54D60F-AF1B-8619-2AA8-A159C69F7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26424"/>
              </p:ext>
            </p:extLst>
          </p:nvPr>
        </p:nvGraphicFramePr>
        <p:xfrm>
          <a:off x="530086" y="1827695"/>
          <a:ext cx="6286500" cy="731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546109517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676057725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562997791"/>
                    </a:ext>
                  </a:extLst>
                </a:gridCol>
              </a:tblGrid>
              <a:tr h="3356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 err="1">
                          <a:effectLst/>
                        </a:rPr>
                        <a:t>CPU_Jobs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 err="1">
                          <a:effectLst/>
                        </a:rPr>
                        <a:t>GPU_Jobs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402452"/>
                  </a:ext>
                </a:extLst>
              </a:tr>
              <a:tr h="3356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2777817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127787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2905604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024484"/>
                  </a:ext>
                </a:extLst>
              </a:tr>
            </a:tbl>
          </a:graphicData>
        </a:graphic>
      </p:graphicFrame>
      <p:pic>
        <p:nvPicPr>
          <p:cNvPr id="4" name="Picture 3" descr="A graph of a job submission&#10;&#10;AI-generated content may be incorrect.">
            <a:extLst>
              <a:ext uri="{FF2B5EF4-FFF2-40B4-BE49-F238E27FC236}">
                <a16:creationId xmlns:a16="http://schemas.microsoft.com/office/drawing/2014/main" id="{CA8F8ADF-7B2E-8B8B-9433-8F240250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647" y="3153833"/>
            <a:ext cx="4423481" cy="338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39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80389-AD5E-E8A2-252E-DA7CC28A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graph of a number of jobs&#10;&#10;AI-generated content may be incorrect.">
            <a:extLst>
              <a:ext uri="{FF2B5EF4-FFF2-40B4-BE49-F238E27FC236}">
                <a16:creationId xmlns:a16="http://schemas.microsoft.com/office/drawing/2014/main" id="{98C6221D-7D9B-FC10-CD60-079A45637A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80878"/>
            <a:ext cx="10515600" cy="344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40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E30E-9F91-C2AF-0D99-B1A94851E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E710680-C42E-89DA-6827-62B4B7C935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3848126"/>
              </p:ext>
            </p:extLst>
          </p:nvPr>
        </p:nvGraphicFramePr>
        <p:xfrm>
          <a:off x="1269999" y="2219739"/>
          <a:ext cx="2505442" cy="3566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52721">
                  <a:extLst>
                    <a:ext uri="{9D8B030D-6E8A-4147-A177-3AD203B41FA5}">
                      <a16:colId xmlns:a16="http://schemas.microsoft.com/office/drawing/2014/main" val="3520044983"/>
                    </a:ext>
                  </a:extLst>
                </a:gridCol>
                <a:gridCol w="1252721">
                  <a:extLst>
                    <a:ext uri="{9D8B030D-6E8A-4147-A177-3AD203B41FA5}">
                      <a16:colId xmlns:a16="http://schemas.microsoft.com/office/drawing/2014/main" val="4067472906"/>
                    </a:ext>
                  </a:extLst>
                </a:gridCol>
              </a:tblGrid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College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Number of Jobs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030135"/>
                  </a:ext>
                </a:extLst>
              </a:tr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CEC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1851516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991606"/>
                  </a:ext>
                </a:extLst>
              </a:tr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CHHS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389737"/>
                  </a:ext>
                </a:extLst>
              </a:tr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CHSS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63936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047686"/>
                  </a:ext>
                </a:extLst>
              </a:tr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967083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2092793"/>
                  </a:ext>
                </a:extLst>
              </a:tr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EHD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00501"/>
                  </a:ext>
                </a:extLst>
              </a:tr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LAW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586935"/>
                  </a:ext>
                </a:extLst>
              </a:tr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ORC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1865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360221"/>
                  </a:ext>
                </a:extLst>
              </a:tr>
              <a:tr h="35279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SOM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2660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571496"/>
                  </a:ext>
                </a:extLst>
              </a:tr>
            </a:tbl>
          </a:graphicData>
        </a:graphic>
      </p:graphicFrame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0675428F-9C41-68EA-9E12-909202918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044" y="2107648"/>
            <a:ext cx="5648739" cy="417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70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20B4-D8F6-50F9-0DC1-0C72BBA6F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Unique Users by Weekday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5CCC48-A425-EEBC-9AEA-535F115CCA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05266"/>
              </p:ext>
            </p:extLst>
          </p:nvPr>
        </p:nvGraphicFramePr>
        <p:xfrm>
          <a:off x="839303" y="2628347"/>
          <a:ext cx="3590434" cy="33385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95217">
                  <a:extLst>
                    <a:ext uri="{9D8B030D-6E8A-4147-A177-3AD203B41FA5}">
                      <a16:colId xmlns:a16="http://schemas.microsoft.com/office/drawing/2014/main" val="571700597"/>
                    </a:ext>
                  </a:extLst>
                </a:gridCol>
                <a:gridCol w="1795217">
                  <a:extLst>
                    <a:ext uri="{9D8B030D-6E8A-4147-A177-3AD203B41FA5}">
                      <a16:colId xmlns:a16="http://schemas.microsoft.com/office/drawing/2014/main" val="3271143528"/>
                    </a:ext>
                  </a:extLst>
                </a:gridCol>
              </a:tblGrid>
              <a:tr h="38550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weekday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AVG Unique Users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636289"/>
                  </a:ext>
                </a:extLst>
              </a:tr>
              <a:tr h="385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Monday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413509"/>
                  </a:ext>
                </a:extLst>
              </a:tr>
              <a:tr h="385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Tuesday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180298"/>
                  </a:ext>
                </a:extLst>
              </a:tr>
              <a:tr h="385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Wednesday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968356"/>
                  </a:ext>
                </a:extLst>
              </a:tr>
              <a:tr h="385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Thursday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923724"/>
                  </a:ext>
                </a:extLst>
              </a:tr>
              <a:tr h="385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794269"/>
                  </a:ext>
                </a:extLst>
              </a:tr>
              <a:tr h="385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Saturday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36214"/>
                  </a:ext>
                </a:extLst>
              </a:tr>
              <a:tr h="3855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Sunday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998289"/>
                  </a:ext>
                </a:extLst>
              </a:tr>
            </a:tbl>
          </a:graphicData>
        </a:graphic>
      </p:graphicFrame>
      <p:pic>
        <p:nvPicPr>
          <p:cNvPr id="6" name="Picture 5" descr="A blue and white bar chart&#10;&#10;AI-generated content may be incorrect.">
            <a:extLst>
              <a:ext uri="{FF2B5EF4-FFF2-40B4-BE49-F238E27FC236}">
                <a16:creationId xmlns:a16="http://schemas.microsoft.com/office/drawing/2014/main" id="{7399EEFA-9603-4DE6-792B-64735C16E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213" y="2559050"/>
            <a:ext cx="37052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CC9C-79CA-C47B-03B5-875D5DCB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Jobs by Weekday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9B7925B-5501-B1AF-4B59-FAAED435E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041327"/>
              </p:ext>
            </p:extLst>
          </p:nvPr>
        </p:nvGraphicFramePr>
        <p:xfrm>
          <a:off x="303695" y="1496392"/>
          <a:ext cx="5255524" cy="5120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13881">
                  <a:extLst>
                    <a:ext uri="{9D8B030D-6E8A-4147-A177-3AD203B41FA5}">
                      <a16:colId xmlns:a16="http://schemas.microsoft.com/office/drawing/2014/main" val="167025490"/>
                    </a:ext>
                  </a:extLst>
                </a:gridCol>
                <a:gridCol w="1313881">
                  <a:extLst>
                    <a:ext uri="{9D8B030D-6E8A-4147-A177-3AD203B41FA5}">
                      <a16:colId xmlns:a16="http://schemas.microsoft.com/office/drawing/2014/main" val="817952785"/>
                    </a:ext>
                  </a:extLst>
                </a:gridCol>
                <a:gridCol w="1313881">
                  <a:extLst>
                    <a:ext uri="{9D8B030D-6E8A-4147-A177-3AD203B41FA5}">
                      <a16:colId xmlns:a16="http://schemas.microsoft.com/office/drawing/2014/main" val="3146570010"/>
                    </a:ext>
                  </a:extLst>
                </a:gridCol>
                <a:gridCol w="1313881">
                  <a:extLst>
                    <a:ext uri="{9D8B030D-6E8A-4147-A177-3AD203B41FA5}">
                      <a16:colId xmlns:a16="http://schemas.microsoft.com/office/drawing/2014/main" val="3044079627"/>
                    </a:ext>
                  </a:extLst>
                </a:gridCol>
              </a:tblGrid>
              <a:tr h="376443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weekday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AVG Jobs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AVG CPU Jobs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AVG GPU Jobs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338457"/>
                  </a:ext>
                </a:extLst>
              </a:tr>
              <a:tr h="3764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Monday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8123.666667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7588.589744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502.307692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515421"/>
                  </a:ext>
                </a:extLst>
              </a:tr>
              <a:tr h="3764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Tuesday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10889.692308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10248.025641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613.871795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1184895"/>
                  </a:ext>
                </a:extLst>
              </a:tr>
              <a:tr h="3764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Wednesday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10486.256410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9992.051282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471.076923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610464"/>
                  </a:ext>
                </a:extLst>
              </a:tr>
              <a:tr h="3764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Thursday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9648.105263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9167.473684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443.210526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941483"/>
                  </a:ext>
                </a:extLst>
              </a:tr>
              <a:tr h="3764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Friday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10411.948718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9972.179487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410.538462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692182"/>
                  </a:ext>
                </a:extLst>
              </a:tr>
              <a:tr h="3764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Saturday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13384.948718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12971.769231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398.538462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094650"/>
                  </a:ext>
                </a:extLst>
              </a:tr>
              <a:tr h="3764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Sunday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11986.153846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11521.051282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448.410256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984673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jobs&#10;&#10;AI-generated content may be incorrect.">
            <a:extLst>
              <a:ext uri="{FF2B5EF4-FFF2-40B4-BE49-F238E27FC236}">
                <a16:creationId xmlns:a16="http://schemas.microsoft.com/office/drawing/2014/main" id="{16739915-03C4-F78E-4CD8-798E5EDFC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333" y="1992934"/>
            <a:ext cx="5175249" cy="421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01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9FB7B-0E43-A4EC-2BF0-A6242B1A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Stats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84A6-12CF-D610-16E9-704A9C072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0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834B1-E54C-B53F-A73E-B28B9BB7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CPU Resources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419328D-92BB-BF31-77F0-66E5D493A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164425"/>
              </p:ext>
            </p:extLst>
          </p:nvPr>
        </p:nvGraphicFramePr>
        <p:xfrm>
          <a:off x="628374" y="1400451"/>
          <a:ext cx="10515600" cy="26746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130572384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52001025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021187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78516575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62308485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80073479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394755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60963024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60546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Year_Month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br>
                        <a:rPr lang="en-US" sz="1050" b="1" dirty="0">
                          <a:effectLst/>
                        </a:rPr>
                      </a:br>
                      <a:r>
                        <a:rPr lang="en-US" sz="1050" b="1">
                          <a:effectLst/>
                        </a:rPr>
                        <a:t>AVG NCPUS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AVG CPUHRS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AVG MEM(GB)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AVG NNODES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Total NCPUS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Total CPUHRS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Total MEM(GB)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Total NNODES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710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2025-08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7.040596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16.215532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46.748036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1.016309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1618471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3.727578e+06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1.074630e+07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233626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743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2025-09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3.799578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10.489074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19.470069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1.035958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1397766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3.858658e+06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7.162532e+06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381102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417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2025-10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7.196239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9.093548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28.729309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1.085821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2331085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2.945682e+06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9.306314e+06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351731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235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2025-11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28.995760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41.380131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118.165443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1.219440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2413984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3.445020e+06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9.837628e+06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101522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689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2025-12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32.296795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42.014480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125.495869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1.200192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2487370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3.235787e+06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9.665190e+06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92434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409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2026-01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10.454105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12.928640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69.765199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1.065747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1975000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2.442492e+06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1.318011e+07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201342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74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2026-02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42.866128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4.517201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159.879375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1.010522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30139989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3.176130e+06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1.124142e+08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710517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4290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2026-03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5.416047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6.314004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68.061584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1.009447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2686630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3.132062e+06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3.376195e+07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500736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337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2026-04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5.153816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12.282554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22.520373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1.008480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1586221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3.780275e+06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6.931230e+06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19318"/>
                  </a:ext>
                </a:extLst>
              </a:tr>
            </a:tbl>
          </a:graphicData>
        </a:graphic>
      </p:graphicFrame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9DDAD42-3C2D-647E-C968-A70D49B1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08" y="4186514"/>
            <a:ext cx="4111211" cy="2504799"/>
          </a:xfrm>
          <a:prstGeom prst="rect">
            <a:avLst/>
          </a:prstGeom>
        </p:spPr>
      </p:pic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6DA0EDF7-81A9-D12C-43C6-4A532F0D8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899" y="4186512"/>
            <a:ext cx="4314549" cy="249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71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6A97-9F34-23F6-743C-6F0FF8029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Request Count</a:t>
            </a:r>
          </a:p>
        </p:txBody>
      </p:sp>
      <p:pic>
        <p:nvPicPr>
          <p:cNvPr id="7" name="Content Placeholder 6" descr="A graph of a graph&#10;&#10;AI-generated content may be incorrect.">
            <a:extLst>
              <a:ext uri="{FF2B5EF4-FFF2-40B4-BE49-F238E27FC236}">
                <a16:creationId xmlns:a16="http://schemas.microsoft.com/office/drawing/2014/main" id="{1E1AE0BE-05FD-4DBF-E7F9-B4DE8EEFA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098" y="1550884"/>
            <a:ext cx="6838673" cy="452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321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16AA5-82F1-C403-1A64-DCA22F37F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Daily CPU Resources</a:t>
            </a:r>
          </a:p>
        </p:txBody>
      </p:sp>
      <p:pic>
        <p:nvPicPr>
          <p:cNvPr id="3" name="Content Placeholder 2" descr="A screenshot of a graph&#10;&#10;AI-generated content may be incorrect.">
            <a:extLst>
              <a:ext uri="{FF2B5EF4-FFF2-40B4-BE49-F238E27FC236}">
                <a16:creationId xmlns:a16="http://schemas.microsoft.com/office/drawing/2014/main" id="{CA026C5B-F014-B3A9-245B-885FB708D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572" y="1698625"/>
            <a:ext cx="7941378" cy="487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052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73A8-531E-BE3B-EB9A-59C26CC8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Daily CPU Resources</a:t>
            </a:r>
          </a:p>
        </p:txBody>
      </p:sp>
      <p:pic>
        <p:nvPicPr>
          <p:cNvPr id="3" name="Content Placeholder 2" descr="A screenshot of a graph&#10;&#10;AI-generated content may be incorrect.">
            <a:extLst>
              <a:ext uri="{FF2B5EF4-FFF2-40B4-BE49-F238E27FC236}">
                <a16:creationId xmlns:a16="http://schemas.microsoft.com/office/drawing/2014/main" id="{5849E2A2-7F30-C916-5D73-715BD55A9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6734" y="1499842"/>
            <a:ext cx="8397836" cy="51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92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46CA-B696-1F32-3D61-57D93087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Stats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00889-EB34-8D9D-035A-1EE56E2B1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9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889B-1F9E-F0DA-D24C-3CE8022F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GPU Resources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19AC0C4-7972-D7CA-02F7-45AAC66ED6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479996"/>
              </p:ext>
            </p:extLst>
          </p:nvPr>
        </p:nvGraphicFramePr>
        <p:xfrm>
          <a:off x="944217" y="1954695"/>
          <a:ext cx="9653774" cy="40822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42598">
                  <a:extLst>
                    <a:ext uri="{9D8B030D-6E8A-4147-A177-3AD203B41FA5}">
                      <a16:colId xmlns:a16="http://schemas.microsoft.com/office/drawing/2014/main" val="249963332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1997854853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3693456076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2436995374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2713474620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3421145282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1689663777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1417401321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3122154273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238846703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2405980224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289632491"/>
                    </a:ext>
                  </a:extLst>
                </a:gridCol>
                <a:gridCol w="742598">
                  <a:extLst>
                    <a:ext uri="{9D8B030D-6E8A-4147-A177-3AD203B41FA5}">
                      <a16:colId xmlns:a16="http://schemas.microsoft.com/office/drawing/2014/main" val="1365961291"/>
                    </a:ext>
                  </a:extLst>
                </a:gridCol>
              </a:tblGrid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dirty="0" err="1">
                          <a:effectLst/>
                        </a:rPr>
                        <a:t>Year_Month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AVG NCPUS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AVG NGPUS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AVG CPUHRS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AVG GPUHRS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AVG MEM(GB)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AVG NNODES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Total NCPUS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Total NGPUS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Total CPUHRS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Total GPUHRS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Total MEM(GB)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800" b="1">
                          <a:effectLst/>
                        </a:rPr>
                        <a:t>Total NNODES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310372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2025-08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11.486919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1.391696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90.740495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7.540020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92.637598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0.940684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108448.0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13139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856681.015833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71185.332778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8.745916e+05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8881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161444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2025-09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8.955438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1.331480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66.146368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7.002865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72.060323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0.907253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106310.0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15806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785223.531944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83131.005833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8.554281e+05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10770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934092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2025-10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8.893326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1.234233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75.297769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6.849927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85.863963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0.937850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106462.0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14775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901389.590833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82000.480278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1.027878e+06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11227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83618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2025-11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7.620386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1.239079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78.621395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6.888219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91.854907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0.934135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90012.0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14636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928675.913333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81363.643056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1.084990e+06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11034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35601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2025-12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7.568230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1.181426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84.426439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7.194247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87.242768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0.892172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82471.0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12874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919994.901944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78395.711944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9.506844e+05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9722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265085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2026-01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6.039229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1.087553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47.220716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4.559017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47.792537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0.916520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88982.0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16024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695750.029444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67172.551944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7.041752e+05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13504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484553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2026-02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8.179623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1.264307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52.673490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5.439375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88.739806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0.905971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98908.0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15288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636927.841944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65772.923333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1.072953e+06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10955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47119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2026-03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6.719201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1.019668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36.759902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3.936291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64.411064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0.861449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130843.0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19856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715825.574722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76651.403056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1.254277e+06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16775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31160"/>
                  </a:ext>
                </a:extLst>
              </a:tr>
              <a:tr h="4082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>
                          <a:effectLst/>
                        </a:rPr>
                        <a:t>2026-04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5.965602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0.954542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24.940246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3.337395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62.621262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0.811029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152099.0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24337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635876.512500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85090.228333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1.596592e+06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>
                          <a:effectLst/>
                        </a:rPr>
                        <a:t>20678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122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9301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0FB73-3A20-79BE-D5EE-2CF3A060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672A7A50-8330-240D-FE35-487A5BE4B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440" y="2975286"/>
            <a:ext cx="5249379" cy="3051451"/>
          </a:xfrm>
          <a:prstGeom prst="rect">
            <a:avLst/>
          </a:prstGeom>
        </p:spPr>
      </p:pic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5FFC9C55-042A-5A69-E249-1A9546C4F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643" y="2977252"/>
            <a:ext cx="4932018" cy="30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03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E71D-95AA-2D85-00BC-3BC709EDE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Requests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A6066A-80FD-83A7-6A6A-64E357E48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287372"/>
              </p:ext>
            </p:extLst>
          </p:nvPr>
        </p:nvGraphicFramePr>
        <p:xfrm>
          <a:off x="1137477" y="1827695"/>
          <a:ext cx="2777588" cy="39465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8794">
                  <a:extLst>
                    <a:ext uri="{9D8B030D-6E8A-4147-A177-3AD203B41FA5}">
                      <a16:colId xmlns:a16="http://schemas.microsoft.com/office/drawing/2014/main" val="689674203"/>
                    </a:ext>
                  </a:extLst>
                </a:gridCol>
                <a:gridCol w="1388794">
                  <a:extLst>
                    <a:ext uri="{9D8B030D-6E8A-4147-A177-3AD203B41FA5}">
                      <a16:colId xmlns:a16="http://schemas.microsoft.com/office/drawing/2014/main" val="828007049"/>
                    </a:ext>
                  </a:extLst>
                </a:gridCol>
              </a:tblGrid>
              <a:tr h="367385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GPUType</a:t>
                      </a:r>
                      <a:endParaRPr lang="en-US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Requests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578667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a100.80gb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61869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702699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3g.40gb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19395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17592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14772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841454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1g.10gb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11695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707384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2g.20gb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10848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32836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a100.40gb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7142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669145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h100.80gb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1727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593549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b200.180gb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169625"/>
                  </a:ext>
                </a:extLst>
              </a:tr>
              <a:tr h="3673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245570"/>
                  </a:ext>
                </a:extLst>
              </a:tr>
            </a:tbl>
          </a:graphicData>
        </a:graphic>
      </p:graphicFrame>
      <p:pic>
        <p:nvPicPr>
          <p:cNvPr id="5" name="Picture 4" descr="A blue and white bar graph&#10;&#10;AI-generated content may be incorrect.">
            <a:extLst>
              <a:ext uri="{FF2B5EF4-FFF2-40B4-BE49-F238E27FC236}">
                <a16:creationId xmlns:a16="http://schemas.microsoft.com/office/drawing/2014/main" id="{ED43B92E-4591-5D4B-7631-28894BD9B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94" y="671513"/>
            <a:ext cx="3819525" cy="3228975"/>
          </a:xfrm>
          <a:prstGeom prst="rect">
            <a:avLst/>
          </a:prstGeom>
        </p:spPr>
      </p:pic>
      <p:pic>
        <p:nvPicPr>
          <p:cNvPr id="6" name="Picture 5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E613580E-FAF2-7E36-1DC3-1A5D17EEF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227" y="3998982"/>
            <a:ext cx="38766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96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C326-768F-FE8F-0F63-5A403DFB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Daily GPU Resources</a:t>
            </a:r>
          </a:p>
        </p:txBody>
      </p:sp>
      <p:pic>
        <p:nvPicPr>
          <p:cNvPr id="3" name="Content Placeholder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D970BAA-EDDA-2940-F044-3893AF8F0C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4083" y="1825625"/>
            <a:ext cx="88438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80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CD78-4D41-132B-D88C-F4CEA94E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Daily GPU Resources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A97C767-BB93-A02F-924A-DB8CA40DB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0907" y="1825625"/>
            <a:ext cx="87701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20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2C251-88CC-5C17-77A3-D872B5DB8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GPU Stats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F0801-79B3-D7FD-2BB7-79C75112A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66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7BBC0-3ABC-2050-D362-A74DBD2E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by </a:t>
            </a:r>
            <a:r>
              <a:rPr lang="en-US"/>
              <a:t>Number of GPU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A12A19-4F1B-957E-D350-7F73C5FB37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940543"/>
              </p:ext>
            </p:extLst>
          </p:nvPr>
        </p:nvGraphicFramePr>
        <p:xfrm>
          <a:off x="272142" y="1503589"/>
          <a:ext cx="4567666" cy="4297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3833">
                  <a:extLst>
                    <a:ext uri="{9D8B030D-6E8A-4147-A177-3AD203B41FA5}">
                      <a16:colId xmlns:a16="http://schemas.microsoft.com/office/drawing/2014/main" val="2396751525"/>
                    </a:ext>
                  </a:extLst>
                </a:gridCol>
                <a:gridCol w="2283833">
                  <a:extLst>
                    <a:ext uri="{9D8B030D-6E8A-4147-A177-3AD203B41FA5}">
                      <a16:colId xmlns:a16="http://schemas.microsoft.com/office/drawing/2014/main" val="2723358831"/>
                    </a:ext>
                  </a:extLst>
                </a:gridCol>
              </a:tblGrid>
              <a:tr h="442487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Number of Jobs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  <a:p>
                      <a:pPr lvl="0" algn="r">
                        <a:buNone/>
                      </a:pP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681956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 err="1">
                          <a:effectLst/>
                        </a:rPr>
                        <a:t>craj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6883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791266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bchung6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5574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0619202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amukher6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5233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981991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yyang47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4944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75480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jpan23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4376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692338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yzhou29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4263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518287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 err="1">
                          <a:effectLst/>
                        </a:rPr>
                        <a:t>admonte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4087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727340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xli62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3710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738112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 dirty="0" err="1">
                          <a:effectLst/>
                        </a:rPr>
                        <a:t>wshao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3428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846299"/>
                  </a:ext>
                </a:extLst>
              </a:tr>
              <a:tr h="253885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b="1">
                          <a:effectLst/>
                        </a:rPr>
                        <a:t>skhan225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3269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466276"/>
                  </a:ext>
                </a:extLst>
              </a:tr>
            </a:tbl>
          </a:graphicData>
        </a:graphic>
      </p:graphicFrame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98F949E-AF9B-BD3C-F002-923B96CC0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943" y="1897516"/>
            <a:ext cx="59626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62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2501-723F-D5FA-B77D-4D228AFC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Users by Total GPU Memory Requested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5F4E47-293A-7A85-1DA5-6CC0E8104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7460619"/>
              </p:ext>
            </p:extLst>
          </p:nvPr>
        </p:nvGraphicFramePr>
        <p:xfrm>
          <a:off x="612320" y="2095499"/>
          <a:ext cx="3710402" cy="2682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55201">
                  <a:extLst>
                    <a:ext uri="{9D8B030D-6E8A-4147-A177-3AD203B41FA5}">
                      <a16:colId xmlns:a16="http://schemas.microsoft.com/office/drawing/2014/main" val="1224986611"/>
                    </a:ext>
                  </a:extLst>
                </a:gridCol>
                <a:gridCol w="1855201">
                  <a:extLst>
                    <a:ext uri="{9D8B030D-6E8A-4147-A177-3AD203B41FA5}">
                      <a16:colId xmlns:a16="http://schemas.microsoft.com/office/drawing/2014/main" val="1415618343"/>
                    </a:ext>
                  </a:extLst>
                </a:gridCol>
              </a:tblGrid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Total Memory Requested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073940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xwang44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987436.000000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215053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admonte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784691.000000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436376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pbhanda2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532912.000000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130007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craj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441173.640625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577791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jpan23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337708.000000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451334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skhan225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309779.000000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959082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amukher6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208909.640625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894323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jhou4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188320.000000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372966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xli62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186172.000000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029975"/>
                  </a:ext>
                </a:extLst>
              </a:tr>
              <a:tr h="242438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>
                          <a:effectLst/>
                        </a:rPr>
                        <a:t>jxing3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170820.000000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078900"/>
                  </a:ext>
                </a:extLst>
              </a:tr>
            </a:tbl>
          </a:graphicData>
        </a:graphic>
      </p:graphicFrame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78CD1FBD-B79E-B808-817A-C362EF4CF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11" y="1713820"/>
            <a:ext cx="58674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06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7B290-41B0-1EA2-003F-5495CD7D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Users by Average GPU Memory Requested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60FB4CC-7AC0-A252-89A0-F33ABA64F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685697"/>
              </p:ext>
            </p:extLst>
          </p:nvPr>
        </p:nvGraphicFramePr>
        <p:xfrm>
          <a:off x="741589" y="2299607"/>
          <a:ext cx="4620582" cy="2926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10291">
                  <a:extLst>
                    <a:ext uri="{9D8B030D-6E8A-4147-A177-3AD203B41FA5}">
                      <a16:colId xmlns:a16="http://schemas.microsoft.com/office/drawing/2014/main" val="1636529591"/>
                    </a:ext>
                  </a:extLst>
                </a:gridCol>
                <a:gridCol w="2310291">
                  <a:extLst>
                    <a:ext uri="{9D8B030D-6E8A-4147-A177-3AD203B41FA5}">
                      <a16:colId xmlns:a16="http://schemas.microsoft.com/office/drawing/2014/main" val="3490329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User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AVG Memory Requested per Job</a:t>
                      </a:r>
                      <a:endParaRPr lang="en-US" sz="1050" b="0" i="0" u="none" strike="noStrike" noProof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  <a:p>
                      <a:pPr lvl="0" algn="r">
                        <a:buNone/>
                      </a:pP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78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xwang44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392.462639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72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cjaskiew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350.000000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pbhanda2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319.875150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95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ddas6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257.142857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929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katwal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256.000000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22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nkrasner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245.833333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552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cwang48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219.117647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571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sbasne2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218.811060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355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akarim9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201.775701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7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ycao25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193.333333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008990"/>
                  </a:ext>
                </a:extLst>
              </a:tr>
            </a:tbl>
          </a:graphicData>
        </a:graphic>
      </p:graphicFrame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49D1400E-96C0-3E56-8F29-DC856B49C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477" y="1788659"/>
            <a:ext cx="58959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06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34F01-B37B-FAD0-BCA1-6A06B3FD8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Users by Total GPUHRS Requested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8BCF36-2D29-6CFF-D115-E7DC01D3E6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637417"/>
              </p:ext>
            </p:extLst>
          </p:nvPr>
        </p:nvGraphicFramePr>
        <p:xfrm>
          <a:off x="204107" y="2163536"/>
          <a:ext cx="3646900" cy="29260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3450">
                  <a:extLst>
                    <a:ext uri="{9D8B030D-6E8A-4147-A177-3AD203B41FA5}">
                      <a16:colId xmlns:a16="http://schemas.microsoft.com/office/drawing/2014/main" val="2197267073"/>
                    </a:ext>
                  </a:extLst>
                </a:gridCol>
                <a:gridCol w="1823450">
                  <a:extLst>
                    <a:ext uri="{9D8B030D-6E8A-4147-A177-3AD203B41FA5}">
                      <a16:colId xmlns:a16="http://schemas.microsoft.com/office/drawing/2014/main" val="4273905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User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Total GPUHRS</a:t>
                      </a:r>
                      <a:endParaRPr lang="en-US" sz="1050" b="0" i="0" u="none" strike="noStrike" noProof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  <a:p>
                      <a:pPr lvl="0" algn="r">
                        <a:buNone/>
                      </a:pP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652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xwang44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134682.765556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352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xli62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22553.646389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142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afitz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19575.707500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9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amukher6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18350.208889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347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ywijesu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17166.997778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142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jhong38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16830.570556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562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sshres2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15175.370278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77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clockha2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13689.053333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88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yyuan21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13108.519167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389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craj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11181.615278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50967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2C31A3E-43F5-A476-D1AE-3DF0FBEF1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661" y="1713820"/>
            <a:ext cx="66675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75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7171D-B9C3-51EC-CE36-8A9F82D2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Users by AVG GPUHRS Requested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60AAAFE-D88E-7457-EBDF-17014C0F5B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7435155"/>
              </p:ext>
            </p:extLst>
          </p:nvPr>
        </p:nvGraphicFramePr>
        <p:xfrm>
          <a:off x="721178" y="2061482"/>
          <a:ext cx="3382312" cy="31057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91156">
                  <a:extLst>
                    <a:ext uri="{9D8B030D-6E8A-4147-A177-3AD203B41FA5}">
                      <a16:colId xmlns:a16="http://schemas.microsoft.com/office/drawing/2014/main" val="1698060779"/>
                    </a:ext>
                  </a:extLst>
                </a:gridCol>
                <a:gridCol w="1691156">
                  <a:extLst>
                    <a:ext uri="{9D8B030D-6E8A-4147-A177-3AD203B41FA5}">
                      <a16:colId xmlns:a16="http://schemas.microsoft.com/office/drawing/2014/main" val="1866332620"/>
                    </a:ext>
                  </a:extLst>
                </a:gridCol>
              </a:tblGrid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AVG GPUHRS per Job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607784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vsaluja2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180.824194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149422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atelkal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120.004444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996043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rnag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120.000833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75143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mcrawsha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90.181474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56725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jhong38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85.870258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18336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adey6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82.184167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51024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hwan5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79.300322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45251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tfeng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72.152083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946297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ajain30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72.004583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960716"/>
                  </a:ext>
                </a:extLst>
              </a:tr>
              <a:tr h="28234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wcastill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71.483667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48384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C475A36-6118-BB0B-4F04-B2874325C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013" y="1713820"/>
            <a:ext cx="589597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60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6AC65-C855-8AFB-C27F-73D245CF7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by Total NGPUS </a:t>
            </a:r>
            <a:r>
              <a:rPr lang="en-US"/>
              <a:t>Requested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D508E7-0B1E-C64E-2A46-D656E02F9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330149"/>
              </p:ext>
            </p:extLst>
          </p:nvPr>
        </p:nvGraphicFramePr>
        <p:xfrm>
          <a:off x="836839" y="2551339"/>
          <a:ext cx="4514748" cy="320255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57374">
                  <a:extLst>
                    <a:ext uri="{9D8B030D-6E8A-4147-A177-3AD203B41FA5}">
                      <a16:colId xmlns:a16="http://schemas.microsoft.com/office/drawing/2014/main" val="661660440"/>
                    </a:ext>
                  </a:extLst>
                </a:gridCol>
                <a:gridCol w="2257374">
                  <a:extLst>
                    <a:ext uri="{9D8B030D-6E8A-4147-A177-3AD203B41FA5}">
                      <a16:colId xmlns:a16="http://schemas.microsoft.com/office/drawing/2014/main" val="2513411865"/>
                    </a:ext>
                  </a:extLst>
                </a:gridCol>
              </a:tblGrid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Total NGPUS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450320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xwang44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8167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0009099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craj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6095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66416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xli62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5875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193065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admonte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5832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625979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skhan225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5779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10993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bchung6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5140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910161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yyang47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4635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680139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amukher6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4129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535534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jpan23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4092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307407"/>
                  </a:ext>
                </a:extLst>
              </a:tr>
              <a:tr h="29114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yzhou29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3916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790899"/>
                  </a:ext>
                </a:extLst>
              </a:tr>
            </a:tbl>
          </a:graphicData>
        </a:graphic>
      </p:graphicFrame>
      <p:pic>
        <p:nvPicPr>
          <p:cNvPr id="6" name="Picture 5" descr="A graph of a bar chart&#10;&#10;AI-generated content may be incorrect.">
            <a:extLst>
              <a:ext uri="{FF2B5EF4-FFF2-40B4-BE49-F238E27FC236}">
                <a16:creationId xmlns:a16="http://schemas.microsoft.com/office/drawing/2014/main" id="{4F562331-6FB7-C83C-7404-5C10B855C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568" y="2285320"/>
            <a:ext cx="59626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6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0B9E0-5FA2-DB0A-A22B-F372BACB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Users by AVG NGPUS Requested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66088C3-8FBD-A2A1-AF10-B0F86AECB7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567440"/>
              </p:ext>
            </p:extLst>
          </p:nvPr>
        </p:nvGraphicFramePr>
        <p:xfrm>
          <a:off x="204107" y="2211160"/>
          <a:ext cx="4271328" cy="3092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35664">
                  <a:extLst>
                    <a:ext uri="{9D8B030D-6E8A-4147-A177-3AD203B41FA5}">
                      <a16:colId xmlns:a16="http://schemas.microsoft.com/office/drawing/2014/main" val="3511461225"/>
                    </a:ext>
                  </a:extLst>
                </a:gridCol>
                <a:gridCol w="2135664">
                  <a:extLst>
                    <a:ext uri="{9D8B030D-6E8A-4147-A177-3AD203B41FA5}">
                      <a16:colId xmlns:a16="http://schemas.microsoft.com/office/drawing/2014/main" val="2815244667"/>
                    </a:ext>
                  </a:extLst>
                </a:gridCol>
              </a:tblGrid>
              <a:tr h="43227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User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noProof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AVG NGPUS per Job</a:t>
                      </a:r>
                      <a:endParaRPr lang="en-US" sz="1050" b="0" i="0" u="none" strike="noStrike" noProof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  <a:p>
                      <a:pPr lvl="0" algn="r">
                        <a:buNone/>
                      </a:pP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558519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mcrawsha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5.638889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141677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apayande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5.063063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29598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cjaskiew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252768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wpapage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676942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tsany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609710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akumar37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915644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xdu5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3.934426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003270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akhande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3.925373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510312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 dirty="0" err="1">
                          <a:effectLst/>
                        </a:rPr>
                        <a:t>acotrone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3.750000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123813"/>
                  </a:ext>
                </a:extLst>
              </a:tr>
              <a:tr h="26601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xwang44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3.246025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369081"/>
                  </a:ext>
                </a:extLst>
              </a:tr>
            </a:tbl>
          </a:graphicData>
        </a:graphic>
      </p:graphicFrame>
      <p:pic>
        <p:nvPicPr>
          <p:cNvPr id="6" name="Picture 5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BAD5163A-4273-450F-8CD7-BC3AE04D9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420" y="1883909"/>
            <a:ext cx="5762625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16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21BAF-A378-51AB-D8DD-06131DBD8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Times and Wait Times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BA92B-0E62-454C-C69D-DC923F1FC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01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F1A2E-997D-8CF7-49C7-75E6A1744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Times and Wait Times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C6EE8D-511C-12B7-D5A0-7212276068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104590"/>
              </p:ext>
            </p:extLst>
          </p:nvPr>
        </p:nvGraphicFramePr>
        <p:xfrm>
          <a:off x="344311" y="1472847"/>
          <a:ext cx="4676536" cy="5334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9134">
                  <a:extLst>
                    <a:ext uri="{9D8B030D-6E8A-4147-A177-3AD203B41FA5}">
                      <a16:colId xmlns:a16="http://schemas.microsoft.com/office/drawing/2014/main" val="2626973234"/>
                    </a:ext>
                  </a:extLst>
                </a:gridCol>
                <a:gridCol w="1169134">
                  <a:extLst>
                    <a:ext uri="{9D8B030D-6E8A-4147-A177-3AD203B41FA5}">
                      <a16:colId xmlns:a16="http://schemas.microsoft.com/office/drawing/2014/main" val="3456161650"/>
                    </a:ext>
                  </a:extLst>
                </a:gridCol>
                <a:gridCol w="1169134">
                  <a:extLst>
                    <a:ext uri="{9D8B030D-6E8A-4147-A177-3AD203B41FA5}">
                      <a16:colId xmlns:a16="http://schemas.microsoft.com/office/drawing/2014/main" val="3971384631"/>
                    </a:ext>
                  </a:extLst>
                </a:gridCol>
                <a:gridCol w="1169134">
                  <a:extLst>
                    <a:ext uri="{9D8B030D-6E8A-4147-A177-3AD203B41FA5}">
                      <a16:colId xmlns:a16="http://schemas.microsoft.com/office/drawing/2014/main" val="3355034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00" b="1">
                          <a:effectLst/>
                        </a:rPr>
                        <a:t>Month_Submitted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00" b="1">
                          <a:effectLst/>
                        </a:rPr>
                        <a:t>AVG_run_time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00" b="1">
                          <a:effectLst/>
                        </a:rPr>
                        <a:t>AVG_waittime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00" b="1">
                          <a:effectLst/>
                        </a:rPr>
                        <a:t>AVG_waittime_hours</a:t>
                      </a:r>
                      <a:endParaRPr 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476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2025-08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1.165074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01:15:10.790826834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1.252997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0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2025-09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0.705952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00:27:13.557988204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0.453766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797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2025-10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1.041229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04:17:32.832265720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4.292453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817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2025-11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2.564708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00:27:25.875593542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0.457188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72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2025-12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2.275269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00:16:58.883899166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0.283023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536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2026-01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1.496460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01:22:07.556630339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1.368766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374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2026-02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0.432272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00:46:11.805520836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0.769946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07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2026-03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0.675519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03:23:50.666611212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3.397407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516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2026-04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0.933531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0 days 01:44:33.019032171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>
                          <a:effectLst/>
                        </a:rPr>
                        <a:t>1.742505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5214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2E22164-C55F-5796-4207-F62BD7DEF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392" y="2194278"/>
            <a:ext cx="4689827" cy="395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03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94E5-09DB-2C80-4D0A-BCCCAEE5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B4099C46-0310-24E1-FE92-8E25847C0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9706"/>
            <a:ext cx="10515600" cy="352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30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0953-A4CC-B684-59D7-7F594E39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Instructional </a:t>
            </a:r>
            <a:r>
              <a:rPr lang="en-US"/>
              <a:t>Jobs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589F1-86A5-C29F-DA34-8C3D967D6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852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017D-F6FD-EC9C-B43E-437194F48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Instructional CPU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A7FE6D-0C68-538B-59EE-CC45A18EB8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17849"/>
              </p:ext>
            </p:extLst>
          </p:nvPr>
        </p:nvGraphicFramePr>
        <p:xfrm>
          <a:off x="838200" y="1825625"/>
          <a:ext cx="10515596" cy="5029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10465265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16306086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077235121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6000516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872607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6544433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1222242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Account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No. of Students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No. of Jobs Submitted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CPU </a:t>
                      </a:r>
                      <a:r>
                        <a:rPr lang="en-US" sz="1050" b="1" dirty="0" err="1">
                          <a:effectLst/>
                        </a:rPr>
                        <a:t>Hrs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 dirty="0">
                          <a:effectLst/>
                        </a:rPr>
                        <a:t>AVG CPU </a:t>
                      </a:r>
                      <a:r>
                        <a:rPr lang="en-US" sz="1050" b="1" dirty="0" err="1">
                          <a:effectLst/>
                        </a:rPr>
                        <a:t>Hrs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MEM(GB)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050" b="1">
                          <a:effectLst/>
                        </a:rPr>
                        <a:t>AVG MEM(GB)</a:t>
                      </a:r>
                      <a:endParaRPr 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995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ait726fl25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410.243889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10.795892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834.0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21.947368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049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ait726sp25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0.075000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0.075000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975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binf798fl25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18.578889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4.644722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12.500000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74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clim479fl25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54.767778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2.028436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6908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clim680fl24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7726.111389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24.527338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21024.0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66.742857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890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clim680fl25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3133.428056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11.353000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5854.0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21.210145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380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cs584fl24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2.005000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2.005000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847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cs678fl24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8.031667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2.007917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05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cs678fl25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1939.670278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16.578378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2784.0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23.794872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71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cs747fl24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2489.805556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88.921627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1840.0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65.714286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81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cs747fl25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0.000556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0.000556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757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cs747sp25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24.745833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3.093229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84.0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10.500000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31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cs757sp25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1328.043056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44.268102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596.0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19.866667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312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daen690sp25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48.011111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24.005556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56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ece555sp24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424.513333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70.752222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168.0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28.000000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533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ece555sp25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4333.610000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90.283542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1928.0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40.166667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981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ece651fl24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0.630000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0.210000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192.0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64.000000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534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stat778sp24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525.840000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29.213333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264.0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14.666667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7776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 b="1">
                          <a:effectLst/>
                        </a:rPr>
                        <a:t>stat778sp25</a:t>
                      </a:r>
                      <a:endParaRPr lang="en-US" sz="1050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54.752778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10.950556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32.0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50">
                          <a:effectLst/>
                        </a:rPr>
                        <a:t>6.400000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57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5534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4C8D-F2E0-074F-7242-0FF831908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Instructional CPU Jobs</a:t>
            </a:r>
          </a:p>
        </p:txBody>
      </p:sp>
      <p:pic>
        <p:nvPicPr>
          <p:cNvPr id="4" name="Content Placeholder 3" descr="A graph of numbers and a number&#10;&#10;AI-generated content may be incorrect.">
            <a:extLst>
              <a:ext uri="{FF2B5EF4-FFF2-40B4-BE49-F238E27FC236}">
                <a16:creationId xmlns:a16="http://schemas.microsoft.com/office/drawing/2014/main" id="{FC643D0B-8D18-CDB8-52DC-B9039EE48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099" y="1715224"/>
            <a:ext cx="5078757" cy="46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58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F42C4-9BF6-21B1-E7CE-54F87F89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Instructional CPU Jobs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FCC6F6-E97A-C7F1-7F68-F4C419FF8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9775"/>
            <a:ext cx="10515600" cy="366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1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6A1D-F6DA-534F-CB9B-84455CFC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Instructional GPU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19FC522-CDB5-399A-F93D-A025A595A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08735"/>
              </p:ext>
            </p:extLst>
          </p:nvPr>
        </p:nvGraphicFramePr>
        <p:xfrm>
          <a:off x="838200" y="1825625"/>
          <a:ext cx="10515600" cy="490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282770063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31702869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7738065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35544334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6236806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88172216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0437989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2363161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75516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Account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800" b="1">
                          <a:effectLst/>
                        </a:rPr>
                        <a:t>No. of Students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800" b="1">
                          <a:effectLst/>
                        </a:rPr>
                        <a:t>No. of Jobs Submitted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800" b="1" dirty="0">
                          <a:effectLst/>
                        </a:rPr>
                        <a:t>CPU </a:t>
                      </a:r>
                      <a:r>
                        <a:rPr lang="en-US" sz="800" b="1" dirty="0" err="1">
                          <a:effectLst/>
                        </a:rPr>
                        <a:t>Hrs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800" b="1" dirty="0">
                          <a:effectLst/>
                        </a:rPr>
                        <a:t>AVG CPU </a:t>
                      </a:r>
                      <a:r>
                        <a:rPr lang="en-US" sz="800" b="1" dirty="0" err="1">
                          <a:effectLst/>
                        </a:rPr>
                        <a:t>Hrs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800" b="1" dirty="0">
                          <a:effectLst/>
                        </a:rPr>
                        <a:t>GPU </a:t>
                      </a:r>
                      <a:r>
                        <a:rPr lang="en-US" sz="800" b="1" dirty="0" err="1">
                          <a:effectLst/>
                        </a:rPr>
                        <a:t>Hrs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800" b="1" dirty="0">
                          <a:effectLst/>
                        </a:rPr>
                        <a:t>AVG GPU </a:t>
                      </a:r>
                      <a:r>
                        <a:rPr lang="en-US" sz="800" b="1" dirty="0" err="1">
                          <a:effectLst/>
                        </a:rPr>
                        <a:t>Hrs</a:t>
                      </a:r>
                      <a:endParaRPr lang="en-US" sz="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800" b="1">
                          <a:effectLst/>
                        </a:rPr>
                        <a:t>MEM(GB)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800" b="1">
                          <a:effectLst/>
                        </a:rPr>
                        <a:t>AVG MEM(GB)</a:t>
                      </a:r>
                      <a:endParaRPr lang="en-US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437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ait580sp24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dirty="0">
                          <a:effectLst/>
                        </a:rPr>
                        <a:t>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57.903056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dirty="0">
                          <a:effectLst/>
                        </a:rPr>
                        <a:t>1.206314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5.855278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0.121985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2058.000000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42.875000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112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ait726fl24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126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2685.631944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21.314539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873.466667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6.932275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8145.417969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64.646174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601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ait726fl25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77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1000.111944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12.988467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239.169167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3.106093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1665.835938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21.634233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941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ait726sp25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94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6190.466111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65.856022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1092.788611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11.625411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4256.000000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45.276596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11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binf798fl25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84.495833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7.681439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25.861667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2.351061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242.000000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22.000000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139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cs471sp25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72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12021.467222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166.964823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4954.460000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68.811944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2300.000000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31.944444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370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cs491fl24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0.002778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0.002778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0.001389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0.001389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91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cs678fl23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9.966667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9.966667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2.491667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2.491667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32.000000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32.000000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3818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cs678fl24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491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4063.897222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8.276776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1018.256667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2.073842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26532.000000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54.036660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37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cs678fl25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2174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34570.248333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15.901678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4601.710278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2.116702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111931.062500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51.486229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44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cs678sp23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1.531111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0.306222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0.236111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0.047222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248.000000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49.600000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907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cs678sp24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0.072222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0.036111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0.036111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0.018056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14.000000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561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cs692sp25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4.004444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4.004444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1.001111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1.001111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594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cs747fl24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2032.380278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47.264658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2142.738056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49.831118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978.000000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22.744186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3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cs747sp23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0.003056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0.003056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0.003056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0.003056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20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cs747sp25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162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8301.075833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51.241209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1330.114167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8.210581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7312.000000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45.135802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643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cs757sp25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114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6018.928889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52.797622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1001.889167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8.788501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3746.000000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32.859649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818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csi702sp24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728.092222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23.486846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364.046111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11.743423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462.000000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14.903226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142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cyse492fl25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61.233333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1.275694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5.203889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0.108414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231.000000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4.812500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902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ece555sp24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583.051944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29.152597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81.681389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4.084069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593.000000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29.650000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776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ece555sp25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180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3501.115000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19.450639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879.153333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4.884185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3831.000000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21.283333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947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>
                          <a:effectLst/>
                        </a:rPr>
                        <a:t>ece651fl24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2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126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498.268889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3.954515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498.214167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3.954081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1996.000000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>
                          <a:effectLst/>
                        </a:rPr>
                        <a:t>15.841270</a:t>
                      </a:r>
                      <a:endParaRPr lang="en-US" sz="8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9656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76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184E-E685-8EDB-6FA8-E53B93933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Instructional GPU Jobs</a:t>
            </a:r>
          </a:p>
        </p:txBody>
      </p:sp>
      <p:pic>
        <p:nvPicPr>
          <p:cNvPr id="4" name="Content Placeholder 3" descr="A graph with numbers and numbers&#10;&#10;AI-generated content may be incorrect.">
            <a:extLst>
              <a:ext uri="{FF2B5EF4-FFF2-40B4-BE49-F238E27FC236}">
                <a16:creationId xmlns:a16="http://schemas.microsoft.com/office/drawing/2014/main" id="{F226C817-1E8F-51E6-2070-965D3D630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132" y="1900481"/>
            <a:ext cx="5156476" cy="4567720"/>
          </a:xfrm>
          <a:prstGeom prst="rect">
            <a:avLst/>
          </a:prstGeom>
        </p:spPr>
      </p:pic>
      <p:pic>
        <p:nvPicPr>
          <p:cNvPr id="5" name="Picture 4" descr="A graph of a number of jobs&#10;&#10;AI-generated content may be incorrect.">
            <a:extLst>
              <a:ext uri="{FF2B5EF4-FFF2-40B4-BE49-F238E27FC236}">
                <a16:creationId xmlns:a16="http://schemas.microsoft.com/office/drawing/2014/main" id="{AF42B0CB-6B6D-A528-2B31-B0950C34C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756" y="363054"/>
            <a:ext cx="4109139" cy="3475934"/>
          </a:xfrm>
          <a:prstGeom prst="rect">
            <a:avLst/>
          </a:prstGeom>
        </p:spPr>
      </p:pic>
      <p:pic>
        <p:nvPicPr>
          <p:cNvPr id="6" name="Picture 5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DC0E3B62-566A-DC10-73A8-2C0624B64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321" y="3837885"/>
            <a:ext cx="38385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238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B8BE-FB74-F28F-F6F1-44F391F5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Instructional GPU Jobs</a:t>
            </a:r>
          </a:p>
        </p:txBody>
      </p:sp>
      <p:pic>
        <p:nvPicPr>
          <p:cNvPr id="4" name="Content Placeholder 3" descr="A comparison of a graph&#10;&#10;AI-generated content may be incorrect.">
            <a:extLst>
              <a:ext uri="{FF2B5EF4-FFF2-40B4-BE49-F238E27FC236}">
                <a16:creationId xmlns:a16="http://schemas.microsoft.com/office/drawing/2014/main" id="{2B52FED4-96F4-051F-E8EC-7A68788C8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22072"/>
            <a:ext cx="10515600" cy="355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99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B11BC-4AB1-28F0-9496-6751812F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CEC Jobs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1ABA0-5A44-9135-779C-AE90B4678D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715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5ED4A-BC94-1913-4C93-92E00334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Department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D6B636E-7D5D-51B6-70C6-33A7B7323C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822838"/>
              </p:ext>
            </p:extLst>
          </p:nvPr>
        </p:nvGraphicFramePr>
        <p:xfrm>
          <a:off x="839304" y="1827696"/>
          <a:ext cx="4887666" cy="40972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43833">
                  <a:extLst>
                    <a:ext uri="{9D8B030D-6E8A-4147-A177-3AD203B41FA5}">
                      <a16:colId xmlns:a16="http://schemas.microsoft.com/office/drawing/2014/main" val="3677376317"/>
                    </a:ext>
                  </a:extLst>
                </a:gridCol>
                <a:gridCol w="2443833">
                  <a:extLst>
                    <a:ext uri="{9D8B030D-6E8A-4147-A177-3AD203B41FA5}">
                      <a16:colId xmlns:a16="http://schemas.microsoft.com/office/drawing/2014/main" val="3751102642"/>
                    </a:ext>
                  </a:extLst>
                </a:gridCol>
              </a:tblGrid>
              <a:tr h="439615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Dept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Submit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964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beng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2599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521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ceie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404490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952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185704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38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cyse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5575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383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daen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482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185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ece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20089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84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818885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504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696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589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seor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1168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037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stat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407919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03747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jobs&#10;&#10;AI-generated content may be incorrect.">
            <a:extLst>
              <a:ext uri="{FF2B5EF4-FFF2-40B4-BE49-F238E27FC236}">
                <a16:creationId xmlns:a16="http://schemas.microsoft.com/office/drawing/2014/main" id="{BF0B9952-B746-2F14-3FAB-746C7C323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098" y="2374072"/>
            <a:ext cx="5226326" cy="342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7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F75E-19BB-885F-441D-2899D245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CEC CPU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46F3969-6C87-E8C3-440A-5CF634BF2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1408050"/>
              </p:ext>
            </p:extLst>
          </p:nvPr>
        </p:nvGraphicFramePr>
        <p:xfrm>
          <a:off x="513521" y="2020956"/>
          <a:ext cx="7590396" cy="40779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65066">
                  <a:extLst>
                    <a:ext uri="{9D8B030D-6E8A-4147-A177-3AD203B41FA5}">
                      <a16:colId xmlns:a16="http://schemas.microsoft.com/office/drawing/2014/main" val="2582608917"/>
                    </a:ext>
                  </a:extLst>
                </a:gridCol>
                <a:gridCol w="1265066">
                  <a:extLst>
                    <a:ext uri="{9D8B030D-6E8A-4147-A177-3AD203B41FA5}">
                      <a16:colId xmlns:a16="http://schemas.microsoft.com/office/drawing/2014/main" val="2176728069"/>
                    </a:ext>
                  </a:extLst>
                </a:gridCol>
                <a:gridCol w="1265066">
                  <a:extLst>
                    <a:ext uri="{9D8B030D-6E8A-4147-A177-3AD203B41FA5}">
                      <a16:colId xmlns:a16="http://schemas.microsoft.com/office/drawing/2014/main" val="641446245"/>
                    </a:ext>
                  </a:extLst>
                </a:gridCol>
                <a:gridCol w="1265066">
                  <a:extLst>
                    <a:ext uri="{9D8B030D-6E8A-4147-A177-3AD203B41FA5}">
                      <a16:colId xmlns:a16="http://schemas.microsoft.com/office/drawing/2014/main" val="2791881505"/>
                    </a:ext>
                  </a:extLst>
                </a:gridCol>
                <a:gridCol w="1265066">
                  <a:extLst>
                    <a:ext uri="{9D8B030D-6E8A-4147-A177-3AD203B41FA5}">
                      <a16:colId xmlns:a16="http://schemas.microsoft.com/office/drawing/2014/main" val="1169306002"/>
                    </a:ext>
                  </a:extLst>
                </a:gridCol>
                <a:gridCol w="1265066">
                  <a:extLst>
                    <a:ext uri="{9D8B030D-6E8A-4147-A177-3AD203B41FA5}">
                      <a16:colId xmlns:a16="http://schemas.microsoft.com/office/drawing/2014/main" val="58660719"/>
                    </a:ext>
                  </a:extLst>
                </a:gridCol>
              </a:tblGrid>
              <a:tr h="773828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>
                          <a:effectLst/>
                        </a:rPr>
                        <a:t>Dept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>
                          <a:effectLst/>
                        </a:rPr>
                        <a:t>No. of CPU Jobs Submitted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 dirty="0">
                          <a:effectLst/>
                        </a:rPr>
                        <a:t>CPU </a:t>
                      </a:r>
                      <a:r>
                        <a:rPr lang="en-US" sz="1400" b="1" dirty="0" err="1">
                          <a:effectLst/>
                        </a:rPr>
                        <a:t>Hrs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>
                          <a:effectLst/>
                        </a:rPr>
                        <a:t>AVG CPU </a:t>
                      </a:r>
                      <a:r>
                        <a:rPr lang="en-US" sz="1400" b="1" err="1">
                          <a:effectLst/>
                        </a:rPr>
                        <a:t>Hrs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>
                          <a:effectLst/>
                        </a:rPr>
                        <a:t>MEM(GB)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400" b="1">
                          <a:effectLst/>
                        </a:rPr>
                        <a:t>AVG MEM(GB)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862775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beng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2062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72519.47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35.17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311830.00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151.23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224957"/>
                  </a:ext>
                </a:extLst>
              </a:tr>
              <a:tr h="54045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ceie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403909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7592789.35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18.80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14244531.80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35.27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007539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128234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4044583.22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31.54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4437875.21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34.61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003146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cyse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2138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298125.52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139.44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473931.00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221.67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250524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daen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68950.76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204.60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16494.00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48.94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657115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ece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3339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679437.41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203.49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108727.30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32.56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62265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785603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417913.51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0.53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3224156.47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4.10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73294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217120.83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458.06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68168.00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143.81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21213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dirty="0" err="1">
                          <a:effectLst/>
                        </a:rPr>
                        <a:t>seor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470.20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5.34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1047.00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11.90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047978"/>
                  </a:ext>
                </a:extLst>
              </a:tr>
              <a:tr h="30707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stat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404830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2598905.13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6.42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5383631.94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>
                          <a:effectLst/>
                        </a:rPr>
                        <a:t>13.30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990418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1DE8DAD6-8483-482E-FAB4-9B880CFD7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880" y="2766115"/>
            <a:ext cx="40005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826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42E7-4C85-B0A2-DCDC-3016AAB8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9B0C07EB-A37A-0BE8-6E90-31A8FAB8F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09927"/>
            <a:ext cx="10233992" cy="310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04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BB5D1-2B39-1794-C0E1-DC65C1790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8AB385F9-0E18-880B-01C1-77E217229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32717"/>
            <a:ext cx="10515600" cy="313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9970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B4C52-9AE3-F7DD-ACA1-5780AFD1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CEC GPU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26C4FE8-3677-BE33-A8AA-0B4FBBAAF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7916101"/>
              </p:ext>
            </p:extLst>
          </p:nvPr>
        </p:nvGraphicFramePr>
        <p:xfrm>
          <a:off x="-1105" y="1715190"/>
          <a:ext cx="7294280" cy="4114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11785">
                  <a:extLst>
                    <a:ext uri="{9D8B030D-6E8A-4147-A177-3AD203B41FA5}">
                      <a16:colId xmlns:a16="http://schemas.microsoft.com/office/drawing/2014/main" val="9954364"/>
                    </a:ext>
                  </a:extLst>
                </a:gridCol>
                <a:gridCol w="911785">
                  <a:extLst>
                    <a:ext uri="{9D8B030D-6E8A-4147-A177-3AD203B41FA5}">
                      <a16:colId xmlns:a16="http://schemas.microsoft.com/office/drawing/2014/main" val="2164896944"/>
                    </a:ext>
                  </a:extLst>
                </a:gridCol>
                <a:gridCol w="911785">
                  <a:extLst>
                    <a:ext uri="{9D8B030D-6E8A-4147-A177-3AD203B41FA5}">
                      <a16:colId xmlns:a16="http://schemas.microsoft.com/office/drawing/2014/main" val="1958447922"/>
                    </a:ext>
                  </a:extLst>
                </a:gridCol>
                <a:gridCol w="911785">
                  <a:extLst>
                    <a:ext uri="{9D8B030D-6E8A-4147-A177-3AD203B41FA5}">
                      <a16:colId xmlns:a16="http://schemas.microsoft.com/office/drawing/2014/main" val="3729731993"/>
                    </a:ext>
                  </a:extLst>
                </a:gridCol>
                <a:gridCol w="911785">
                  <a:extLst>
                    <a:ext uri="{9D8B030D-6E8A-4147-A177-3AD203B41FA5}">
                      <a16:colId xmlns:a16="http://schemas.microsoft.com/office/drawing/2014/main" val="3638726140"/>
                    </a:ext>
                  </a:extLst>
                </a:gridCol>
                <a:gridCol w="911785">
                  <a:extLst>
                    <a:ext uri="{9D8B030D-6E8A-4147-A177-3AD203B41FA5}">
                      <a16:colId xmlns:a16="http://schemas.microsoft.com/office/drawing/2014/main" val="404283564"/>
                    </a:ext>
                  </a:extLst>
                </a:gridCol>
                <a:gridCol w="911785">
                  <a:extLst>
                    <a:ext uri="{9D8B030D-6E8A-4147-A177-3AD203B41FA5}">
                      <a16:colId xmlns:a16="http://schemas.microsoft.com/office/drawing/2014/main" val="3016387076"/>
                    </a:ext>
                  </a:extLst>
                </a:gridCol>
                <a:gridCol w="911785">
                  <a:extLst>
                    <a:ext uri="{9D8B030D-6E8A-4147-A177-3AD203B41FA5}">
                      <a16:colId xmlns:a16="http://schemas.microsoft.com/office/drawing/2014/main" val="21985526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Dept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No. of GPU Jobs Submitted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CPU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AVG CPU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GPU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AVG GPU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MEM(GB)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AVG MEM(GB)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955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beng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1481.06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1481.06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2.76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11203.00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20.86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273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ceie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93389.59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162.13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5465.83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32474.00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56.38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98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57388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2689278.67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46.86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424339.74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7.39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4543997.11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79.20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578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cyse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3437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36496.97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10.62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7003.43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309877.72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90.16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787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daen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35390.00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244.07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3809.35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26.27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9220.00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63.59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837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ece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16750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559803.42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33.42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74278.77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4.43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700947.37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41.85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77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33244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2899977.88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87.23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220620.37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6.64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3684835.42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110.84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142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9440.23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42.52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708.89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13888.00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62.56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39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seor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1077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306811.36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284.88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25688.44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23.85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93199.52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86.54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922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stat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23805.23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125.29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4359.83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22.95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6133.42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32.28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4388"/>
                  </a:ext>
                </a:extLst>
              </a:tr>
            </a:tbl>
          </a:graphicData>
        </a:graphic>
      </p:graphicFrame>
      <p:pic>
        <p:nvPicPr>
          <p:cNvPr id="6" name="Picture 5" descr="A graph with blue bars&#10;&#10;AI-generated content may be incorrect.">
            <a:extLst>
              <a:ext uri="{FF2B5EF4-FFF2-40B4-BE49-F238E27FC236}">
                <a16:creationId xmlns:a16="http://schemas.microsoft.com/office/drawing/2014/main" id="{31735505-8950-652A-A4DE-3EA10D489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967" y="2694332"/>
            <a:ext cx="4613413" cy="302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230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CB31-1898-B15F-A95B-31DD0E2BF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F79B6E-1E9C-0CE8-6BE3-725E478A8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22189"/>
            <a:ext cx="10515600" cy="31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93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4A2A-A54F-6E91-966E-FB5A1492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65DD2B-6E1B-0F86-2CED-4E7CD39E7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22189"/>
            <a:ext cx="10515600" cy="31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13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F1B6-2FFE-48AB-FFB8-6690E1D4D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 Jobs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52A0E-D8E3-F428-3807-4037404A6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204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BD1B8-32E2-CFDF-07B4-92A145EAA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Department</a:t>
            </a:r>
          </a:p>
        </p:txBody>
      </p:sp>
      <p:pic>
        <p:nvPicPr>
          <p:cNvPr id="4" name="Content Placeholder 3" descr="A graph with blue squares&#10;&#10;AI-generated content may be incorrect.">
            <a:extLst>
              <a:ext uri="{FF2B5EF4-FFF2-40B4-BE49-F238E27FC236}">
                <a16:creationId xmlns:a16="http://schemas.microsoft.com/office/drawing/2014/main" id="{36E80280-3A39-8D9D-180A-9F469A507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7228" y="2200931"/>
            <a:ext cx="6131891" cy="403694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40360B-76D8-1BD3-9857-D8C1DC15E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50417"/>
              </p:ext>
            </p:extLst>
          </p:nvPr>
        </p:nvGraphicFramePr>
        <p:xfrm>
          <a:off x="231913" y="2203173"/>
          <a:ext cx="5025570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12785">
                  <a:extLst>
                    <a:ext uri="{9D8B030D-6E8A-4147-A177-3AD203B41FA5}">
                      <a16:colId xmlns:a16="http://schemas.microsoft.com/office/drawing/2014/main" val="1969969671"/>
                    </a:ext>
                  </a:extLst>
                </a:gridCol>
                <a:gridCol w="2512785">
                  <a:extLst>
                    <a:ext uri="{9D8B030D-6E8A-4147-A177-3AD203B41FA5}">
                      <a16:colId xmlns:a16="http://schemas.microsoft.com/office/drawing/2014/main" val="24288609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Dept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b="1">
                          <a:effectLst/>
                        </a:rPr>
                        <a:t>Submit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032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aoes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109233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26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biol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18244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683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cds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9155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02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chem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4744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026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esp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2919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061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ggs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9653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260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ipn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2731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349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25505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6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phys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164625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771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 err="1">
                          <a:effectLst/>
                        </a:rPr>
                        <a:t>ssb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</a:rPr>
                        <a:t>3976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170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45166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4F87-CA25-6B24-D3D3-2AF9D01C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 CPU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AC3E24-1533-3560-BD62-DCA5A9D77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7876519"/>
              </p:ext>
            </p:extLst>
          </p:nvPr>
        </p:nvGraphicFramePr>
        <p:xfrm>
          <a:off x="-1104" y="1676538"/>
          <a:ext cx="6727278" cy="3383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21213">
                  <a:extLst>
                    <a:ext uri="{9D8B030D-6E8A-4147-A177-3AD203B41FA5}">
                      <a16:colId xmlns:a16="http://schemas.microsoft.com/office/drawing/2014/main" val="2730437273"/>
                    </a:ext>
                  </a:extLst>
                </a:gridCol>
                <a:gridCol w="1121213">
                  <a:extLst>
                    <a:ext uri="{9D8B030D-6E8A-4147-A177-3AD203B41FA5}">
                      <a16:colId xmlns:a16="http://schemas.microsoft.com/office/drawing/2014/main" val="2094711268"/>
                    </a:ext>
                  </a:extLst>
                </a:gridCol>
                <a:gridCol w="1121213">
                  <a:extLst>
                    <a:ext uri="{9D8B030D-6E8A-4147-A177-3AD203B41FA5}">
                      <a16:colId xmlns:a16="http://schemas.microsoft.com/office/drawing/2014/main" val="898403896"/>
                    </a:ext>
                  </a:extLst>
                </a:gridCol>
                <a:gridCol w="1121213">
                  <a:extLst>
                    <a:ext uri="{9D8B030D-6E8A-4147-A177-3AD203B41FA5}">
                      <a16:colId xmlns:a16="http://schemas.microsoft.com/office/drawing/2014/main" val="3707919451"/>
                    </a:ext>
                  </a:extLst>
                </a:gridCol>
                <a:gridCol w="1121213">
                  <a:extLst>
                    <a:ext uri="{9D8B030D-6E8A-4147-A177-3AD203B41FA5}">
                      <a16:colId xmlns:a16="http://schemas.microsoft.com/office/drawing/2014/main" val="65383875"/>
                    </a:ext>
                  </a:extLst>
                </a:gridCol>
                <a:gridCol w="1121213">
                  <a:extLst>
                    <a:ext uri="{9D8B030D-6E8A-4147-A177-3AD203B41FA5}">
                      <a16:colId xmlns:a16="http://schemas.microsoft.com/office/drawing/2014/main" val="34772720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Dept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No. of CPU Jobs Submitted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CPU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AVG CPU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MEM(GB)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AVG MEM(GB)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909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aoes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105579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5106174.92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48.36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26880067.19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254.60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598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biol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18187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525899.47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28.92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2001875.56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110.07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631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cds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8587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751942.11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87.57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236857.22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27.58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164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chem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4439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1146580.49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258.30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838196.08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188.83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788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esp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2916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166798.86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57.20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75242.00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25.80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451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ggs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9192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877813.74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95.50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2094253.00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227.83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91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ipn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2731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53915.56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19.74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97501.00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35.70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341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25265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2686842.51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106.35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1383968.68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54.78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460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phys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164088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15371947.56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93.68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13746805.63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83.78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642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ssb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1112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80277.96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72.19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62416.00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56.13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5496244"/>
                  </a:ext>
                </a:extLst>
              </a:tr>
            </a:tbl>
          </a:graphicData>
        </a:graphic>
      </p:graphicFrame>
      <p:pic>
        <p:nvPicPr>
          <p:cNvPr id="7" name="Picture 6" descr="A graph with blue squares&#10;&#10;AI-generated content may be incorrect.">
            <a:extLst>
              <a:ext uri="{FF2B5EF4-FFF2-40B4-BE49-F238E27FC236}">
                <a16:creationId xmlns:a16="http://schemas.microsoft.com/office/drawing/2014/main" id="{B2138612-2E60-6CF4-2509-05B5F3171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315" y="1943376"/>
            <a:ext cx="4530586" cy="297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624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DB1BF-BD56-AACA-83A4-E2DB41CA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 CPU Jobs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B2BD4E-6355-D0EB-7055-55ED53436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19572"/>
            <a:ext cx="10515600" cy="31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1056-DB54-C035-E8F2-7DE26A9D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 CPU Jobs</a:t>
            </a:r>
          </a:p>
        </p:txBody>
      </p:sp>
      <p:pic>
        <p:nvPicPr>
          <p:cNvPr id="4" name="Content Placeholder 3" descr="A comparison of a graph&#10;&#10;AI-generated content may be incorrect.">
            <a:extLst>
              <a:ext uri="{FF2B5EF4-FFF2-40B4-BE49-F238E27FC236}">
                <a16:creationId xmlns:a16="http://schemas.microsoft.com/office/drawing/2014/main" id="{94188F4C-C931-43DE-8417-AE5CCF59E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19572"/>
            <a:ext cx="10515600" cy="31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073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74C5-9550-0BAA-7A23-5F90E7D7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 GPU Jobs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B28184-8ACE-208C-4746-1A0600D677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887968"/>
              </p:ext>
            </p:extLst>
          </p:nvPr>
        </p:nvGraphicFramePr>
        <p:xfrm>
          <a:off x="346765" y="2433016"/>
          <a:ext cx="7504200" cy="3108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938025">
                  <a:extLst>
                    <a:ext uri="{9D8B030D-6E8A-4147-A177-3AD203B41FA5}">
                      <a16:colId xmlns:a16="http://schemas.microsoft.com/office/drawing/2014/main" val="3625082791"/>
                    </a:ext>
                  </a:extLst>
                </a:gridCol>
                <a:gridCol w="938025">
                  <a:extLst>
                    <a:ext uri="{9D8B030D-6E8A-4147-A177-3AD203B41FA5}">
                      <a16:colId xmlns:a16="http://schemas.microsoft.com/office/drawing/2014/main" val="2557988064"/>
                    </a:ext>
                  </a:extLst>
                </a:gridCol>
                <a:gridCol w="938025">
                  <a:extLst>
                    <a:ext uri="{9D8B030D-6E8A-4147-A177-3AD203B41FA5}">
                      <a16:colId xmlns:a16="http://schemas.microsoft.com/office/drawing/2014/main" val="3476502979"/>
                    </a:ext>
                  </a:extLst>
                </a:gridCol>
                <a:gridCol w="938025">
                  <a:extLst>
                    <a:ext uri="{9D8B030D-6E8A-4147-A177-3AD203B41FA5}">
                      <a16:colId xmlns:a16="http://schemas.microsoft.com/office/drawing/2014/main" val="3359465137"/>
                    </a:ext>
                  </a:extLst>
                </a:gridCol>
                <a:gridCol w="938025">
                  <a:extLst>
                    <a:ext uri="{9D8B030D-6E8A-4147-A177-3AD203B41FA5}">
                      <a16:colId xmlns:a16="http://schemas.microsoft.com/office/drawing/2014/main" val="3334925119"/>
                    </a:ext>
                  </a:extLst>
                </a:gridCol>
                <a:gridCol w="938025">
                  <a:extLst>
                    <a:ext uri="{9D8B030D-6E8A-4147-A177-3AD203B41FA5}">
                      <a16:colId xmlns:a16="http://schemas.microsoft.com/office/drawing/2014/main" val="2735142388"/>
                    </a:ext>
                  </a:extLst>
                </a:gridCol>
                <a:gridCol w="938025">
                  <a:extLst>
                    <a:ext uri="{9D8B030D-6E8A-4147-A177-3AD203B41FA5}">
                      <a16:colId xmlns:a16="http://schemas.microsoft.com/office/drawing/2014/main" val="4056342972"/>
                    </a:ext>
                  </a:extLst>
                </a:gridCol>
                <a:gridCol w="938025">
                  <a:extLst>
                    <a:ext uri="{9D8B030D-6E8A-4147-A177-3AD203B41FA5}">
                      <a16:colId xmlns:a16="http://schemas.microsoft.com/office/drawing/2014/main" val="3964457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Dept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No. of GPU Jobs Submitted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CPU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AVG CPU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GPU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 dirty="0">
                          <a:effectLst/>
                        </a:rPr>
                        <a:t>AVG GPU </a:t>
                      </a:r>
                      <a:r>
                        <a:rPr lang="en-US" sz="1200" b="1" dirty="0" err="1">
                          <a:effectLst/>
                        </a:rPr>
                        <a:t>Hrs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MEM(GB)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 sz="1200" b="1">
                          <a:effectLst/>
                        </a:rPr>
                        <a:t>AVG MEM(GB)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085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aoes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3654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265170.01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72.57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35156.66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9.62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489199.00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133.88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587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biol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57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746.06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13.09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79.26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1.39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730.24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12.81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81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cds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558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45738.34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81.97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8782.21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15.74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21259.40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38.10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94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chem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305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87361.18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286.43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15785.99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51.76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20871.43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68.43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347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esp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0.01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0.00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0.01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0.00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30.00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10.00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613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ggs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459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9195.00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20.03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1597.47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3.48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34870.00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75.97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004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math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240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4354.16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18.14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4259.63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17.75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38482.00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160.34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560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phys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164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671.48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4.09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100.08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0.61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7990.25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48.72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7387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 dirty="0" err="1">
                          <a:effectLst/>
                        </a:rPr>
                        <a:t>ssb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2864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972632.48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339.61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62569.89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21.85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78642.00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200">
                          <a:effectLst/>
                        </a:rPr>
                        <a:t>27.46</a:t>
                      </a:r>
                      <a:endParaRPr lang="en-US" sz="120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60319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18333E3-6F30-5460-57D2-7FE0845E0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272" y="2826854"/>
            <a:ext cx="40005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669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CE4C-17A3-C029-E032-64FBD825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 GPU Jobs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488C54-C4D4-B8DB-7E22-1EE82ED7D4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08957"/>
            <a:ext cx="10515600" cy="31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92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F8A2-93AC-5245-C8E9-5D1833C2B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 GPU Jobs</a:t>
            </a:r>
          </a:p>
        </p:txBody>
      </p:sp>
      <p:pic>
        <p:nvPicPr>
          <p:cNvPr id="4" name="Content Placeholder 3" descr="A comparison of a graph&#10;&#10;AI-generated content may be incorrect.">
            <a:extLst>
              <a:ext uri="{FF2B5EF4-FFF2-40B4-BE49-F238E27FC236}">
                <a16:creationId xmlns:a16="http://schemas.microsoft.com/office/drawing/2014/main" id="{A00D7E61-939A-123D-3C01-DD5FB8C33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99550"/>
            <a:ext cx="10515600" cy="320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5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2024 Mason">
      <a:dk1>
        <a:srgbClr val="000000"/>
      </a:dk1>
      <a:lt1>
        <a:srgbClr val="FFFFFF"/>
      </a:lt1>
      <a:dk2>
        <a:srgbClr val="333333"/>
      </a:dk2>
      <a:lt2>
        <a:srgbClr val="E7E6E6"/>
      </a:lt2>
      <a:accent1>
        <a:srgbClr val="005138"/>
      </a:accent1>
      <a:accent2>
        <a:srgbClr val="FFC733"/>
      </a:accent2>
      <a:accent3>
        <a:srgbClr val="CF4520"/>
      </a:accent3>
      <a:accent4>
        <a:srgbClr val="067681"/>
      </a:accent4>
      <a:accent5>
        <a:srgbClr val="326195"/>
      </a:accent5>
      <a:accent6>
        <a:srgbClr val="796E65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A90908F97815498C24470527335DC9" ma:contentTypeVersion="9" ma:contentTypeDescription="Create a new document." ma:contentTypeScope="" ma:versionID="9ffedf77436d8d5a68653f96c6cb7792">
  <xsd:schema xmlns:xsd="http://www.w3.org/2001/XMLSchema" xmlns:xs="http://www.w3.org/2001/XMLSchema" xmlns:p="http://schemas.microsoft.com/office/2006/metadata/properties" xmlns:ns2="872fbde2-a75a-4a65-90bd-924a2f50d916" targetNamespace="http://schemas.microsoft.com/office/2006/metadata/properties" ma:root="true" ma:fieldsID="9cce4a0b8e7ed986a330d78bb35bb5dc" ns2:_="">
    <xsd:import namespace="872fbde2-a75a-4a65-90bd-924a2f50d9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2fbde2-a75a-4a65-90bd-924a2f50d9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68B91F-2265-4710-8DC3-44C05278AB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2fbde2-a75a-4a65-90bd-924a2f50d9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ED9495-C511-479F-AA4C-43931A100CA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DA6322C-04CE-40BB-87D2-B257511291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1609</Words>
  <Application>Microsoft Office PowerPoint</Application>
  <PresentationFormat>Widescreen</PresentationFormat>
  <Paragraphs>1240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Aptos Display</vt:lpstr>
      <vt:lpstr>Arial</vt:lpstr>
      <vt:lpstr>Franklin Gothic Book</vt:lpstr>
      <vt:lpstr>Franklin Gothic Medium</vt:lpstr>
      <vt:lpstr>office theme</vt:lpstr>
      <vt:lpstr>Office Theme</vt:lpstr>
      <vt:lpstr>Hopper Stats – Fall 2025 – Spring 2026</vt:lpstr>
      <vt:lpstr>Overall Stats</vt:lpstr>
      <vt:lpstr>PowerPoint Presentation</vt:lpstr>
      <vt:lpstr>PowerPoint Presentation</vt:lpstr>
      <vt:lpstr>Average Unique Users by Weekday</vt:lpstr>
      <vt:lpstr>Average Jobs by Weekday</vt:lpstr>
      <vt:lpstr>CPU Stats</vt:lpstr>
      <vt:lpstr>Overall CPU Resources</vt:lpstr>
      <vt:lpstr>CPU Request Count</vt:lpstr>
      <vt:lpstr>Total Daily CPU Resources</vt:lpstr>
      <vt:lpstr>Average Daily CPU Resources</vt:lpstr>
      <vt:lpstr>GPU Stats</vt:lpstr>
      <vt:lpstr>Overall GPU Resources</vt:lpstr>
      <vt:lpstr>PowerPoint Presentation</vt:lpstr>
      <vt:lpstr>GPU Requests</vt:lpstr>
      <vt:lpstr>Total Daily GPU Resources</vt:lpstr>
      <vt:lpstr>Average Daily GPU Resources</vt:lpstr>
      <vt:lpstr>User GPU Stats</vt:lpstr>
      <vt:lpstr>Users by Number of GPU Jobs</vt:lpstr>
      <vt:lpstr>Users by Total GPU Memory Requested</vt:lpstr>
      <vt:lpstr>Users by Average GPU Memory Requested</vt:lpstr>
      <vt:lpstr>Users by Total GPUHRS Requested</vt:lpstr>
      <vt:lpstr>Users by AVG GPUHRS Requested</vt:lpstr>
      <vt:lpstr>Users by Total NGPUS Requested</vt:lpstr>
      <vt:lpstr>Users by AVG NGPUS Requested</vt:lpstr>
      <vt:lpstr>Run Times and Wait Times</vt:lpstr>
      <vt:lpstr>Run Times and Wait Times</vt:lpstr>
      <vt:lpstr>PowerPoint Presentation</vt:lpstr>
      <vt:lpstr>Instructional Jobs</vt:lpstr>
      <vt:lpstr>Instructional CPU Jobs</vt:lpstr>
      <vt:lpstr>Instructional CPU Jobs</vt:lpstr>
      <vt:lpstr>Instructional CPU Jobs</vt:lpstr>
      <vt:lpstr>Instructional GPU Jobs</vt:lpstr>
      <vt:lpstr>Instructional GPU Jobs</vt:lpstr>
      <vt:lpstr>Instructional GPU Jobs</vt:lpstr>
      <vt:lpstr>CEC Jobs</vt:lpstr>
      <vt:lpstr>By Department</vt:lpstr>
      <vt:lpstr>CEC CPU Jobs</vt:lpstr>
      <vt:lpstr>PowerPoint Presentation</vt:lpstr>
      <vt:lpstr>PowerPoint Presentation</vt:lpstr>
      <vt:lpstr>CEC GPU Jobs</vt:lpstr>
      <vt:lpstr>PowerPoint Presentation</vt:lpstr>
      <vt:lpstr>PowerPoint Presentation</vt:lpstr>
      <vt:lpstr>COS Jobs</vt:lpstr>
      <vt:lpstr>By Department</vt:lpstr>
      <vt:lpstr>COS CPU Jobs</vt:lpstr>
      <vt:lpstr>COS CPU Jobs</vt:lpstr>
      <vt:lpstr>COS CPU Jobs</vt:lpstr>
      <vt:lpstr>COS GPU Jobs</vt:lpstr>
      <vt:lpstr>COS GPU Jobs</vt:lpstr>
      <vt:lpstr>COS GPU Jobs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Swabir Silayi</cp:lastModifiedBy>
  <cp:revision>489</cp:revision>
  <dcterms:created xsi:type="dcterms:W3CDTF">2025-11-10T21:01:29Z</dcterms:created>
  <dcterms:modified xsi:type="dcterms:W3CDTF">2026-05-11T16:04:47Z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0x0101009BA90908F97815498C24470527335DC9</vt:lpwstr>
  </property>
</Properties>
</file>