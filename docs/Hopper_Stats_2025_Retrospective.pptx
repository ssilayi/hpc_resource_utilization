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48" r:id="rId5"/>
  </p:sldMasterIdLst>
  <p:sldIdLst>
    <p:sldId id="258" r:id="rId6"/>
    <p:sldId id="259" r:id="rId7"/>
    <p:sldId id="260" r:id="rId8"/>
    <p:sldId id="261" r:id="rId9"/>
    <p:sldId id="262" r:id="rId10"/>
    <p:sldId id="273" r:id="rId11"/>
    <p:sldId id="264" r:id="rId12"/>
    <p:sldId id="266" r:id="rId13"/>
    <p:sldId id="267" r:id="rId14"/>
    <p:sldId id="268" r:id="rId15"/>
    <p:sldId id="269" r:id="rId16"/>
    <p:sldId id="265" r:id="rId17"/>
    <p:sldId id="263" r:id="rId18"/>
    <p:sldId id="270" r:id="rId19"/>
    <p:sldId id="271" r:id="rId20"/>
    <p:sldId id="272" r:id="rId21"/>
    <p:sldId id="274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5" r:id="rId30"/>
    <p:sldId id="283" r:id="rId31"/>
    <p:sldId id="284" r:id="rId32"/>
    <p:sldId id="287" r:id="rId33"/>
    <p:sldId id="286" r:id="rId34"/>
    <p:sldId id="293" r:id="rId35"/>
    <p:sldId id="294" r:id="rId36"/>
    <p:sldId id="295" r:id="rId37"/>
    <p:sldId id="296" r:id="rId38"/>
    <p:sldId id="297" r:id="rId39"/>
    <p:sldId id="298" r:id="rId40"/>
    <p:sldId id="288" r:id="rId41"/>
    <p:sldId id="290" r:id="rId42"/>
    <p:sldId id="291" r:id="rId43"/>
    <p:sldId id="292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CE7FDC-EEDB-F646-BB24-780EF039C5FE}" v="3363" dt="2026-01-26T02:55:26.8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5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80765E-9E46-F923-4537-881F829F0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b="19027"/>
          <a:stretch/>
        </p:blipFill>
        <p:spPr>
          <a:xfrm>
            <a:off x="-89029" y="88900"/>
            <a:ext cx="6234858" cy="6769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AEAD9E-24CC-6878-AB18-EADB79A8DB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11000"/>
          </a:blip>
          <a:srcRect l="35154" b="58161"/>
          <a:stretch/>
        </p:blipFill>
        <p:spPr>
          <a:xfrm>
            <a:off x="0" y="2743003"/>
            <a:ext cx="11725928" cy="41149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649688-59E7-1703-6239-C6E17422C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360" y="2582103"/>
            <a:ext cx="5068866" cy="138053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E2DF3-20B9-5FE4-78BC-2A84C112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4360" y="4054718"/>
            <a:ext cx="506886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E67FE4-A40D-2EE9-BF1D-253FA66505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54" t="77958" r="56462"/>
          <a:stretch/>
        </p:blipFill>
        <p:spPr>
          <a:xfrm>
            <a:off x="8858859" y="0"/>
            <a:ext cx="3333141" cy="10308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587E38-3EC4-A044-D625-EEAF1E6EC06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43950" y="974724"/>
            <a:ext cx="4952702" cy="166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85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D8DBDB-5261-D586-111B-F461DB46AA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2222" b="18224"/>
          <a:stretch/>
        </p:blipFill>
        <p:spPr>
          <a:xfrm>
            <a:off x="11070437" y="5676900"/>
            <a:ext cx="1121563" cy="11945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9671" t="64971" r="26779"/>
          <a:stretch/>
        </p:blipFill>
        <p:spPr>
          <a:xfrm>
            <a:off x="0" y="0"/>
            <a:ext cx="2044700" cy="989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60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A2F6515-D6D6-585C-70C8-97944CAA70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0100" t="-3420" r="27678" b="5864"/>
          <a:stretch/>
        </p:blipFill>
        <p:spPr>
          <a:xfrm>
            <a:off x="11019637" y="5562599"/>
            <a:ext cx="1172363" cy="1325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9671" t="64971" r="26779"/>
          <a:stretch/>
        </p:blipFill>
        <p:spPr>
          <a:xfrm>
            <a:off x="0" y="0"/>
            <a:ext cx="2044700" cy="989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6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07B2B8-372A-822A-3B45-E45E06B6D5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0900" y="1825625"/>
            <a:ext cx="54229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1704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097" t="73191" r="26779"/>
          <a:stretch/>
        </p:blipFill>
        <p:spPr>
          <a:xfrm>
            <a:off x="5956300" y="-2875"/>
            <a:ext cx="2400300" cy="757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2F6515-D6D6-585C-70C8-97944CAA70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100" t="-3420" r="27678" b="5864"/>
          <a:stretch/>
        </p:blipFill>
        <p:spPr>
          <a:xfrm>
            <a:off x="11019637" y="5562599"/>
            <a:ext cx="11723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0" y="890886"/>
            <a:ext cx="46863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07B2B8-372A-822A-3B45-E45E06B6D5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39000" y="2489201"/>
            <a:ext cx="46863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1333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B771-CD45-205F-806A-81678839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800" y="2503174"/>
            <a:ext cx="4819650" cy="1267453"/>
          </a:xfrm>
        </p:spPr>
        <p:txBody>
          <a:bodyPr anchor="b">
            <a:normAutofit/>
          </a:bodyPr>
          <a:lstStyle>
            <a:lvl1pPr algn="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E9AFD-F871-6540-2115-DB916F644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7800" y="3797615"/>
            <a:ext cx="4819650" cy="1500187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1765A9-74CD-CC1E-48E3-3A53C42703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3259" t="9001" r="21570" b="78140"/>
          <a:stretch/>
        </p:blipFill>
        <p:spPr>
          <a:xfrm>
            <a:off x="8681059" y="6256631"/>
            <a:ext cx="3510941" cy="601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D1F781-F4CE-AC60-F115-80945A7AEA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</a:blip>
          <a:srcRect l="6365" r="1479"/>
          <a:stretch/>
        </p:blipFill>
        <p:spPr>
          <a:xfrm>
            <a:off x="-1435100" y="419100"/>
            <a:ext cx="8085811" cy="698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56F55E-839E-3694-5C2F-4668203B2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61300" y="276893"/>
            <a:ext cx="3773552" cy="126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2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DD871-3B5C-C6B1-86B7-BAD5C9E02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15E8F-94C3-DEA7-72D7-43D974A55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33BC0-FF84-DF07-2D03-812433C8C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F68AE-1121-E34D-AB43-7EFA01D82E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4D14-8F6B-6828-E58B-9590E68C8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5504E-6E70-6ECE-79C3-BCDDE83ED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FE883-4AC6-394B-8129-6E4BB686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8982B-9CD7-2F3B-7B40-4913DC644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9405" y="3028671"/>
            <a:ext cx="8903821" cy="1380539"/>
          </a:xfrm>
        </p:spPr>
        <p:txBody>
          <a:bodyPr>
            <a:normAutofit/>
          </a:bodyPr>
          <a:lstStyle/>
          <a:p>
            <a:r>
              <a:rPr lang="en-US" dirty="0"/>
              <a:t>Hopper Stats – 2025 Retrospective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5B958-4A47-BEDC-D7B7-4F6EFBE3A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405" y="4777732"/>
            <a:ext cx="890382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577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1568-4426-B858-D8B7-7AF78CAC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Stats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BB06A3-8D1F-4388-F2C0-AFB303D30C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603269"/>
              </p:ext>
            </p:extLst>
          </p:nvPr>
        </p:nvGraphicFramePr>
        <p:xfrm>
          <a:off x="170912" y="1847150"/>
          <a:ext cx="7886700" cy="731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2834920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465514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691266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 err="1">
                          <a:effectLst/>
                        </a:rPr>
                        <a:t>CPU_Jobs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 err="1">
                          <a:effectLst/>
                        </a:rPr>
                        <a:t>GPU_Jobs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479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2159248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124073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2283321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22311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52B8B02-2DF9-E517-4EE4-575A609B1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5" y="3089517"/>
            <a:ext cx="5420532" cy="359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439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E30E-9F91-C2AF-0D99-B1A94851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DE1F64-6B9C-F855-4680-9AF95CDE3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919" y="1943920"/>
            <a:ext cx="5155823" cy="393393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9C42C1-58F1-944B-A515-8B399236B8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91598"/>
              </p:ext>
            </p:extLst>
          </p:nvPr>
        </p:nvGraphicFramePr>
        <p:xfrm>
          <a:off x="6242373" y="985864"/>
          <a:ext cx="5027343" cy="48893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6062">
                  <a:extLst>
                    <a:ext uri="{9D8B030D-6E8A-4147-A177-3AD203B41FA5}">
                      <a16:colId xmlns:a16="http://schemas.microsoft.com/office/drawing/2014/main" val="97894537"/>
                    </a:ext>
                  </a:extLst>
                </a:gridCol>
                <a:gridCol w="1790027">
                  <a:extLst>
                    <a:ext uri="{9D8B030D-6E8A-4147-A177-3AD203B41FA5}">
                      <a16:colId xmlns:a16="http://schemas.microsoft.com/office/drawing/2014/main" val="3623447832"/>
                    </a:ext>
                  </a:extLst>
                </a:gridCol>
                <a:gridCol w="1661254">
                  <a:extLst>
                    <a:ext uri="{9D8B030D-6E8A-4147-A177-3AD203B41FA5}">
                      <a16:colId xmlns:a16="http://schemas.microsoft.com/office/drawing/2014/main" val="2284098347"/>
                    </a:ext>
                  </a:extLst>
                </a:gridCol>
              </a:tblGrid>
              <a:tr h="371357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 err="1">
                          <a:effectLst/>
                        </a:rPr>
                        <a:t>Year_Month</a:t>
                      </a:r>
                      <a:endParaRPr lang="en-US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Total CPU Jobs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Total GPU Jobs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646841"/>
                  </a:ext>
                </a:extLst>
              </a:tr>
              <a:tr h="371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2025-01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73242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8443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067555"/>
                  </a:ext>
                </a:extLst>
              </a:tr>
              <a:tr h="371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2025-02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312983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6955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960064"/>
                  </a:ext>
                </a:extLst>
              </a:tr>
              <a:tr h="371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2025-03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114411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11344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94641"/>
                  </a:ext>
                </a:extLst>
              </a:tr>
              <a:tr h="371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2025-04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159153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12239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918051"/>
                  </a:ext>
                </a:extLst>
              </a:tr>
              <a:tr h="371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2025-05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140768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11216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4843"/>
                  </a:ext>
                </a:extLst>
              </a:tr>
              <a:tr h="371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2025-06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218790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8685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326015"/>
                  </a:ext>
                </a:extLst>
              </a:tr>
              <a:tr h="371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2025-07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58043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9270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895706"/>
                  </a:ext>
                </a:extLst>
              </a:tr>
              <a:tr h="371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2025-08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229877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9441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241220"/>
                  </a:ext>
                </a:extLst>
              </a:tr>
              <a:tr h="371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2025-09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367874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11871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553222"/>
                  </a:ext>
                </a:extLst>
              </a:tr>
              <a:tr h="371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2025-10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323931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11971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348577"/>
                  </a:ext>
                </a:extLst>
              </a:tr>
              <a:tr h="43306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2025-11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83253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11812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994396"/>
                  </a:ext>
                </a:extLst>
              </a:tr>
              <a:tr h="37135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2025-12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76923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10826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721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370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20B4-D8F6-50F9-0DC1-0C72BBA6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Unique Users by Weekday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68DCE0C-D6F9-66CE-7E95-00BA663AA9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204593"/>
              </p:ext>
            </p:extLst>
          </p:nvPr>
        </p:nvGraphicFramePr>
        <p:xfrm>
          <a:off x="990169" y="2329050"/>
          <a:ext cx="3350904" cy="3200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52936">
                  <a:extLst>
                    <a:ext uri="{9D8B030D-6E8A-4147-A177-3AD203B41FA5}">
                      <a16:colId xmlns:a16="http://schemas.microsoft.com/office/drawing/2014/main" val="4182091033"/>
                    </a:ext>
                  </a:extLst>
                </a:gridCol>
                <a:gridCol w="1497968">
                  <a:extLst>
                    <a:ext uri="{9D8B030D-6E8A-4147-A177-3AD203B41FA5}">
                      <a16:colId xmlns:a16="http://schemas.microsoft.com/office/drawing/2014/main" val="42218383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weekday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AVG Unique Users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028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Monday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604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349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Tuesday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617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21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Wednesday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405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Thursday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160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102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Saturday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144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Sunday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378786"/>
                  </a:ext>
                </a:extLst>
              </a:tr>
            </a:tbl>
          </a:graphicData>
        </a:graphic>
      </p:graphicFrame>
      <p:pic>
        <p:nvPicPr>
          <p:cNvPr id="6" name="Picture 5" descr="A blue and white bar chart&#10;&#10;AI-generated content may be incorrect.">
            <a:extLst>
              <a:ext uri="{FF2B5EF4-FFF2-40B4-BE49-F238E27FC236}">
                <a16:creationId xmlns:a16="http://schemas.microsoft.com/office/drawing/2014/main" id="{89D1D8C6-6035-F48E-881B-6626A8BFF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845" y="2436355"/>
            <a:ext cx="37052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DCC9C-79CA-C47B-03B5-875D5DCB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Jobs by Weekday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ED2D34A-84E0-14C9-A8A6-6A10B062F0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156595"/>
              </p:ext>
            </p:extLst>
          </p:nvPr>
        </p:nvGraphicFramePr>
        <p:xfrm>
          <a:off x="314270" y="1816745"/>
          <a:ext cx="7322864" cy="2926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76670">
                  <a:extLst>
                    <a:ext uri="{9D8B030D-6E8A-4147-A177-3AD203B41FA5}">
                      <a16:colId xmlns:a16="http://schemas.microsoft.com/office/drawing/2014/main" val="2125270283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1285216279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4193318385"/>
                    </a:ext>
                  </a:extLst>
                </a:gridCol>
                <a:gridCol w="1639956">
                  <a:extLst>
                    <a:ext uri="{9D8B030D-6E8A-4147-A177-3AD203B41FA5}">
                      <a16:colId xmlns:a16="http://schemas.microsoft.com/office/drawing/2014/main" val="4639996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weekday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AVG Jobs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AVG CPU Jobs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AVG GPU Jobs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730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Monday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4900.461538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4481.461538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403.307692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728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Tuesday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6310.807692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5887.423077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409.942308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728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Wednesday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5772.096154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5359.038462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368.692308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926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Thursday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6911.307692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6562.115385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338.096154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774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4136.596154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3818.115385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312.423077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515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Saturday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8481.365385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8212.942308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263.346154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06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Sunday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7641.235294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7344.137255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295.901961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74193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57FEE68-430B-127B-9BFD-EBB4349BC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882" y="1666122"/>
            <a:ext cx="4226033" cy="352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01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F1A2E-997D-8CF7-49C7-75E6A174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Times and Wait Times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B70B9C0-CE60-3678-D690-593E1237E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1538" y="2176395"/>
            <a:ext cx="4482346" cy="374020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A623E83-D8C1-E565-94FD-35066D01F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85113"/>
              </p:ext>
            </p:extLst>
          </p:nvPr>
        </p:nvGraphicFramePr>
        <p:xfrm>
          <a:off x="223864" y="2036305"/>
          <a:ext cx="6317837" cy="3749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39956">
                  <a:extLst>
                    <a:ext uri="{9D8B030D-6E8A-4147-A177-3AD203B41FA5}">
                      <a16:colId xmlns:a16="http://schemas.microsoft.com/office/drawing/2014/main" val="2515098624"/>
                    </a:ext>
                  </a:extLst>
                </a:gridCol>
                <a:gridCol w="1451517">
                  <a:extLst>
                    <a:ext uri="{9D8B030D-6E8A-4147-A177-3AD203B41FA5}">
                      <a16:colId xmlns:a16="http://schemas.microsoft.com/office/drawing/2014/main" val="3713494362"/>
                    </a:ext>
                  </a:extLst>
                </a:gridCol>
                <a:gridCol w="2140160">
                  <a:extLst>
                    <a:ext uri="{9D8B030D-6E8A-4147-A177-3AD203B41FA5}">
                      <a16:colId xmlns:a16="http://schemas.microsoft.com/office/drawing/2014/main" val="4069834038"/>
                    </a:ext>
                  </a:extLst>
                </a:gridCol>
                <a:gridCol w="1086204">
                  <a:extLst>
                    <a:ext uri="{9D8B030D-6E8A-4147-A177-3AD203B41FA5}">
                      <a16:colId xmlns:a16="http://schemas.microsoft.com/office/drawing/2014/main" val="31539532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 err="1">
                          <a:effectLst/>
                        </a:rPr>
                        <a:t>Month_Submitted</a:t>
                      </a:r>
                      <a:endParaRPr lang="en-US" sz="120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 err="1">
                          <a:effectLst/>
                        </a:rPr>
                        <a:t>AVG_run_time</a:t>
                      </a:r>
                      <a:endParaRPr lang="en-US" sz="120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 err="1">
                          <a:effectLst/>
                        </a:rPr>
                        <a:t>AVG_waittime</a:t>
                      </a:r>
                      <a:endParaRPr lang="en-US" sz="120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 err="1">
                          <a:effectLst/>
                        </a:rPr>
                        <a:t>AVG_waittime_hours</a:t>
                      </a:r>
                      <a:endParaRPr lang="en-US" sz="120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966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2025-01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3.028034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 days 00:18:48.883508081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0.313579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825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2025-02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1.476784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 days 01:21:54.255272038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1.365071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680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2025-03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4.845218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 days 00:25:31.966946975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0.425546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14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2025-04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3.515971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 days 03:52:18.457474827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3.871794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69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2025-05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1.665914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 days 00:29:23.752487933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0.489931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169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2025-06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0.894532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 days 00:37:00.052443908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0.616681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214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2025-07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2.053166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 days 00:40:50.483931947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0.680690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957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2025-08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1.165074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 days 01:15:10.790826834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1.252997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890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2025-09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0.705952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 days 00:27:13.557988204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0.453766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460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2025-10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1.041229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 days 04:17:32.832265720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4.292453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841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2025-11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2.564708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 days 00:27:25.875593542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0.457188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335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2025-12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2.174738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 days 00:16:47.226575725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0.279785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00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603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FB7B-0E43-A4EC-2BF0-A6242B1A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Stats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84A6-12CF-D610-16E9-704A9C072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70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834B1-E54C-B53F-A73E-B28B9BB77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CPU Resources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99C4F7B-97ED-4369-A8C4-100C89FFDF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0070488"/>
              </p:ext>
            </p:extLst>
          </p:nvPr>
        </p:nvGraphicFramePr>
        <p:xfrm>
          <a:off x="838200" y="1825625"/>
          <a:ext cx="10515600" cy="3535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171850286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86573538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60720038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9620849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91934537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50127997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79315446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63528598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435598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 err="1">
                          <a:effectLst/>
                        </a:rPr>
                        <a:t>Year_Month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br>
                        <a:rPr lang="en-US" sz="1100" b="1" dirty="0">
                          <a:effectLst/>
                        </a:rPr>
                      </a:br>
                      <a:r>
                        <a:rPr lang="en-US" sz="1100" b="1">
                          <a:effectLst/>
                        </a:rPr>
                        <a:t>AVG NCPUS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>
                          <a:effectLst/>
                        </a:rPr>
                        <a:t>AVG CPUHRS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>
                          <a:effectLst/>
                        </a:rPr>
                        <a:t>AVG MEM(GB)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>
                          <a:effectLst/>
                        </a:rPr>
                        <a:t>AVG NNODES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>
                          <a:effectLst/>
                        </a:rPr>
                        <a:t>Total NCPUS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>
                          <a:effectLst/>
                        </a:rPr>
                        <a:t>Total CPUHRS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>
                          <a:effectLst/>
                        </a:rPr>
                        <a:t>Total MEM(GB)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100" b="1">
                          <a:effectLst/>
                        </a:rPr>
                        <a:t>Total NNODES</a:t>
                      </a:r>
                      <a:endParaRPr lang="en-US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61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2025-01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9.518022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47.313613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37.191771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1.084364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697119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3.465344e+06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2.724000e+06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79421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385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2025-02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4.734922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13.606608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25.236357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1.023618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1481950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4.258637e+06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7.898551e+06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320375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43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2025-03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4.481772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36.232234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24.905580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1.040486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512764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4.145366e+06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2.849472e+06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119043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603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2025-04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3.956124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25.272318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28.529217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1.033798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629629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4.022165e+06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4.540511e+06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164532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067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2025-05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6.876478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25.294480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32.950917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1.046914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967988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3.560653e+06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4.638435e+06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147372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496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2025-06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4.079857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16.185328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16.765214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1.029709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892632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3.541188e+06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3.668061e+06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225290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86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2025-07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17.508468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60.987541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70.647768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1.273969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1016244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3.539900e+06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4.100608e+06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73945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64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2025-08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7.040596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16.215532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46.748036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1.016309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1618471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3.727578e+06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1.074630e+07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233626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291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2025-09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3.799578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10.489074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19.470069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1.035958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1397766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3.858658e+06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7.162532e+06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381102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946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2025-10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7.196239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9.093548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28.729309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1.085821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2331085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2.945682e+06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9.306314e+06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351731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176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2025-11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28.995760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41.380131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118.165443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1.219440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2413984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3.445020e+06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9.837628e+06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101522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536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1" dirty="0">
                          <a:effectLst/>
                        </a:rPr>
                        <a:t>2025-12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32.278603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39.381752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125.403612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1.199810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2482967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3.029363e+06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9.646422e+06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dirty="0">
                          <a:effectLst/>
                        </a:rPr>
                        <a:t>92293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0657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571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6A97-9F34-23F6-743C-6F0FF8029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Request Count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0D65117-A73F-424D-C7B1-B1D7BF1E8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801" y="2229590"/>
            <a:ext cx="4000500" cy="2647950"/>
          </a:xfrm>
          <a:prstGeom prst="rect">
            <a:avLst/>
          </a:prstGeom>
        </p:spPr>
      </p:pic>
      <p:pic>
        <p:nvPicPr>
          <p:cNvPr id="5" name="Picture 4" descr="A white rectangular object with blue lines&#10;&#10;AI-generated content may be incorrect.">
            <a:extLst>
              <a:ext uri="{FF2B5EF4-FFF2-40B4-BE49-F238E27FC236}">
                <a16:creationId xmlns:a16="http://schemas.microsoft.com/office/drawing/2014/main" id="{4DEF009C-A198-4B83-1529-58D1B17D3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44" y="2229872"/>
            <a:ext cx="395287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321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16AA5-82F1-C403-1A64-DCA22F37F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Monthly CPU Resources</a:t>
            </a:r>
          </a:p>
        </p:txBody>
      </p:sp>
      <p:pic>
        <p:nvPicPr>
          <p:cNvPr id="5" name="Content Placeholder 4" descr="A graph of different colored rectangles&#10;&#10;AI-generated content may be incorrect.">
            <a:extLst>
              <a:ext uri="{FF2B5EF4-FFF2-40B4-BE49-F238E27FC236}">
                <a16:creationId xmlns:a16="http://schemas.microsoft.com/office/drawing/2014/main" id="{7221F1CC-98B2-9B4C-8933-74C845A973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3743" y="1716235"/>
            <a:ext cx="8066275" cy="467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52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373A8-531E-BE3B-EB9A-59C26CC8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Monthly CPU Resources</a:t>
            </a:r>
          </a:p>
        </p:txBody>
      </p:sp>
      <p:pic>
        <p:nvPicPr>
          <p:cNvPr id="3" name="Content Placeholder 2" descr="A screen shot of a graph&#10;&#10;AI-generated content may be incorrect.">
            <a:extLst>
              <a:ext uri="{FF2B5EF4-FFF2-40B4-BE49-F238E27FC236}">
                <a16:creationId xmlns:a16="http://schemas.microsoft.com/office/drawing/2014/main" id="{9F1AD7D8-6DF2-2123-9A9B-72F3455068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1076" y="1617218"/>
            <a:ext cx="7908763" cy="482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92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46CA-B696-1F32-3D61-57D93087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Stats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00889-EB34-8D9D-035A-1EE56E2B1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91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F889B-1F9E-F0DA-D24C-3CE8022F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GPU Resources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D25997-A7D3-08BE-8CA5-2568B7337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6045448"/>
              </p:ext>
            </p:extLst>
          </p:nvPr>
        </p:nvGraphicFramePr>
        <p:xfrm>
          <a:off x="743488" y="1248744"/>
          <a:ext cx="10515596" cy="55092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08892">
                  <a:extLst>
                    <a:ext uri="{9D8B030D-6E8A-4147-A177-3AD203B41FA5}">
                      <a16:colId xmlns:a16="http://schemas.microsoft.com/office/drawing/2014/main" val="416341779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408922545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997334893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54064591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59916984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925336248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468015327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1596197221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79625155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2807824000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189260111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389015156"/>
                    </a:ext>
                  </a:extLst>
                </a:gridCol>
                <a:gridCol w="808892">
                  <a:extLst>
                    <a:ext uri="{9D8B030D-6E8A-4147-A177-3AD203B41FA5}">
                      <a16:colId xmlns:a16="http://schemas.microsoft.com/office/drawing/2014/main" val="9950049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err="1">
                          <a:effectLst/>
                        </a:rPr>
                        <a:t>Year_Month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br>
                        <a:rPr lang="en-US" sz="1050" b="1" dirty="0">
                          <a:effectLst/>
                        </a:rPr>
                      </a:br>
                      <a:r>
                        <a:rPr lang="en-US" sz="1050" b="1" dirty="0">
                          <a:effectLst/>
                        </a:rPr>
                        <a:t>AVG NCPUS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AVG NGPUS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AVG CPUHRS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AVG GPUHRS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AVG MEM(GB)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AVG NNODES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Total NCPUS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Total NGPUS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Total CPUHRS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Total GPUHRS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Total MEM(GB)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Total NNODES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2025-01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5.481345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1.196494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48.675836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9.247031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70.994109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0.889968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46279.0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410970.082222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78072.679167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5.993323e+05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7514.0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363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2025-02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11.271316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1.449461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80.627396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10.464042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98.241811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0.966930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78392.0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10081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560763.536667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72777.413056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6.829771e+05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6725.0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303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2025-03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9.875088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1.411231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54.050035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7.741525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98.121608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0.865380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112023.0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16009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613143.595000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87819.857500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1.112993e+06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9816.0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756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2025-04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5.918131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1.118555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52.893649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6.736895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67.897101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0.874908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72432.0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13690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647365.371111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82452.854444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8.309926e+05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10708.0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81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2025-05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6.164230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1.134094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62.803965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7.586762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72.039012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0.880974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69138.0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12720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704409.267222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85093.119722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8.074132e+05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9881.0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943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2025-06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6.078181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1.255153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72.997914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8.110552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85.370430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0.934139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52789.0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10901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633986.884444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70440.147778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7.414422e+05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8113.0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364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2025-07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8.072168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1.198274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61.688953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6.131966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79.765814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0.880906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74829.0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11108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571856.590000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56843.328611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7.394291e+05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8166.0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2778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2025-08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11.486919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1.391696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90.740495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7.540020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92.637598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0.940684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108448.0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13139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856681.015833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71185.332778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8.745916e+05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8881.0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465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2025-09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8.955438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1.331480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66.146368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7.002865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72.060323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0.907253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106310.0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15806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785223.531944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83131.005833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8.554281e+05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10770.0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996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2025-10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8.893326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1.234233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75.297769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6.849927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85.863963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0.937850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106462.0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14775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901389.590833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82000.480278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1.027878e+06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11227.0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076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2025-11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7.620386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1.239079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78.621395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6.888219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91.854907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0.934135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90012.0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14636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928675.913333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81363.643056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1.084990e+06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11034.0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794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>
                          <a:effectLst/>
                        </a:rPr>
                        <a:t>2025-12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7.506835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1.179198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77.321562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6.738296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86.952563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0.891557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81269.0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12766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837083.232222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72948.797500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9.413484e+05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9652.0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960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301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E71D-95AA-2D85-00BC-3BC709ED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Requests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7125A5-F08C-E0B8-A3DC-1D7C14A947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6131677"/>
              </p:ext>
            </p:extLst>
          </p:nvPr>
        </p:nvGraphicFramePr>
        <p:xfrm>
          <a:off x="1282915" y="2174067"/>
          <a:ext cx="4508105" cy="3291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03242">
                  <a:extLst>
                    <a:ext uri="{9D8B030D-6E8A-4147-A177-3AD203B41FA5}">
                      <a16:colId xmlns:a16="http://schemas.microsoft.com/office/drawing/2014/main" val="3012041640"/>
                    </a:ext>
                  </a:extLst>
                </a:gridCol>
                <a:gridCol w="2704863">
                  <a:extLst>
                    <a:ext uri="{9D8B030D-6E8A-4147-A177-3AD203B41FA5}">
                      <a16:colId xmlns:a16="http://schemas.microsoft.com/office/drawing/2014/main" val="10726217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800" b="1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GPUType</a:t>
                      </a:r>
                      <a:endParaRPr lang="en-US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Requests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5537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a100.80gb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57832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851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3g.40gb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21670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24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12594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9693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a100.40gb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10400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888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2g.20gb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9979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714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1g.10gb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9672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04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h100.80gb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1920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183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node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56310"/>
                  </a:ext>
                </a:extLst>
              </a:tr>
            </a:tbl>
          </a:graphicData>
        </a:graphic>
      </p:graphicFrame>
      <p:pic>
        <p:nvPicPr>
          <p:cNvPr id="5" name="Picture 4" descr="A blue and white bar graph&#10;&#10;AI-generated content may be incorrect.">
            <a:extLst>
              <a:ext uri="{FF2B5EF4-FFF2-40B4-BE49-F238E27FC236}">
                <a16:creationId xmlns:a16="http://schemas.microsoft.com/office/drawing/2014/main" id="{089EA522-D36B-F2B0-3023-3B2FD054A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763" y="762512"/>
            <a:ext cx="3548305" cy="2943655"/>
          </a:xfrm>
          <a:prstGeom prst="rect">
            <a:avLst/>
          </a:prstGeom>
        </p:spPr>
      </p:pic>
      <p:pic>
        <p:nvPicPr>
          <p:cNvPr id="6" name="Picture 5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12F0D1C3-9093-7ED6-C32B-496BC6FC1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001" y="3934686"/>
            <a:ext cx="38195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96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C326-768F-FE8F-0F63-5A403DFB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Monthly GPU Resources</a:t>
            </a:r>
          </a:p>
        </p:txBody>
      </p:sp>
      <p:pic>
        <p:nvPicPr>
          <p:cNvPr id="3" name="Content Placeholder 2" descr="A screen shot of a graph&#10;&#10;AI-generated content may be incorrect.">
            <a:extLst>
              <a:ext uri="{FF2B5EF4-FFF2-40B4-BE49-F238E27FC236}">
                <a16:creationId xmlns:a16="http://schemas.microsoft.com/office/drawing/2014/main" id="{D6FCFE82-A6F6-25FD-82DA-C0E54D575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810" y="1884134"/>
            <a:ext cx="8138278" cy="476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80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CD78-4D41-132B-D88C-F4CEA94E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Average Monthly GPU Resources</a:t>
            </a:r>
          </a:p>
        </p:txBody>
      </p:sp>
      <p:pic>
        <p:nvPicPr>
          <p:cNvPr id="3" name="Content Placeholder 2" descr="A screen shot of a graph&#10;&#10;AI-generated content may be incorrect.">
            <a:extLst>
              <a:ext uri="{FF2B5EF4-FFF2-40B4-BE49-F238E27FC236}">
                <a16:creationId xmlns:a16="http://schemas.microsoft.com/office/drawing/2014/main" id="{3D13E127-9F42-0ED4-7E46-734497985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4839" y="1496676"/>
            <a:ext cx="7504085" cy="459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720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1BAF-A378-51AB-D8DD-06131DBD8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by College and Department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BA92B-0E62-454C-C69D-DC923F1FC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01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2A70-E00A-8365-8A3C-24138CC7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By College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88F6D4-F0E8-E3EB-721E-9987019EE9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955583"/>
              </p:ext>
            </p:extLst>
          </p:nvPr>
        </p:nvGraphicFramePr>
        <p:xfrm>
          <a:off x="464949" y="2307524"/>
          <a:ext cx="3312568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06285">
                  <a:extLst>
                    <a:ext uri="{9D8B030D-6E8A-4147-A177-3AD203B41FA5}">
                      <a16:colId xmlns:a16="http://schemas.microsoft.com/office/drawing/2014/main" val="4122699315"/>
                    </a:ext>
                  </a:extLst>
                </a:gridCol>
                <a:gridCol w="2006283">
                  <a:extLst>
                    <a:ext uri="{9D8B030D-6E8A-4147-A177-3AD203B41FA5}">
                      <a16:colId xmlns:a16="http://schemas.microsoft.com/office/drawing/2014/main" val="2625661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College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Number of Jobs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55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CEC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1847607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099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CHHS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20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CHSS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83548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271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350785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585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EHD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50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LAW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002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ORC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3401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681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SOM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1279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39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VPA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64779"/>
                  </a:ext>
                </a:extLst>
              </a:tr>
            </a:tbl>
          </a:graphicData>
        </a:graphic>
      </p:graphicFrame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51EFA4A-783B-8C25-85FE-E5EC59182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136" y="2307740"/>
            <a:ext cx="5101525" cy="377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13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85E4F-6A6B-C608-722D-97E2C88DE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vs GPU Jobs by College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A9CBDCB-1F2B-5687-568C-4AB0E1F77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0598180"/>
              </p:ext>
            </p:extLst>
          </p:nvPr>
        </p:nvGraphicFramePr>
        <p:xfrm>
          <a:off x="895457" y="1907152"/>
          <a:ext cx="4032446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50707">
                  <a:extLst>
                    <a:ext uri="{9D8B030D-6E8A-4147-A177-3AD203B41FA5}">
                      <a16:colId xmlns:a16="http://schemas.microsoft.com/office/drawing/2014/main" val="3628520152"/>
                    </a:ext>
                  </a:extLst>
                </a:gridCol>
                <a:gridCol w="1256590">
                  <a:extLst>
                    <a:ext uri="{9D8B030D-6E8A-4147-A177-3AD203B41FA5}">
                      <a16:colId xmlns:a16="http://schemas.microsoft.com/office/drawing/2014/main" val="2468407371"/>
                    </a:ext>
                  </a:extLst>
                </a:gridCol>
                <a:gridCol w="1725149">
                  <a:extLst>
                    <a:ext uri="{9D8B030D-6E8A-4147-A177-3AD203B41FA5}">
                      <a16:colId xmlns:a16="http://schemas.microsoft.com/office/drawing/2014/main" val="1301230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College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CPU Jobs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GPU Jobs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941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956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dirty="0">
                          <a:effectLst/>
                        </a:rPr>
                        <a:t>350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008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CEC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1731014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dirty="0">
                          <a:effectLst/>
                        </a:rPr>
                        <a:t>113566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956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CHHS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dirty="0">
                          <a:effectLst/>
                        </a:rPr>
                        <a:t>357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061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CHSS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83191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dirty="0">
                          <a:effectLst/>
                        </a:rPr>
                        <a:t>8304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060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342096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dirty="0">
                          <a:effectLst/>
                        </a:rPr>
                        <a:t>2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814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LAW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dirty="0">
                          <a:effectLst/>
                        </a:rPr>
                        <a:t>644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597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ORC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dirty="0">
                          <a:effectLst/>
                        </a:rPr>
                        <a:t>834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409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SOM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445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dirty="0">
                          <a:effectLst/>
                        </a:rPr>
                        <a:t>16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080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>
                          <a:effectLst/>
                        </a:rPr>
                        <a:t>VPA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dirty="0">
                          <a:effectLst/>
                        </a:rPr>
                        <a:t>350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804579"/>
                  </a:ext>
                </a:extLst>
              </a:tr>
            </a:tbl>
          </a:graphicData>
        </a:graphic>
      </p:graphicFrame>
      <p:pic>
        <p:nvPicPr>
          <p:cNvPr id="8" name="Picture 7" descr="A graph with blue bars&#10;&#10;AI-generated content may be incorrect.">
            <a:extLst>
              <a:ext uri="{FF2B5EF4-FFF2-40B4-BE49-F238E27FC236}">
                <a16:creationId xmlns:a16="http://schemas.microsoft.com/office/drawing/2014/main" id="{49187425-8B32-35C5-BBDB-D88E8908D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272" y="1477047"/>
            <a:ext cx="3420337" cy="2560719"/>
          </a:xfrm>
          <a:prstGeom prst="rect">
            <a:avLst/>
          </a:prstGeom>
        </p:spPr>
      </p:pic>
      <p:pic>
        <p:nvPicPr>
          <p:cNvPr id="9" name="Picture 8" descr="A graph with a bar and text&#10;&#10;AI-generated content may be incorrect.">
            <a:extLst>
              <a:ext uri="{FF2B5EF4-FFF2-40B4-BE49-F238E27FC236}">
                <a16:creationId xmlns:a16="http://schemas.microsoft.com/office/drawing/2014/main" id="{642641D7-F2EE-5E5A-DC88-7275C06C2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509" y="4176794"/>
            <a:ext cx="3525865" cy="268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07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1ADD4-BE2C-CB85-7579-C43651D28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CEC Breakdown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97DE7-D576-FBCB-479E-D3C596455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72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BF88-CCF3-1B38-802A-7DD1C8C38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CEC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1D9DBAA-DF63-4E35-B3A6-7E3B778F71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9720411"/>
              </p:ext>
            </p:extLst>
          </p:nvPr>
        </p:nvGraphicFramePr>
        <p:xfrm>
          <a:off x="1226949" y="1950203"/>
          <a:ext cx="3287010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13992">
                  <a:extLst>
                    <a:ext uri="{9D8B030D-6E8A-4147-A177-3AD203B41FA5}">
                      <a16:colId xmlns:a16="http://schemas.microsoft.com/office/drawing/2014/main" val="1469468556"/>
                    </a:ext>
                  </a:extLst>
                </a:gridCol>
                <a:gridCol w="2073018">
                  <a:extLst>
                    <a:ext uri="{9D8B030D-6E8A-4147-A177-3AD203B41FA5}">
                      <a16:colId xmlns:a16="http://schemas.microsoft.com/office/drawing/2014/main" val="3565802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Dept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Submit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809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beng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2599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410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ceie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404490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367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185704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195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cyse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5575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406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daen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482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835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ece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20089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684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818885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120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696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298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seor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1168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970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stat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407919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97234"/>
                  </a:ext>
                </a:extLst>
              </a:tr>
            </a:tbl>
          </a:graphicData>
        </a:graphic>
      </p:graphicFrame>
      <p:pic>
        <p:nvPicPr>
          <p:cNvPr id="7" name="Picture 6" descr="A graph of a number of jobs&#10;&#10;AI-generated content may be incorrect.">
            <a:extLst>
              <a:ext uri="{FF2B5EF4-FFF2-40B4-BE49-F238E27FC236}">
                <a16:creationId xmlns:a16="http://schemas.microsoft.com/office/drawing/2014/main" id="{6F7EA364-BB94-0EC2-7077-A88ABFDEA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343" y="1821804"/>
            <a:ext cx="6557720" cy="430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563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D15EA-E977-49E5-FC3A-12648EF6D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CEC CPU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8DEFCCB-A8C9-427B-43F8-7ED38B5923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704728"/>
              </p:ext>
            </p:extLst>
          </p:nvPr>
        </p:nvGraphicFramePr>
        <p:xfrm>
          <a:off x="628542" y="2238643"/>
          <a:ext cx="6454748" cy="30861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82149">
                  <a:extLst>
                    <a:ext uri="{9D8B030D-6E8A-4147-A177-3AD203B41FA5}">
                      <a16:colId xmlns:a16="http://schemas.microsoft.com/office/drawing/2014/main" val="471970255"/>
                    </a:ext>
                  </a:extLst>
                </a:gridCol>
                <a:gridCol w="1502226">
                  <a:extLst>
                    <a:ext uri="{9D8B030D-6E8A-4147-A177-3AD203B41FA5}">
                      <a16:colId xmlns:a16="http://schemas.microsoft.com/office/drawing/2014/main" val="3456931030"/>
                    </a:ext>
                  </a:extLst>
                </a:gridCol>
                <a:gridCol w="1502226">
                  <a:extLst>
                    <a:ext uri="{9D8B030D-6E8A-4147-A177-3AD203B41FA5}">
                      <a16:colId xmlns:a16="http://schemas.microsoft.com/office/drawing/2014/main" val="1589961059"/>
                    </a:ext>
                  </a:extLst>
                </a:gridCol>
                <a:gridCol w="1050707">
                  <a:extLst>
                    <a:ext uri="{9D8B030D-6E8A-4147-A177-3AD203B41FA5}">
                      <a16:colId xmlns:a16="http://schemas.microsoft.com/office/drawing/2014/main" val="201156326"/>
                    </a:ext>
                  </a:extLst>
                </a:gridCol>
                <a:gridCol w="993913">
                  <a:extLst>
                    <a:ext uri="{9D8B030D-6E8A-4147-A177-3AD203B41FA5}">
                      <a16:colId xmlns:a16="http://schemas.microsoft.com/office/drawing/2014/main" val="2964278984"/>
                    </a:ext>
                  </a:extLst>
                </a:gridCol>
                <a:gridCol w="823527">
                  <a:extLst>
                    <a:ext uri="{9D8B030D-6E8A-4147-A177-3AD203B41FA5}">
                      <a16:colId xmlns:a16="http://schemas.microsoft.com/office/drawing/2014/main" val="40812906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Dept</a:t>
                      </a:r>
                      <a:endParaRPr lang="en-US" sz="105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No. of CPU Jobs Submitted</a:t>
                      </a:r>
                      <a:endParaRPr lang="en-US" sz="105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CPU </a:t>
                      </a:r>
                      <a:r>
                        <a:rPr lang="en-US" sz="1050" b="1" dirty="0" err="1">
                          <a:effectLst/>
                        </a:rPr>
                        <a:t>Hrs</a:t>
                      </a:r>
                      <a:endParaRPr lang="en-US" sz="105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AVG CPU </a:t>
                      </a:r>
                      <a:r>
                        <a:rPr lang="en-US" sz="1050" b="1" dirty="0" err="1">
                          <a:effectLst/>
                        </a:rPr>
                        <a:t>Hrs</a:t>
                      </a:r>
                      <a:endParaRPr lang="en-US" sz="105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MEM(GB)</a:t>
                      </a:r>
                      <a:endParaRPr lang="en-US" sz="105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AVG MEM(GB)</a:t>
                      </a:r>
                      <a:endParaRPr lang="en-US" sz="105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903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beng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2062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72519.47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35.17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311830.00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151.23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744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ceie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403909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7592789.35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18.80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14244531.80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35.27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00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128234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4044583.22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31.54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4437875.21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34.61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111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cyse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2138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298125.52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139.44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473931.00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221.67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927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daen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68950.76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204.60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16494.00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48.94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075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ece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3339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679437.41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203.49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108727.30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32.56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65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785603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417913.51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0.53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3224156.47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07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217120.83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458.06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68168.00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143.81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738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seor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470.20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5.34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1047.00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11.90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174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stat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404830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2598905.13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5383631.94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13.30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742826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5232EDAF-779F-4A15-1753-CC095BCDC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564" y="2575194"/>
            <a:ext cx="40005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317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A804-4556-A403-3B48-CE0E4D760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CEC CPU Hours</a:t>
            </a: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584FEC5A-32FC-733C-8148-2CADB60CE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22189"/>
            <a:ext cx="10515600" cy="315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08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3082-AD80-FA93-2A77-39CCBB10A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CEC CPU Memory</a:t>
            </a: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E1FB2EA7-5F57-16BC-E909-0AD323685A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2717"/>
            <a:ext cx="10515600" cy="313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621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81086-1532-5E20-6E1E-999CEC785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CEC GPU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2409AF8-A5C5-BF91-0645-07EFC94ED1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565642"/>
              </p:ext>
            </p:extLst>
          </p:nvPr>
        </p:nvGraphicFramePr>
        <p:xfrm>
          <a:off x="163593" y="2182677"/>
          <a:ext cx="7953509" cy="31931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74439">
                  <a:extLst>
                    <a:ext uri="{9D8B030D-6E8A-4147-A177-3AD203B41FA5}">
                      <a16:colId xmlns:a16="http://schemas.microsoft.com/office/drawing/2014/main" val="384278458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59512332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32710297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39527612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769643770"/>
                    </a:ext>
                  </a:extLst>
                </a:gridCol>
                <a:gridCol w="773831">
                  <a:extLst>
                    <a:ext uri="{9D8B030D-6E8A-4147-A177-3AD203B41FA5}">
                      <a16:colId xmlns:a16="http://schemas.microsoft.com/office/drawing/2014/main" val="72348730"/>
                    </a:ext>
                  </a:extLst>
                </a:gridCol>
                <a:gridCol w="993913">
                  <a:extLst>
                    <a:ext uri="{9D8B030D-6E8A-4147-A177-3AD203B41FA5}">
                      <a16:colId xmlns:a16="http://schemas.microsoft.com/office/drawing/2014/main" val="1685804942"/>
                    </a:ext>
                  </a:extLst>
                </a:gridCol>
                <a:gridCol w="837726">
                  <a:extLst>
                    <a:ext uri="{9D8B030D-6E8A-4147-A177-3AD203B41FA5}">
                      <a16:colId xmlns:a16="http://schemas.microsoft.com/office/drawing/2014/main" val="1909039915"/>
                    </a:ext>
                  </a:extLst>
                </a:gridCol>
              </a:tblGrid>
              <a:tr h="582149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Dept</a:t>
                      </a:r>
                      <a:endParaRPr lang="en-US" sz="105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No. of GPU Jobs Submitted</a:t>
                      </a:r>
                      <a:endParaRPr lang="en-US" sz="105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CPU </a:t>
                      </a:r>
                      <a:r>
                        <a:rPr lang="en-US" sz="1050" b="1" dirty="0" err="1">
                          <a:effectLst/>
                        </a:rPr>
                        <a:t>Hrs</a:t>
                      </a:r>
                      <a:endParaRPr lang="en-US" sz="105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AVG CPU </a:t>
                      </a:r>
                      <a:r>
                        <a:rPr lang="en-US" sz="1050" b="1" dirty="0" err="1">
                          <a:effectLst/>
                        </a:rPr>
                        <a:t>Hrs</a:t>
                      </a:r>
                      <a:endParaRPr lang="en-US" sz="105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GPU </a:t>
                      </a:r>
                      <a:r>
                        <a:rPr lang="en-US" sz="1050" b="1" dirty="0" err="1">
                          <a:effectLst/>
                        </a:rPr>
                        <a:t>Hrs</a:t>
                      </a:r>
                      <a:endParaRPr lang="en-US" sz="105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AVG GPU </a:t>
                      </a:r>
                      <a:r>
                        <a:rPr lang="en-US" sz="1050" b="1" dirty="0" err="1">
                          <a:effectLst/>
                        </a:rPr>
                        <a:t>Hrs</a:t>
                      </a:r>
                      <a:endParaRPr lang="en-US" sz="105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MEM(GB)</a:t>
                      </a:r>
                      <a:endParaRPr lang="en-US" sz="105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AVG MEM(GB)</a:t>
                      </a:r>
                      <a:endParaRPr lang="en-US" sz="105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678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beng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1481.06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1481.06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11203.00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20.86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013501"/>
                  </a:ext>
                </a:extLst>
              </a:tr>
              <a:tr h="34786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ceie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93389.59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162.13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5465.83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32474.00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56.38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62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57388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2689278.67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46.86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424339.74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7.39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4543997.11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79.20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80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cyse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3437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36496.97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10.62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7003.43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309877.72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90.16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569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daen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35390.00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244.07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3809.35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26.27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9220.00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63.59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221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ece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16750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559803.42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33.42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74278.77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700947.37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41.85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585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33244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2899977.88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87.23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220620.37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6.64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3684835.42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110.84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677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9440.23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42.52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708.89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3.19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13888.00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62.56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855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err="1">
                          <a:effectLst/>
                        </a:rPr>
                        <a:t>seor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1077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306811.36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284.88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25688.44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23.85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93199.52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86.54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19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stat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23805.23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125.29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4359.83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22.95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6133.42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dirty="0">
                          <a:effectLst/>
                        </a:rPr>
                        <a:t>32.28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141260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FC20706A-8AAF-0AEB-26FB-2DE6586D9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2496" y="2850719"/>
            <a:ext cx="3595823" cy="236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63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129A0-040F-B436-E6A4-C02C1335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CEC GPU Hours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BC76B5-7BB3-7F9F-F348-9749259EE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22189"/>
            <a:ext cx="10515600" cy="315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89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A626A-8D89-2E2A-3BC4-4495E418D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CEC GPU Memory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CBE627-81BF-D396-CE13-2259E4CF8C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22189"/>
            <a:ext cx="10515600" cy="315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4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8CF4A-73FF-0915-78AC-C38E1DEE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 Breakdown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132DD-A577-5B6A-719E-D6CB028C0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3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EAF79-69F1-864A-A9E2-0342ABBC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COS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4D8999-2E3E-B0C0-CCF5-55BDA5CEB3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7603715"/>
              </p:ext>
            </p:extLst>
          </p:nvPr>
        </p:nvGraphicFramePr>
        <p:xfrm>
          <a:off x="650067" y="2148236"/>
          <a:ext cx="2399588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71396">
                  <a:extLst>
                    <a:ext uri="{9D8B030D-6E8A-4147-A177-3AD203B41FA5}">
                      <a16:colId xmlns:a16="http://schemas.microsoft.com/office/drawing/2014/main" val="2153471447"/>
                    </a:ext>
                  </a:extLst>
                </a:gridCol>
                <a:gridCol w="1228192">
                  <a:extLst>
                    <a:ext uri="{9D8B030D-6E8A-4147-A177-3AD203B41FA5}">
                      <a16:colId xmlns:a16="http://schemas.microsoft.com/office/drawing/2014/main" val="30679501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Dept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 dirty="0">
                          <a:effectLst/>
                        </a:rPr>
                        <a:t>Submit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561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aoes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109233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937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biol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18244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822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cds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9155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895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chem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4744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492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esp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2919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242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ggs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9653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136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ipn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2731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6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25505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204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phys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164625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854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ssb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</a:rPr>
                        <a:t>3976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811662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jobs&#10;&#10;AI-generated content may be incorrect.">
            <a:extLst>
              <a:ext uri="{FF2B5EF4-FFF2-40B4-BE49-F238E27FC236}">
                <a16:creationId xmlns:a16="http://schemas.microsoft.com/office/drawing/2014/main" id="{67DFAAC2-5331-4561-25CA-61D4DDA2F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615" y="2497703"/>
            <a:ext cx="5675177" cy="371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11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F12E8-98A0-5828-8EC7-BBCE043EF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 CPU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3FC1EC5-398A-F928-76D7-6F3AB97CB4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556632"/>
              </p:ext>
            </p:extLst>
          </p:nvPr>
        </p:nvGraphicFramePr>
        <p:xfrm>
          <a:off x="439119" y="1631626"/>
          <a:ext cx="6554139" cy="4419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3142">
                  <a:extLst>
                    <a:ext uri="{9D8B030D-6E8A-4147-A177-3AD203B41FA5}">
                      <a16:colId xmlns:a16="http://schemas.microsoft.com/office/drawing/2014/main" val="3032766494"/>
                    </a:ext>
                  </a:extLst>
                </a:gridCol>
                <a:gridCol w="1502226">
                  <a:extLst>
                    <a:ext uri="{9D8B030D-6E8A-4147-A177-3AD203B41FA5}">
                      <a16:colId xmlns:a16="http://schemas.microsoft.com/office/drawing/2014/main" val="2293023475"/>
                    </a:ext>
                  </a:extLst>
                </a:gridCol>
                <a:gridCol w="1502226">
                  <a:extLst>
                    <a:ext uri="{9D8B030D-6E8A-4147-A177-3AD203B41FA5}">
                      <a16:colId xmlns:a16="http://schemas.microsoft.com/office/drawing/2014/main" val="3333885755"/>
                    </a:ext>
                  </a:extLst>
                </a:gridCol>
                <a:gridCol w="816428">
                  <a:extLst>
                    <a:ext uri="{9D8B030D-6E8A-4147-A177-3AD203B41FA5}">
                      <a16:colId xmlns:a16="http://schemas.microsoft.com/office/drawing/2014/main" val="2012877928"/>
                    </a:ext>
                  </a:extLst>
                </a:gridCol>
                <a:gridCol w="1164298">
                  <a:extLst>
                    <a:ext uri="{9D8B030D-6E8A-4147-A177-3AD203B41FA5}">
                      <a16:colId xmlns:a16="http://schemas.microsoft.com/office/drawing/2014/main" val="2482110955"/>
                    </a:ext>
                  </a:extLst>
                </a:gridCol>
                <a:gridCol w="915819">
                  <a:extLst>
                    <a:ext uri="{9D8B030D-6E8A-4147-A177-3AD203B41FA5}">
                      <a16:colId xmlns:a16="http://schemas.microsoft.com/office/drawing/2014/main" val="30728820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1" dirty="0">
                          <a:effectLst/>
                        </a:rPr>
                        <a:t>Dept</a:t>
                      </a:r>
                      <a:endParaRPr lang="en-US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1" dirty="0">
                          <a:effectLst/>
                        </a:rPr>
                        <a:t>No. of CPU Jobs Submitted</a:t>
                      </a:r>
                      <a:endParaRPr lang="en-US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1" dirty="0">
                          <a:effectLst/>
                        </a:rPr>
                        <a:t>CPU </a:t>
                      </a:r>
                      <a:r>
                        <a:rPr lang="en-US" sz="1400" b="1" dirty="0" err="1">
                          <a:effectLst/>
                        </a:rPr>
                        <a:t>Hrs</a:t>
                      </a:r>
                      <a:endParaRPr lang="en-US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1" dirty="0">
                          <a:effectLst/>
                        </a:rPr>
                        <a:t>AVG CPU </a:t>
                      </a:r>
                      <a:r>
                        <a:rPr lang="en-US" sz="1400" b="1" err="1">
                          <a:effectLst/>
                        </a:rPr>
                        <a:t>Hrs</a:t>
                      </a:r>
                      <a:endParaRPr lang="en-US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1" dirty="0">
                          <a:effectLst/>
                        </a:rPr>
                        <a:t>MEM(GB)</a:t>
                      </a:r>
                      <a:endParaRPr lang="en-US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1" dirty="0">
                          <a:effectLst/>
                        </a:rPr>
                        <a:t>AVG MEM(GB)</a:t>
                      </a:r>
                      <a:endParaRPr lang="en-US" sz="14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606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err="1">
                          <a:effectLst/>
                        </a:rPr>
                        <a:t>aoes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105579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5106174.92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48.36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26880067.19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254.60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791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biol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18187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525899.47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28.92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2001875.56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110.07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157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err="1">
                          <a:effectLst/>
                        </a:rPr>
                        <a:t>cds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8587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751942.11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87.57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236857.22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27.58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920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chem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4439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1146580.49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258.30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838196.08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188.83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257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err="1">
                          <a:effectLst/>
                        </a:rPr>
                        <a:t>esp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2916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166798.86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57.20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75242.00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25.80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851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err="1">
                          <a:effectLst/>
                        </a:rPr>
                        <a:t>ggs</a:t>
                      </a:r>
                      <a:endParaRPr lang="en-US" sz="1400" dirty="0" err="1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9192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877813.74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95.50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2094253.00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227.83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701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err="1">
                          <a:effectLst/>
                        </a:rPr>
                        <a:t>ipn</a:t>
                      </a:r>
                      <a:endParaRPr lang="en-US" sz="1400" dirty="0" err="1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2731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53915.56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19.74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97501.00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35.70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87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25265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2686842.51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106.35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1383968.68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54.78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782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err="1">
                          <a:effectLst/>
                        </a:rPr>
                        <a:t>phys</a:t>
                      </a:r>
                      <a:endParaRPr lang="en-US" sz="1400" dirty="0" err="1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164088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15371947.56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93.68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13746805.63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83.78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15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err="1">
                          <a:effectLst/>
                        </a:rPr>
                        <a:t>ssb</a:t>
                      </a:r>
                      <a:endParaRPr lang="en-US" sz="1400" dirty="0" err="1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1112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80277.96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72.19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62416.00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>
                          <a:effectLst/>
                        </a:rPr>
                        <a:t>56.13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739716"/>
                  </a:ext>
                </a:extLst>
              </a:tr>
            </a:tbl>
          </a:graphicData>
        </a:graphic>
      </p:graphicFrame>
      <p:pic>
        <p:nvPicPr>
          <p:cNvPr id="7" name="Picture 6" descr="A graph with blue squares&#10;&#10;AI-generated content may be incorrect.">
            <a:extLst>
              <a:ext uri="{FF2B5EF4-FFF2-40B4-BE49-F238E27FC236}">
                <a16:creationId xmlns:a16="http://schemas.microsoft.com/office/drawing/2014/main" id="{2A964B15-6302-BF96-0B8F-F03CA805F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038" y="1894991"/>
            <a:ext cx="40005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5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2D4E-B745-B0E6-DDAF-F630E2B1C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 CPU Hours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C5070F-B685-55D0-7CAA-B1EF7D3FD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3097"/>
            <a:ext cx="10515600" cy="316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549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F1D9B-8081-3C9D-68A8-9F188EBE3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 CPU Memory</a:t>
            </a:r>
          </a:p>
        </p:txBody>
      </p:sp>
      <p:pic>
        <p:nvPicPr>
          <p:cNvPr id="4" name="Content Placeholder 3" descr="A comparison of a graph&#10;&#10;AI-generated content may be incorrect.">
            <a:extLst>
              <a:ext uri="{FF2B5EF4-FFF2-40B4-BE49-F238E27FC236}">
                <a16:creationId xmlns:a16="http://schemas.microsoft.com/office/drawing/2014/main" id="{439C42DF-FF39-470C-CC7B-72F942B5F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19572"/>
            <a:ext cx="10515600" cy="316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846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D875-B9C2-42FF-E4AB-055C71C2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 GPU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2353CD9-5A35-F0F9-1806-0EBC765A68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911083"/>
              </p:ext>
            </p:extLst>
          </p:nvPr>
        </p:nvGraphicFramePr>
        <p:xfrm>
          <a:off x="292745" y="1971728"/>
          <a:ext cx="7268262" cy="3657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51589">
                  <a:extLst>
                    <a:ext uri="{9D8B030D-6E8A-4147-A177-3AD203B41FA5}">
                      <a16:colId xmlns:a16="http://schemas.microsoft.com/office/drawing/2014/main" val="505531487"/>
                    </a:ext>
                  </a:extLst>
                </a:gridCol>
                <a:gridCol w="816428">
                  <a:extLst>
                    <a:ext uri="{9D8B030D-6E8A-4147-A177-3AD203B41FA5}">
                      <a16:colId xmlns:a16="http://schemas.microsoft.com/office/drawing/2014/main" val="2112623755"/>
                    </a:ext>
                  </a:extLst>
                </a:gridCol>
                <a:gridCol w="1349982">
                  <a:extLst>
                    <a:ext uri="{9D8B030D-6E8A-4147-A177-3AD203B41FA5}">
                      <a16:colId xmlns:a16="http://schemas.microsoft.com/office/drawing/2014/main" val="2883639602"/>
                    </a:ext>
                  </a:extLst>
                </a:gridCol>
                <a:gridCol w="1083205">
                  <a:extLst>
                    <a:ext uri="{9D8B030D-6E8A-4147-A177-3AD203B41FA5}">
                      <a16:colId xmlns:a16="http://schemas.microsoft.com/office/drawing/2014/main" val="4264777377"/>
                    </a:ext>
                  </a:extLst>
                </a:gridCol>
                <a:gridCol w="1083205">
                  <a:extLst>
                    <a:ext uri="{9D8B030D-6E8A-4147-A177-3AD203B41FA5}">
                      <a16:colId xmlns:a16="http://schemas.microsoft.com/office/drawing/2014/main" val="1871436323"/>
                    </a:ext>
                  </a:extLst>
                </a:gridCol>
                <a:gridCol w="730571">
                  <a:extLst>
                    <a:ext uri="{9D8B030D-6E8A-4147-A177-3AD203B41FA5}">
                      <a16:colId xmlns:a16="http://schemas.microsoft.com/office/drawing/2014/main" val="2368388313"/>
                    </a:ext>
                  </a:extLst>
                </a:gridCol>
                <a:gridCol w="901693">
                  <a:extLst>
                    <a:ext uri="{9D8B030D-6E8A-4147-A177-3AD203B41FA5}">
                      <a16:colId xmlns:a16="http://schemas.microsoft.com/office/drawing/2014/main" val="333096338"/>
                    </a:ext>
                  </a:extLst>
                </a:gridCol>
                <a:gridCol w="651589">
                  <a:extLst>
                    <a:ext uri="{9D8B030D-6E8A-4147-A177-3AD203B41FA5}">
                      <a16:colId xmlns:a16="http://schemas.microsoft.com/office/drawing/2014/main" val="2542960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Dept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No. of GPU Jobs Submitted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CPU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AVG CPU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GPU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AVG GPU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MEM(GB)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AVG MEM(GB)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925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aoes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3654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265170.01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72.57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35156.66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9.62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489199.00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133.88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75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biol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746.06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13.09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79.26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1.39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730.24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12.81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483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cds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558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45738.34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81.97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8782.21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15.74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21259.40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38.10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800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chem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87361.18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286.43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15785.99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51.76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20871.43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68.43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518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esp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969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ggs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459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9195.00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20.03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1597.47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3.48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34870.00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75.97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233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4354.16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18.14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4259.63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17.75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38482.00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160.34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874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phys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671.48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4.09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100.08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0.61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7990.25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48.72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831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ssb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2864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972632.48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339.61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62569.89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21.85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78642.00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27.46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57239"/>
                  </a:ext>
                </a:extLst>
              </a:tr>
            </a:tbl>
          </a:graphicData>
        </a:graphic>
      </p:graphicFrame>
      <p:pic>
        <p:nvPicPr>
          <p:cNvPr id="7" name="Picture 6" descr="A graph of a number of jobs&#10;&#10;AI-generated content may be incorrect.">
            <a:extLst>
              <a:ext uri="{FF2B5EF4-FFF2-40B4-BE49-F238E27FC236}">
                <a16:creationId xmlns:a16="http://schemas.microsoft.com/office/drawing/2014/main" id="{DD305F00-BA1C-31C1-BD04-A7533B154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411" y="2549364"/>
            <a:ext cx="40005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937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9861-D397-6988-20E0-E12FA55C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 GPU Hours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FAA59E-2BC6-8A8B-5FE3-A03830D7D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08957"/>
            <a:ext cx="10515600" cy="31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789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CA59-EE3D-3EDB-B27F-94A61C21C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 GPU Memory</a:t>
            </a:r>
          </a:p>
        </p:txBody>
      </p:sp>
      <p:pic>
        <p:nvPicPr>
          <p:cNvPr id="4" name="Content Placeholder 3" descr="A comparison of a bar graph&#10;&#10;AI-generated content may be incorrect.">
            <a:extLst>
              <a:ext uri="{FF2B5EF4-FFF2-40B4-BE49-F238E27FC236}">
                <a16:creationId xmlns:a16="http://schemas.microsoft.com/office/drawing/2014/main" id="{47BE8754-4C97-B15A-2380-7B1A3B15A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99550"/>
            <a:ext cx="10515600" cy="320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3716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42D88-E238-4866-F722-A9B851B3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Instructional Jobs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B3256-2F68-E5B5-4AC4-6FE0D9498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00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2DBA6-7802-CC98-8D7C-773E51E6A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Instructional CPU and GPU</a:t>
            </a:r>
          </a:p>
        </p:txBody>
      </p:sp>
      <p:pic>
        <p:nvPicPr>
          <p:cNvPr id="4" name="Content Placeholder 3" descr="A graph with numbers and a bar chart&#10;&#10;AI-generated content may be incorrect.">
            <a:extLst>
              <a:ext uri="{FF2B5EF4-FFF2-40B4-BE49-F238E27FC236}">
                <a16:creationId xmlns:a16="http://schemas.microsoft.com/office/drawing/2014/main" id="{E816C13A-B7D4-21EB-8646-A436EBE27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557" y="2067960"/>
            <a:ext cx="4774447" cy="4301479"/>
          </a:xfrm>
          <a:prstGeom prst="rect">
            <a:avLst/>
          </a:prstGeom>
        </p:spPr>
      </p:pic>
      <p:pic>
        <p:nvPicPr>
          <p:cNvPr id="6" name="Picture 5" descr="A graph with numbers and a bar chart&#10;&#10;AI-generated content may be incorrect.">
            <a:extLst>
              <a:ext uri="{FF2B5EF4-FFF2-40B4-BE49-F238E27FC236}">
                <a16:creationId xmlns:a16="http://schemas.microsoft.com/office/drawing/2014/main" id="{CABD8748-7770-11D7-A654-79D070137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133" y="2076854"/>
            <a:ext cx="4778751" cy="430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66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5DB2B-DC58-F00F-5273-17D62EDA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Instructional CPU Hours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3D3C32-531E-6A0B-92A4-B356B18FE5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9775"/>
            <a:ext cx="10515600" cy="366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944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1A78D-3D0B-DE23-2CBF-0953CF655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Instructional CPU Memory</a:t>
            </a:r>
          </a:p>
        </p:txBody>
      </p:sp>
      <p:pic>
        <p:nvPicPr>
          <p:cNvPr id="4" name="Content Placeholder 3" descr="A comparison of a graph&#10;&#10;AI-generated content may be incorrect.">
            <a:extLst>
              <a:ext uri="{FF2B5EF4-FFF2-40B4-BE49-F238E27FC236}">
                <a16:creationId xmlns:a16="http://schemas.microsoft.com/office/drawing/2014/main" id="{F71B5490-4531-0C19-6579-79AB16BA9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2139"/>
            <a:ext cx="10515600" cy="363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497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A1DE5-7C33-D01E-4CD5-3923A432E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Instructional GPU Hours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CFDF15-A5BF-042D-0CCE-FE786E8A1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9775"/>
            <a:ext cx="10515600" cy="366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117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5CBA-8AB1-976B-C301-FFB969A4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Instructional GPU Memory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4CBC58-95B1-3CED-3623-7264816A1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9775"/>
            <a:ext cx="10515600" cy="366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00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2024 Mason">
      <a:dk1>
        <a:srgbClr val="000000"/>
      </a:dk1>
      <a:lt1>
        <a:srgbClr val="FFFFFF"/>
      </a:lt1>
      <a:dk2>
        <a:srgbClr val="333333"/>
      </a:dk2>
      <a:lt2>
        <a:srgbClr val="E7E6E6"/>
      </a:lt2>
      <a:accent1>
        <a:srgbClr val="005138"/>
      </a:accent1>
      <a:accent2>
        <a:srgbClr val="FFC733"/>
      </a:accent2>
      <a:accent3>
        <a:srgbClr val="CF4520"/>
      </a:accent3>
      <a:accent4>
        <a:srgbClr val="067681"/>
      </a:accent4>
      <a:accent5>
        <a:srgbClr val="326195"/>
      </a:accent5>
      <a:accent6>
        <a:srgbClr val="796E65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A90908F97815498C24470527335DC9" ma:contentTypeVersion="9" ma:contentTypeDescription="Create a new document." ma:contentTypeScope="" ma:versionID="9ffedf77436d8d5a68653f96c6cb7792">
  <xsd:schema xmlns:xsd="http://www.w3.org/2001/XMLSchema" xmlns:xs="http://www.w3.org/2001/XMLSchema" xmlns:p="http://schemas.microsoft.com/office/2006/metadata/properties" xmlns:ns2="872fbde2-a75a-4a65-90bd-924a2f50d916" targetNamespace="http://schemas.microsoft.com/office/2006/metadata/properties" ma:root="true" ma:fieldsID="9cce4a0b8e7ed986a330d78bb35bb5dc" ns2:_="">
    <xsd:import namespace="872fbde2-a75a-4a65-90bd-924a2f50d9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2fbde2-a75a-4a65-90bd-924a2f50d9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AFD9B9-C40A-4F9C-B748-9642FA7A6B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CFC2E6-BE7F-4FA2-B19C-A47F6F06A9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2fbde2-a75a-4a65-90bd-924a2f50d9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A80DFF-C576-44C4-AAEF-27526A6A063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3" baseType="lpstr">
      <vt:lpstr>office theme</vt:lpstr>
      <vt:lpstr>Office Theme</vt:lpstr>
      <vt:lpstr>Hopper Stats – 2025 Retrospective</vt:lpstr>
      <vt:lpstr>Overall Stats</vt:lpstr>
      <vt:lpstr>PowerPoint Presentation</vt:lpstr>
      <vt:lpstr>Average Unique Users by Weekday</vt:lpstr>
      <vt:lpstr>Average Jobs by Weekday</vt:lpstr>
      <vt:lpstr>Run Times and Wait Times</vt:lpstr>
      <vt:lpstr>CPU Stats</vt:lpstr>
      <vt:lpstr>Overall CPU Resources</vt:lpstr>
      <vt:lpstr>CPU Request Count</vt:lpstr>
      <vt:lpstr>Total Monthly CPU Resources</vt:lpstr>
      <vt:lpstr>Average Monthly CPU Resources</vt:lpstr>
      <vt:lpstr>GPU Stats</vt:lpstr>
      <vt:lpstr>Overall GPU Resources</vt:lpstr>
      <vt:lpstr>GPU Requests</vt:lpstr>
      <vt:lpstr>Total Monthly GPU Resources</vt:lpstr>
      <vt:lpstr>Average Monthly GPU Resources</vt:lpstr>
      <vt:lpstr>Usage by College and Department</vt:lpstr>
      <vt:lpstr>Usage By College</vt:lpstr>
      <vt:lpstr>CPU vs GPU Jobs by College</vt:lpstr>
      <vt:lpstr>CEC Breakdown</vt:lpstr>
      <vt:lpstr>Overall CEC Jobs</vt:lpstr>
      <vt:lpstr>CEC CPU Jobs</vt:lpstr>
      <vt:lpstr>CEC CPU Hours</vt:lpstr>
      <vt:lpstr>CEC CPU Memory</vt:lpstr>
      <vt:lpstr>CEC GPU Jobs</vt:lpstr>
      <vt:lpstr>CEC GPU Hours</vt:lpstr>
      <vt:lpstr>CEC GPU Memory</vt:lpstr>
      <vt:lpstr>COS Breakdown</vt:lpstr>
      <vt:lpstr>Overall COS Jobs</vt:lpstr>
      <vt:lpstr>COS CPU Jobs</vt:lpstr>
      <vt:lpstr>COS CPU Hours</vt:lpstr>
      <vt:lpstr>COS CPU Memory</vt:lpstr>
      <vt:lpstr>COS GPU Jobs</vt:lpstr>
      <vt:lpstr>COS GPU Hours</vt:lpstr>
      <vt:lpstr>COS GPU Memory</vt:lpstr>
      <vt:lpstr>Instructional Jobs</vt:lpstr>
      <vt:lpstr>Instructional CPU and GPU</vt:lpstr>
      <vt:lpstr>Instructional CPU Hours</vt:lpstr>
      <vt:lpstr>Instructional CPU Memory</vt:lpstr>
      <vt:lpstr>Instructional GPU Hours</vt:lpstr>
      <vt:lpstr>Instructional GPU Memory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472</cp:revision>
  <dcterms:created xsi:type="dcterms:W3CDTF">2025-11-10T21:01:29Z</dcterms:created>
  <dcterms:modified xsi:type="dcterms:W3CDTF">2026-05-11T15:56:54Z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0x0101009BA90908F97815498C24470527335DC9</vt:lpwstr>
  </property>
</Properties>
</file>