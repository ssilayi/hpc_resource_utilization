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03" r:id="rId4"/>
    <p:sldId id="308" r:id="rId5"/>
    <p:sldId id="309" r:id="rId6"/>
    <p:sldId id="302" r:id="rId7"/>
    <p:sldId id="304" r:id="rId8"/>
    <p:sldId id="305" r:id="rId9"/>
    <p:sldId id="306" r:id="rId10"/>
    <p:sldId id="258" r:id="rId11"/>
    <p:sldId id="259" r:id="rId12"/>
    <p:sldId id="260" r:id="rId13"/>
    <p:sldId id="261" r:id="rId14"/>
    <p:sldId id="262" r:id="rId15"/>
    <p:sldId id="263" r:id="rId16"/>
    <p:sldId id="296" r:id="rId17"/>
    <p:sldId id="294" r:id="rId18"/>
    <p:sldId id="295" r:id="rId19"/>
    <p:sldId id="297" r:id="rId20"/>
    <p:sldId id="299" r:id="rId21"/>
    <p:sldId id="301" r:id="rId22"/>
    <p:sldId id="293" r:id="rId23"/>
    <p:sldId id="268" r:id="rId24"/>
    <p:sldId id="269" r:id="rId25"/>
    <p:sldId id="264" r:id="rId26"/>
    <p:sldId id="265" r:id="rId27"/>
    <p:sldId id="267" r:id="rId28"/>
    <p:sldId id="266" r:id="rId29"/>
    <p:sldId id="270" r:id="rId30"/>
    <p:sldId id="271" r:id="rId31"/>
    <p:sldId id="273" r:id="rId32"/>
    <p:sldId id="275" r:id="rId33"/>
    <p:sldId id="276" r:id="rId34"/>
    <p:sldId id="280" r:id="rId35"/>
    <p:sldId id="282" r:id="rId36"/>
    <p:sldId id="283" r:id="rId37"/>
    <p:sldId id="284" r:id="rId38"/>
    <p:sldId id="285" r:id="rId39"/>
    <p:sldId id="286" r:id="rId40"/>
    <p:sldId id="287" r:id="rId41"/>
    <p:sldId id="288" r:id="rId42"/>
    <p:sldId id="289" r:id="rId43"/>
    <p:sldId id="290" r:id="rId44"/>
    <p:sldId id="292" r:id="rId45"/>
    <p:sldId id="29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silayi\Documents\ORC\stats\all_stats\Tables_and_Figures\total_jobs.csv"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Runs Argo and Hopper [2020 - 2022]</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total_jobs!$B$1</c:f>
              <c:strCache>
                <c:ptCount val="1"/>
                <c:pt idx="0">
                  <c:v>Argo</c:v>
                </c:pt>
              </c:strCache>
            </c:strRef>
          </c:tx>
          <c:spPr>
            <a:solidFill>
              <a:schemeClr val="accent1"/>
            </a:solidFill>
            <a:ln>
              <a:noFill/>
            </a:ln>
            <a:effectLst/>
          </c:spPr>
          <c:invertIfNegative val="0"/>
          <c:cat>
            <c:numRef>
              <c:f>total_jobs!$A$2:$A$4</c:f>
              <c:numCache>
                <c:formatCode>General</c:formatCode>
                <c:ptCount val="3"/>
                <c:pt idx="0">
                  <c:v>2020</c:v>
                </c:pt>
                <c:pt idx="1">
                  <c:v>2021</c:v>
                </c:pt>
                <c:pt idx="2">
                  <c:v>2022</c:v>
                </c:pt>
              </c:numCache>
            </c:numRef>
          </c:cat>
          <c:val>
            <c:numRef>
              <c:f>total_jobs!$B$2:$B$4</c:f>
              <c:numCache>
                <c:formatCode>General</c:formatCode>
                <c:ptCount val="3"/>
                <c:pt idx="0">
                  <c:v>3080997</c:v>
                </c:pt>
                <c:pt idx="1">
                  <c:v>424030</c:v>
                </c:pt>
                <c:pt idx="2">
                  <c:v>364032</c:v>
                </c:pt>
              </c:numCache>
            </c:numRef>
          </c:val>
          <c:extLst>
            <c:ext xmlns:c16="http://schemas.microsoft.com/office/drawing/2014/chart" uri="{C3380CC4-5D6E-409C-BE32-E72D297353CC}">
              <c16:uniqueId val="{00000000-C343-4C25-8040-1D7D30497FEE}"/>
            </c:ext>
          </c:extLst>
        </c:ser>
        <c:ser>
          <c:idx val="1"/>
          <c:order val="1"/>
          <c:tx>
            <c:strRef>
              <c:f>total_jobs!$C$1</c:f>
              <c:strCache>
                <c:ptCount val="1"/>
                <c:pt idx="0">
                  <c:v>Hopper</c:v>
                </c:pt>
              </c:strCache>
            </c:strRef>
          </c:tx>
          <c:spPr>
            <a:solidFill>
              <a:schemeClr val="accent2"/>
            </a:solidFill>
            <a:ln>
              <a:noFill/>
            </a:ln>
            <a:effectLst/>
          </c:spPr>
          <c:invertIfNegative val="0"/>
          <c:cat>
            <c:numRef>
              <c:f>total_jobs!$A$2:$A$4</c:f>
              <c:numCache>
                <c:formatCode>General</c:formatCode>
                <c:ptCount val="3"/>
                <c:pt idx="0">
                  <c:v>2020</c:v>
                </c:pt>
                <c:pt idx="1">
                  <c:v>2021</c:v>
                </c:pt>
                <c:pt idx="2">
                  <c:v>2022</c:v>
                </c:pt>
              </c:numCache>
            </c:numRef>
          </c:cat>
          <c:val>
            <c:numRef>
              <c:f>total_jobs!$C$2:$C$4</c:f>
              <c:numCache>
                <c:formatCode>General</c:formatCode>
                <c:ptCount val="3"/>
                <c:pt idx="0">
                  <c:v>0</c:v>
                </c:pt>
                <c:pt idx="1">
                  <c:v>178120</c:v>
                </c:pt>
                <c:pt idx="2">
                  <c:v>1179007</c:v>
                </c:pt>
              </c:numCache>
            </c:numRef>
          </c:val>
          <c:extLst>
            <c:ext xmlns:c16="http://schemas.microsoft.com/office/drawing/2014/chart" uri="{C3380CC4-5D6E-409C-BE32-E72D297353CC}">
              <c16:uniqueId val="{00000001-C343-4C25-8040-1D7D30497FEE}"/>
            </c:ext>
          </c:extLst>
        </c:ser>
        <c:dLbls>
          <c:showLegendKey val="0"/>
          <c:showVal val="0"/>
          <c:showCatName val="0"/>
          <c:showSerName val="0"/>
          <c:showPercent val="0"/>
          <c:showBubbleSize val="0"/>
        </c:dLbls>
        <c:gapWidth val="219"/>
        <c:overlap val="-27"/>
        <c:axId val="510451024"/>
        <c:axId val="510452008"/>
      </c:barChart>
      <c:catAx>
        <c:axId val="510451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0452008"/>
        <c:crosses val="autoZero"/>
        <c:auto val="1"/>
        <c:lblAlgn val="ctr"/>
        <c:lblOffset val="100"/>
        <c:noMultiLvlLbl val="0"/>
      </c:catAx>
      <c:valAx>
        <c:axId val="5104520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04510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FF740-456F-4D3B-884E-58D2678BFA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DF8ED7-ED87-4AD8-8549-EA02680A59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922CFB-AE42-4BD5-A375-A09BE81FB54D}"/>
              </a:ext>
            </a:extLst>
          </p:cNvPr>
          <p:cNvSpPr>
            <a:spLocks noGrp="1"/>
          </p:cNvSpPr>
          <p:nvPr>
            <p:ph type="dt" sz="half" idx="10"/>
          </p:nvPr>
        </p:nvSpPr>
        <p:spPr/>
        <p:txBody>
          <a:bodyPr/>
          <a:lstStyle/>
          <a:p>
            <a:fld id="{DEB28856-D709-4704-81A7-E9218B1CDF61}" type="datetimeFigureOut">
              <a:rPr lang="en-US" smtClean="0"/>
              <a:t>5/11/2026</a:t>
            </a:fld>
            <a:endParaRPr lang="en-US"/>
          </a:p>
        </p:txBody>
      </p:sp>
      <p:sp>
        <p:nvSpPr>
          <p:cNvPr id="5" name="Footer Placeholder 4">
            <a:extLst>
              <a:ext uri="{FF2B5EF4-FFF2-40B4-BE49-F238E27FC236}">
                <a16:creationId xmlns:a16="http://schemas.microsoft.com/office/drawing/2014/main" id="{B342A177-2C4B-4282-8B5E-905B6C55C5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489B22-80EB-4F38-BE06-306148897FF7}"/>
              </a:ext>
            </a:extLst>
          </p:cNvPr>
          <p:cNvSpPr>
            <a:spLocks noGrp="1"/>
          </p:cNvSpPr>
          <p:nvPr>
            <p:ph type="sldNum" sz="quarter" idx="12"/>
          </p:nvPr>
        </p:nvSpPr>
        <p:spPr/>
        <p:txBody>
          <a:bodyPr/>
          <a:lstStyle/>
          <a:p>
            <a:fld id="{5911E1A5-94DB-4992-B382-73AA4E834B04}" type="slidenum">
              <a:rPr lang="en-US" smtClean="0"/>
              <a:t>‹#›</a:t>
            </a:fld>
            <a:endParaRPr lang="en-US"/>
          </a:p>
        </p:txBody>
      </p:sp>
    </p:spTree>
    <p:extLst>
      <p:ext uri="{BB962C8B-B14F-4D97-AF65-F5344CB8AC3E}">
        <p14:creationId xmlns:p14="http://schemas.microsoft.com/office/powerpoint/2010/main" val="3002983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3CCA1-0E08-4026-AF18-E2A7A27FC7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79342B-DE70-487B-AEA7-49DACF8F5DF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90804B-F99F-4C04-BF5F-8184ACFEFE2C}"/>
              </a:ext>
            </a:extLst>
          </p:cNvPr>
          <p:cNvSpPr>
            <a:spLocks noGrp="1"/>
          </p:cNvSpPr>
          <p:nvPr>
            <p:ph type="dt" sz="half" idx="10"/>
          </p:nvPr>
        </p:nvSpPr>
        <p:spPr/>
        <p:txBody>
          <a:bodyPr/>
          <a:lstStyle/>
          <a:p>
            <a:fld id="{DEB28856-D709-4704-81A7-E9218B1CDF61}" type="datetimeFigureOut">
              <a:rPr lang="en-US" smtClean="0"/>
              <a:t>5/11/2026</a:t>
            </a:fld>
            <a:endParaRPr lang="en-US"/>
          </a:p>
        </p:txBody>
      </p:sp>
      <p:sp>
        <p:nvSpPr>
          <p:cNvPr id="5" name="Footer Placeholder 4">
            <a:extLst>
              <a:ext uri="{FF2B5EF4-FFF2-40B4-BE49-F238E27FC236}">
                <a16:creationId xmlns:a16="http://schemas.microsoft.com/office/drawing/2014/main" id="{2FD6A40B-C2D4-46C1-974B-59822BBA56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AC3AEB-8882-4DB1-8E41-FC5D5349B3CD}"/>
              </a:ext>
            </a:extLst>
          </p:cNvPr>
          <p:cNvSpPr>
            <a:spLocks noGrp="1"/>
          </p:cNvSpPr>
          <p:nvPr>
            <p:ph type="sldNum" sz="quarter" idx="12"/>
          </p:nvPr>
        </p:nvSpPr>
        <p:spPr/>
        <p:txBody>
          <a:bodyPr/>
          <a:lstStyle/>
          <a:p>
            <a:fld id="{5911E1A5-94DB-4992-B382-73AA4E834B04}" type="slidenum">
              <a:rPr lang="en-US" smtClean="0"/>
              <a:t>‹#›</a:t>
            </a:fld>
            <a:endParaRPr lang="en-US"/>
          </a:p>
        </p:txBody>
      </p:sp>
    </p:spTree>
    <p:extLst>
      <p:ext uri="{BB962C8B-B14F-4D97-AF65-F5344CB8AC3E}">
        <p14:creationId xmlns:p14="http://schemas.microsoft.com/office/powerpoint/2010/main" val="3375821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95F1A-317C-40A6-A2AD-40259DA5C6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DF68CE-E9C1-4C92-836E-BE3E5D9843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F3CF8E9-80D7-42B3-B627-49CC46288135}"/>
              </a:ext>
            </a:extLst>
          </p:cNvPr>
          <p:cNvSpPr>
            <a:spLocks noGrp="1"/>
          </p:cNvSpPr>
          <p:nvPr>
            <p:ph type="dt" sz="half" idx="10"/>
          </p:nvPr>
        </p:nvSpPr>
        <p:spPr/>
        <p:txBody>
          <a:bodyPr/>
          <a:lstStyle/>
          <a:p>
            <a:fld id="{DEB28856-D709-4704-81A7-E9218B1CDF61}" type="datetimeFigureOut">
              <a:rPr lang="en-US" smtClean="0"/>
              <a:t>5/11/2026</a:t>
            </a:fld>
            <a:endParaRPr lang="en-US"/>
          </a:p>
        </p:txBody>
      </p:sp>
      <p:sp>
        <p:nvSpPr>
          <p:cNvPr id="5" name="Footer Placeholder 4">
            <a:extLst>
              <a:ext uri="{FF2B5EF4-FFF2-40B4-BE49-F238E27FC236}">
                <a16:creationId xmlns:a16="http://schemas.microsoft.com/office/drawing/2014/main" id="{252228A9-0281-4625-8022-F43AFAFD47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416FA0-E6BB-478A-A88B-4FF10A24A7E1}"/>
              </a:ext>
            </a:extLst>
          </p:cNvPr>
          <p:cNvSpPr>
            <a:spLocks noGrp="1"/>
          </p:cNvSpPr>
          <p:nvPr>
            <p:ph type="sldNum" sz="quarter" idx="12"/>
          </p:nvPr>
        </p:nvSpPr>
        <p:spPr/>
        <p:txBody>
          <a:bodyPr/>
          <a:lstStyle/>
          <a:p>
            <a:fld id="{5911E1A5-94DB-4992-B382-73AA4E834B04}" type="slidenum">
              <a:rPr lang="en-US" smtClean="0"/>
              <a:t>‹#›</a:t>
            </a:fld>
            <a:endParaRPr lang="en-US"/>
          </a:p>
        </p:txBody>
      </p:sp>
    </p:spTree>
    <p:extLst>
      <p:ext uri="{BB962C8B-B14F-4D97-AF65-F5344CB8AC3E}">
        <p14:creationId xmlns:p14="http://schemas.microsoft.com/office/powerpoint/2010/main" val="2064601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E08C9-5BED-4D6B-9865-38829D1644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7137DC-4D1F-4950-8887-59740252F40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1EF167C-7728-4343-B873-D5112C8FF54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9847AD-EE01-44D1-BCC6-41EFF550EAD5}"/>
              </a:ext>
            </a:extLst>
          </p:cNvPr>
          <p:cNvSpPr>
            <a:spLocks noGrp="1"/>
          </p:cNvSpPr>
          <p:nvPr>
            <p:ph type="dt" sz="half" idx="10"/>
          </p:nvPr>
        </p:nvSpPr>
        <p:spPr/>
        <p:txBody>
          <a:bodyPr/>
          <a:lstStyle/>
          <a:p>
            <a:fld id="{DEB28856-D709-4704-81A7-E9218B1CDF61}" type="datetimeFigureOut">
              <a:rPr lang="en-US" smtClean="0"/>
              <a:t>5/11/2026</a:t>
            </a:fld>
            <a:endParaRPr lang="en-US"/>
          </a:p>
        </p:txBody>
      </p:sp>
      <p:sp>
        <p:nvSpPr>
          <p:cNvPr id="6" name="Footer Placeholder 5">
            <a:extLst>
              <a:ext uri="{FF2B5EF4-FFF2-40B4-BE49-F238E27FC236}">
                <a16:creationId xmlns:a16="http://schemas.microsoft.com/office/drawing/2014/main" id="{25DEFBCE-DED2-4408-A65B-31908FEF76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3D9A1C-A52A-4098-97D9-A0780A935290}"/>
              </a:ext>
            </a:extLst>
          </p:cNvPr>
          <p:cNvSpPr>
            <a:spLocks noGrp="1"/>
          </p:cNvSpPr>
          <p:nvPr>
            <p:ph type="sldNum" sz="quarter" idx="12"/>
          </p:nvPr>
        </p:nvSpPr>
        <p:spPr/>
        <p:txBody>
          <a:bodyPr/>
          <a:lstStyle/>
          <a:p>
            <a:fld id="{5911E1A5-94DB-4992-B382-73AA4E834B04}" type="slidenum">
              <a:rPr lang="en-US" smtClean="0"/>
              <a:t>‹#›</a:t>
            </a:fld>
            <a:endParaRPr lang="en-US"/>
          </a:p>
        </p:txBody>
      </p:sp>
    </p:spTree>
    <p:extLst>
      <p:ext uri="{BB962C8B-B14F-4D97-AF65-F5344CB8AC3E}">
        <p14:creationId xmlns:p14="http://schemas.microsoft.com/office/powerpoint/2010/main" val="657678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1654C-8170-458A-9AD5-C5A3BE64AB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3A41D7-F67B-464F-853E-8D2E7A0706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00E1512-4A00-48F9-8A76-D93CF2C5FBC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AFB75A-6D0A-44B0-A5CC-7EC470E61E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F11974D-C787-4F14-B846-4E48870ECDC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49BFE3-14D0-4BED-B901-4FC9F4460312}"/>
              </a:ext>
            </a:extLst>
          </p:cNvPr>
          <p:cNvSpPr>
            <a:spLocks noGrp="1"/>
          </p:cNvSpPr>
          <p:nvPr>
            <p:ph type="dt" sz="half" idx="10"/>
          </p:nvPr>
        </p:nvSpPr>
        <p:spPr/>
        <p:txBody>
          <a:bodyPr/>
          <a:lstStyle/>
          <a:p>
            <a:fld id="{DEB28856-D709-4704-81A7-E9218B1CDF61}" type="datetimeFigureOut">
              <a:rPr lang="en-US" smtClean="0"/>
              <a:t>5/11/2026</a:t>
            </a:fld>
            <a:endParaRPr lang="en-US"/>
          </a:p>
        </p:txBody>
      </p:sp>
      <p:sp>
        <p:nvSpPr>
          <p:cNvPr id="8" name="Footer Placeholder 7">
            <a:extLst>
              <a:ext uri="{FF2B5EF4-FFF2-40B4-BE49-F238E27FC236}">
                <a16:creationId xmlns:a16="http://schemas.microsoft.com/office/drawing/2014/main" id="{83672FC9-8C92-4483-84C1-32B6D7D39E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DC407C-66C4-4A7D-8F8D-314F9E65AE02}"/>
              </a:ext>
            </a:extLst>
          </p:cNvPr>
          <p:cNvSpPr>
            <a:spLocks noGrp="1"/>
          </p:cNvSpPr>
          <p:nvPr>
            <p:ph type="sldNum" sz="quarter" idx="12"/>
          </p:nvPr>
        </p:nvSpPr>
        <p:spPr/>
        <p:txBody>
          <a:bodyPr/>
          <a:lstStyle/>
          <a:p>
            <a:fld id="{5911E1A5-94DB-4992-B382-73AA4E834B04}" type="slidenum">
              <a:rPr lang="en-US" smtClean="0"/>
              <a:t>‹#›</a:t>
            </a:fld>
            <a:endParaRPr lang="en-US"/>
          </a:p>
        </p:txBody>
      </p:sp>
    </p:spTree>
    <p:extLst>
      <p:ext uri="{BB962C8B-B14F-4D97-AF65-F5344CB8AC3E}">
        <p14:creationId xmlns:p14="http://schemas.microsoft.com/office/powerpoint/2010/main" val="3548192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B7572-6EF8-4723-819D-3F395FF4D4D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2DF365-7A2C-4D10-9A8F-28CA756B8479}"/>
              </a:ext>
            </a:extLst>
          </p:cNvPr>
          <p:cNvSpPr>
            <a:spLocks noGrp="1"/>
          </p:cNvSpPr>
          <p:nvPr>
            <p:ph type="dt" sz="half" idx="10"/>
          </p:nvPr>
        </p:nvSpPr>
        <p:spPr/>
        <p:txBody>
          <a:bodyPr/>
          <a:lstStyle/>
          <a:p>
            <a:fld id="{DEB28856-D709-4704-81A7-E9218B1CDF61}" type="datetimeFigureOut">
              <a:rPr lang="en-US" smtClean="0"/>
              <a:t>5/11/2026</a:t>
            </a:fld>
            <a:endParaRPr lang="en-US"/>
          </a:p>
        </p:txBody>
      </p:sp>
      <p:sp>
        <p:nvSpPr>
          <p:cNvPr id="4" name="Footer Placeholder 3">
            <a:extLst>
              <a:ext uri="{FF2B5EF4-FFF2-40B4-BE49-F238E27FC236}">
                <a16:creationId xmlns:a16="http://schemas.microsoft.com/office/drawing/2014/main" id="{D3FB1F4F-5099-4809-98D8-2EE0252827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0B124A3-F90E-4AE6-80D4-8A2F2B2306AE}"/>
              </a:ext>
            </a:extLst>
          </p:cNvPr>
          <p:cNvSpPr>
            <a:spLocks noGrp="1"/>
          </p:cNvSpPr>
          <p:nvPr>
            <p:ph type="sldNum" sz="quarter" idx="12"/>
          </p:nvPr>
        </p:nvSpPr>
        <p:spPr/>
        <p:txBody>
          <a:bodyPr/>
          <a:lstStyle/>
          <a:p>
            <a:fld id="{5911E1A5-94DB-4992-B382-73AA4E834B04}" type="slidenum">
              <a:rPr lang="en-US" smtClean="0"/>
              <a:t>‹#›</a:t>
            </a:fld>
            <a:endParaRPr lang="en-US"/>
          </a:p>
        </p:txBody>
      </p:sp>
    </p:spTree>
    <p:extLst>
      <p:ext uri="{BB962C8B-B14F-4D97-AF65-F5344CB8AC3E}">
        <p14:creationId xmlns:p14="http://schemas.microsoft.com/office/powerpoint/2010/main" val="183639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C9CDC8-DA21-4F49-A911-671CD764572E}"/>
              </a:ext>
            </a:extLst>
          </p:cNvPr>
          <p:cNvSpPr>
            <a:spLocks noGrp="1"/>
          </p:cNvSpPr>
          <p:nvPr>
            <p:ph type="dt" sz="half" idx="10"/>
          </p:nvPr>
        </p:nvSpPr>
        <p:spPr/>
        <p:txBody>
          <a:bodyPr/>
          <a:lstStyle/>
          <a:p>
            <a:fld id="{DEB28856-D709-4704-81A7-E9218B1CDF61}" type="datetimeFigureOut">
              <a:rPr lang="en-US" smtClean="0"/>
              <a:t>5/11/2026</a:t>
            </a:fld>
            <a:endParaRPr lang="en-US"/>
          </a:p>
        </p:txBody>
      </p:sp>
      <p:sp>
        <p:nvSpPr>
          <p:cNvPr id="3" name="Footer Placeholder 2">
            <a:extLst>
              <a:ext uri="{FF2B5EF4-FFF2-40B4-BE49-F238E27FC236}">
                <a16:creationId xmlns:a16="http://schemas.microsoft.com/office/drawing/2014/main" id="{848EB547-9F5E-4FA8-9C57-EB9D094AB1D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DAC254-FEFD-446F-954F-759CCCF562D5}"/>
              </a:ext>
            </a:extLst>
          </p:cNvPr>
          <p:cNvSpPr>
            <a:spLocks noGrp="1"/>
          </p:cNvSpPr>
          <p:nvPr>
            <p:ph type="sldNum" sz="quarter" idx="12"/>
          </p:nvPr>
        </p:nvSpPr>
        <p:spPr/>
        <p:txBody>
          <a:bodyPr/>
          <a:lstStyle/>
          <a:p>
            <a:fld id="{5911E1A5-94DB-4992-B382-73AA4E834B04}" type="slidenum">
              <a:rPr lang="en-US" smtClean="0"/>
              <a:t>‹#›</a:t>
            </a:fld>
            <a:endParaRPr lang="en-US"/>
          </a:p>
        </p:txBody>
      </p:sp>
    </p:spTree>
    <p:extLst>
      <p:ext uri="{BB962C8B-B14F-4D97-AF65-F5344CB8AC3E}">
        <p14:creationId xmlns:p14="http://schemas.microsoft.com/office/powerpoint/2010/main" val="1145323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8EA47-4E12-4E45-B717-58F3C7E1D2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8C185B-2AC2-4753-BC1D-EE3E1EB4A3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D0660C-C707-4DC9-98E5-AF68E1FE3D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85BD75E-A646-4761-BA0B-FE4598E27C78}"/>
              </a:ext>
            </a:extLst>
          </p:cNvPr>
          <p:cNvSpPr>
            <a:spLocks noGrp="1"/>
          </p:cNvSpPr>
          <p:nvPr>
            <p:ph type="dt" sz="half" idx="10"/>
          </p:nvPr>
        </p:nvSpPr>
        <p:spPr/>
        <p:txBody>
          <a:bodyPr/>
          <a:lstStyle/>
          <a:p>
            <a:fld id="{DEB28856-D709-4704-81A7-E9218B1CDF61}" type="datetimeFigureOut">
              <a:rPr lang="en-US" smtClean="0"/>
              <a:t>5/11/2026</a:t>
            </a:fld>
            <a:endParaRPr lang="en-US"/>
          </a:p>
        </p:txBody>
      </p:sp>
      <p:sp>
        <p:nvSpPr>
          <p:cNvPr id="6" name="Footer Placeholder 5">
            <a:extLst>
              <a:ext uri="{FF2B5EF4-FFF2-40B4-BE49-F238E27FC236}">
                <a16:creationId xmlns:a16="http://schemas.microsoft.com/office/drawing/2014/main" id="{98271F9D-D40D-4EB6-BD89-0AD7655021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78E8B7-D3D4-40E4-A2D0-309B5322672D}"/>
              </a:ext>
            </a:extLst>
          </p:cNvPr>
          <p:cNvSpPr>
            <a:spLocks noGrp="1"/>
          </p:cNvSpPr>
          <p:nvPr>
            <p:ph type="sldNum" sz="quarter" idx="12"/>
          </p:nvPr>
        </p:nvSpPr>
        <p:spPr/>
        <p:txBody>
          <a:bodyPr/>
          <a:lstStyle/>
          <a:p>
            <a:fld id="{5911E1A5-94DB-4992-B382-73AA4E834B04}" type="slidenum">
              <a:rPr lang="en-US" smtClean="0"/>
              <a:t>‹#›</a:t>
            </a:fld>
            <a:endParaRPr lang="en-US"/>
          </a:p>
        </p:txBody>
      </p:sp>
    </p:spTree>
    <p:extLst>
      <p:ext uri="{BB962C8B-B14F-4D97-AF65-F5344CB8AC3E}">
        <p14:creationId xmlns:p14="http://schemas.microsoft.com/office/powerpoint/2010/main" val="1007747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C8EC7-5A22-4E26-9E5A-0D61101C6D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73AC3D-CB8E-4D0A-96E6-6C67D286AF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40C3AD-A54C-4B41-8F1B-36843F53E6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B0C3931-4FC3-4266-B5D2-898727B54B08}"/>
              </a:ext>
            </a:extLst>
          </p:cNvPr>
          <p:cNvSpPr>
            <a:spLocks noGrp="1"/>
          </p:cNvSpPr>
          <p:nvPr>
            <p:ph type="dt" sz="half" idx="10"/>
          </p:nvPr>
        </p:nvSpPr>
        <p:spPr/>
        <p:txBody>
          <a:bodyPr/>
          <a:lstStyle/>
          <a:p>
            <a:fld id="{DEB28856-D709-4704-81A7-E9218B1CDF61}" type="datetimeFigureOut">
              <a:rPr lang="en-US" smtClean="0"/>
              <a:t>5/11/2026</a:t>
            </a:fld>
            <a:endParaRPr lang="en-US"/>
          </a:p>
        </p:txBody>
      </p:sp>
      <p:sp>
        <p:nvSpPr>
          <p:cNvPr id="6" name="Footer Placeholder 5">
            <a:extLst>
              <a:ext uri="{FF2B5EF4-FFF2-40B4-BE49-F238E27FC236}">
                <a16:creationId xmlns:a16="http://schemas.microsoft.com/office/drawing/2014/main" id="{28583623-DF7E-46FD-9C52-5D7A735E8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FDACC7-AA39-4024-A98A-206C4E39402B}"/>
              </a:ext>
            </a:extLst>
          </p:cNvPr>
          <p:cNvSpPr>
            <a:spLocks noGrp="1"/>
          </p:cNvSpPr>
          <p:nvPr>
            <p:ph type="sldNum" sz="quarter" idx="12"/>
          </p:nvPr>
        </p:nvSpPr>
        <p:spPr/>
        <p:txBody>
          <a:bodyPr/>
          <a:lstStyle/>
          <a:p>
            <a:fld id="{5911E1A5-94DB-4992-B382-73AA4E834B04}" type="slidenum">
              <a:rPr lang="en-US" smtClean="0"/>
              <a:t>‹#›</a:t>
            </a:fld>
            <a:endParaRPr lang="en-US"/>
          </a:p>
        </p:txBody>
      </p:sp>
    </p:spTree>
    <p:extLst>
      <p:ext uri="{BB962C8B-B14F-4D97-AF65-F5344CB8AC3E}">
        <p14:creationId xmlns:p14="http://schemas.microsoft.com/office/powerpoint/2010/main" val="930093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EFCDE-81C2-49B4-88FA-D35BACB48E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5AF99E-AED8-45EA-A097-28E60E3D79A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AA6E5F-6181-40E1-A849-21845FE8BFCE}"/>
              </a:ext>
            </a:extLst>
          </p:cNvPr>
          <p:cNvSpPr>
            <a:spLocks noGrp="1"/>
          </p:cNvSpPr>
          <p:nvPr>
            <p:ph type="dt" sz="half" idx="10"/>
          </p:nvPr>
        </p:nvSpPr>
        <p:spPr/>
        <p:txBody>
          <a:bodyPr/>
          <a:lstStyle/>
          <a:p>
            <a:fld id="{DEB28856-D709-4704-81A7-E9218B1CDF61}" type="datetimeFigureOut">
              <a:rPr lang="en-US" smtClean="0"/>
              <a:t>5/11/2026</a:t>
            </a:fld>
            <a:endParaRPr lang="en-US"/>
          </a:p>
        </p:txBody>
      </p:sp>
      <p:sp>
        <p:nvSpPr>
          <p:cNvPr id="5" name="Footer Placeholder 4">
            <a:extLst>
              <a:ext uri="{FF2B5EF4-FFF2-40B4-BE49-F238E27FC236}">
                <a16:creationId xmlns:a16="http://schemas.microsoft.com/office/drawing/2014/main" id="{888D372C-C240-4634-8634-2001825DBC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3BE519-583F-4100-8D87-BC4AAC550F6E}"/>
              </a:ext>
            </a:extLst>
          </p:cNvPr>
          <p:cNvSpPr>
            <a:spLocks noGrp="1"/>
          </p:cNvSpPr>
          <p:nvPr>
            <p:ph type="sldNum" sz="quarter" idx="12"/>
          </p:nvPr>
        </p:nvSpPr>
        <p:spPr/>
        <p:txBody>
          <a:bodyPr/>
          <a:lstStyle/>
          <a:p>
            <a:fld id="{5911E1A5-94DB-4992-B382-73AA4E834B04}" type="slidenum">
              <a:rPr lang="en-US" smtClean="0"/>
              <a:t>‹#›</a:t>
            </a:fld>
            <a:endParaRPr lang="en-US"/>
          </a:p>
        </p:txBody>
      </p:sp>
    </p:spTree>
    <p:extLst>
      <p:ext uri="{BB962C8B-B14F-4D97-AF65-F5344CB8AC3E}">
        <p14:creationId xmlns:p14="http://schemas.microsoft.com/office/powerpoint/2010/main" val="1534394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6B16CA-08FD-4DDE-B838-9D5BEDD7F4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85D67DC-4DEF-4211-A25D-910E7DFC1E7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1D2EF6-33A6-4018-872F-7F618BABE634}"/>
              </a:ext>
            </a:extLst>
          </p:cNvPr>
          <p:cNvSpPr>
            <a:spLocks noGrp="1"/>
          </p:cNvSpPr>
          <p:nvPr>
            <p:ph type="dt" sz="half" idx="10"/>
          </p:nvPr>
        </p:nvSpPr>
        <p:spPr/>
        <p:txBody>
          <a:bodyPr/>
          <a:lstStyle/>
          <a:p>
            <a:fld id="{DEB28856-D709-4704-81A7-E9218B1CDF61}" type="datetimeFigureOut">
              <a:rPr lang="en-US" smtClean="0"/>
              <a:t>5/11/2026</a:t>
            </a:fld>
            <a:endParaRPr lang="en-US"/>
          </a:p>
        </p:txBody>
      </p:sp>
      <p:sp>
        <p:nvSpPr>
          <p:cNvPr id="5" name="Footer Placeholder 4">
            <a:extLst>
              <a:ext uri="{FF2B5EF4-FFF2-40B4-BE49-F238E27FC236}">
                <a16:creationId xmlns:a16="http://schemas.microsoft.com/office/drawing/2014/main" id="{223F6ED7-BF03-4553-A768-76E18374E9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2FFB66-3863-4F77-A8C1-B2F21628BF59}"/>
              </a:ext>
            </a:extLst>
          </p:cNvPr>
          <p:cNvSpPr>
            <a:spLocks noGrp="1"/>
          </p:cNvSpPr>
          <p:nvPr>
            <p:ph type="sldNum" sz="quarter" idx="12"/>
          </p:nvPr>
        </p:nvSpPr>
        <p:spPr/>
        <p:txBody>
          <a:bodyPr/>
          <a:lstStyle/>
          <a:p>
            <a:fld id="{5911E1A5-94DB-4992-B382-73AA4E834B04}" type="slidenum">
              <a:rPr lang="en-US" smtClean="0"/>
              <a:t>‹#›</a:t>
            </a:fld>
            <a:endParaRPr lang="en-US"/>
          </a:p>
        </p:txBody>
      </p:sp>
    </p:spTree>
    <p:extLst>
      <p:ext uri="{BB962C8B-B14F-4D97-AF65-F5344CB8AC3E}">
        <p14:creationId xmlns:p14="http://schemas.microsoft.com/office/powerpoint/2010/main" val="593023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5CE2A6-CF79-4A78-A30E-602240B37A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B55D47-5CE7-424D-8680-3209DE81EC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CF99B0-5B50-4CB8-89F5-A08B45E4A2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B28856-D709-4704-81A7-E9218B1CDF61}" type="datetimeFigureOut">
              <a:rPr lang="en-US" smtClean="0"/>
              <a:t>5/11/2026</a:t>
            </a:fld>
            <a:endParaRPr lang="en-US"/>
          </a:p>
        </p:txBody>
      </p:sp>
      <p:sp>
        <p:nvSpPr>
          <p:cNvPr id="5" name="Footer Placeholder 4">
            <a:extLst>
              <a:ext uri="{FF2B5EF4-FFF2-40B4-BE49-F238E27FC236}">
                <a16:creationId xmlns:a16="http://schemas.microsoft.com/office/drawing/2014/main" id="{6CDB15CC-F896-49A9-93AB-58689DAA57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526F4C-E100-4DC5-ACF3-AC67161962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1E1A5-94DB-4992-B382-73AA4E834B04}" type="slidenum">
              <a:rPr lang="en-US" smtClean="0"/>
              <a:t>‹#›</a:t>
            </a:fld>
            <a:endParaRPr lang="en-US"/>
          </a:p>
        </p:txBody>
      </p:sp>
    </p:spTree>
    <p:extLst>
      <p:ext uri="{BB962C8B-B14F-4D97-AF65-F5344CB8AC3E}">
        <p14:creationId xmlns:p14="http://schemas.microsoft.com/office/powerpoint/2010/main" val="926826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CE8C2-01F5-4005-8B7B-7E307C484AF5}"/>
              </a:ext>
            </a:extLst>
          </p:cNvPr>
          <p:cNvSpPr>
            <a:spLocks noGrp="1"/>
          </p:cNvSpPr>
          <p:nvPr>
            <p:ph type="ctrTitle"/>
          </p:nvPr>
        </p:nvSpPr>
        <p:spPr/>
        <p:txBody>
          <a:bodyPr/>
          <a:lstStyle/>
          <a:p>
            <a:r>
              <a:rPr lang="en-US"/>
              <a:t>ARGO – HOPPER Clusters Usage Statistics 2020 - 2022</a:t>
            </a:r>
          </a:p>
        </p:txBody>
      </p:sp>
      <p:sp>
        <p:nvSpPr>
          <p:cNvPr id="3" name="Subtitle 2">
            <a:extLst>
              <a:ext uri="{FF2B5EF4-FFF2-40B4-BE49-F238E27FC236}">
                <a16:creationId xmlns:a16="http://schemas.microsoft.com/office/drawing/2014/main" id="{EF7EB015-9718-43AE-8E7B-3D89776F60E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60350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D1B8AF-229D-4E96-BA82-7835F3F92B2C}"/>
              </a:ext>
            </a:extLst>
          </p:cNvPr>
          <p:cNvSpPr>
            <a:spLocks noGrp="1"/>
          </p:cNvSpPr>
          <p:nvPr>
            <p:ph type="title"/>
          </p:nvPr>
        </p:nvSpPr>
        <p:spPr/>
        <p:txBody>
          <a:bodyPr/>
          <a:lstStyle/>
          <a:p>
            <a:r>
              <a:rPr lang="en-US"/>
              <a:t>Contents</a:t>
            </a:r>
          </a:p>
        </p:txBody>
      </p:sp>
      <p:sp>
        <p:nvSpPr>
          <p:cNvPr id="5" name="Content Placeholder 4">
            <a:extLst>
              <a:ext uri="{FF2B5EF4-FFF2-40B4-BE49-F238E27FC236}">
                <a16:creationId xmlns:a16="http://schemas.microsoft.com/office/drawing/2014/main" id="{133A11F1-0153-46B8-8621-37C238224D8B}"/>
              </a:ext>
            </a:extLst>
          </p:cNvPr>
          <p:cNvSpPr>
            <a:spLocks noGrp="1"/>
          </p:cNvSpPr>
          <p:nvPr>
            <p:ph idx="1"/>
          </p:nvPr>
        </p:nvSpPr>
        <p:spPr/>
        <p:txBody>
          <a:bodyPr>
            <a:normAutofit fontScale="62500" lnSpcReduction="20000"/>
          </a:bodyPr>
          <a:lstStyle/>
          <a:p>
            <a:r>
              <a:rPr lang="en-US"/>
              <a:t>Overview</a:t>
            </a:r>
          </a:p>
          <a:p>
            <a:pPr lvl="1"/>
            <a:r>
              <a:rPr lang="en-US"/>
              <a:t>Accounts requested and trained</a:t>
            </a:r>
          </a:p>
          <a:p>
            <a:pPr lvl="1"/>
            <a:r>
              <a:rPr lang="en-US"/>
              <a:t>All Jobs run</a:t>
            </a:r>
          </a:p>
          <a:p>
            <a:pPr lvl="1"/>
            <a:r>
              <a:rPr lang="en-US"/>
              <a:t>GPUs vs CPUs</a:t>
            </a:r>
          </a:p>
          <a:p>
            <a:pPr lvl="1"/>
            <a:r>
              <a:rPr lang="en-US"/>
              <a:t>Multi Core Vs. Single Core Jobs</a:t>
            </a:r>
          </a:p>
          <a:p>
            <a:pPr lvl="1"/>
            <a:r>
              <a:rPr lang="en-US"/>
              <a:t>Job Exit States</a:t>
            </a:r>
          </a:p>
          <a:p>
            <a:pPr lvl="1"/>
            <a:r>
              <a:rPr lang="en-US"/>
              <a:t>Monthly Usage Stats</a:t>
            </a:r>
          </a:p>
          <a:p>
            <a:r>
              <a:rPr lang="en-US"/>
              <a:t>Argo Usage</a:t>
            </a:r>
          </a:p>
          <a:p>
            <a:pPr lvl="1"/>
            <a:r>
              <a:rPr lang="en-US"/>
              <a:t>GPU Jobs: Cumulative Usage Numbers </a:t>
            </a:r>
          </a:p>
          <a:p>
            <a:pPr lvl="1"/>
            <a:r>
              <a:rPr lang="en-US"/>
              <a:t>GPU Jobs: Breakdown by School/Department</a:t>
            </a:r>
          </a:p>
          <a:p>
            <a:pPr lvl="1"/>
            <a:r>
              <a:rPr lang="en-US"/>
              <a:t>CPU Jobs: Cumulative Usage Numbers </a:t>
            </a:r>
          </a:p>
          <a:p>
            <a:pPr lvl="1"/>
            <a:r>
              <a:rPr lang="en-US"/>
              <a:t>CPU Jobs: Breakdown by School/Department</a:t>
            </a:r>
          </a:p>
          <a:p>
            <a:r>
              <a:rPr lang="en-US"/>
              <a:t>Hopper Usage</a:t>
            </a:r>
          </a:p>
          <a:p>
            <a:pPr lvl="1"/>
            <a:r>
              <a:rPr lang="en-US"/>
              <a:t>GPU Jobs: Cumulative Usage Numbers </a:t>
            </a:r>
          </a:p>
          <a:p>
            <a:pPr lvl="1"/>
            <a:r>
              <a:rPr lang="en-US"/>
              <a:t>GPU Jobs: Breakdown by School/Department</a:t>
            </a:r>
          </a:p>
          <a:p>
            <a:pPr lvl="1"/>
            <a:r>
              <a:rPr lang="en-US"/>
              <a:t>CPU Jobs: Cumulative Usage Numbers </a:t>
            </a:r>
          </a:p>
          <a:p>
            <a:pPr lvl="1"/>
            <a:r>
              <a:rPr lang="en-US"/>
              <a:t>CPU Jobs: Breakdown by School/Department</a:t>
            </a:r>
          </a:p>
        </p:txBody>
      </p:sp>
    </p:spTree>
    <p:extLst>
      <p:ext uri="{BB962C8B-B14F-4D97-AF65-F5344CB8AC3E}">
        <p14:creationId xmlns:p14="http://schemas.microsoft.com/office/powerpoint/2010/main" val="1487497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73F5BD-207E-4DC2-AC6B-ECF63C876ED1}"/>
              </a:ext>
            </a:extLst>
          </p:cNvPr>
          <p:cNvSpPr>
            <a:spLocks noGrp="1"/>
          </p:cNvSpPr>
          <p:nvPr>
            <p:ph type="title"/>
          </p:nvPr>
        </p:nvSpPr>
        <p:spPr/>
        <p:txBody>
          <a:bodyPr/>
          <a:lstStyle/>
          <a:p>
            <a:r>
              <a:rPr lang="en-US"/>
              <a:t>Cluster Account Requests and Training</a:t>
            </a:r>
          </a:p>
        </p:txBody>
      </p:sp>
      <p:sp>
        <p:nvSpPr>
          <p:cNvPr id="5" name="Text Placeholder 4">
            <a:extLst>
              <a:ext uri="{FF2B5EF4-FFF2-40B4-BE49-F238E27FC236}">
                <a16:creationId xmlns:a16="http://schemas.microsoft.com/office/drawing/2014/main" id="{E3BB0183-6E1F-45BB-ABCC-C6E91E55CB8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60859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50EF7E-B407-46EE-B7E6-6155DEF4A623}"/>
              </a:ext>
            </a:extLst>
          </p:cNvPr>
          <p:cNvSpPr>
            <a:spLocks noGrp="1"/>
          </p:cNvSpPr>
          <p:nvPr>
            <p:ph type="title"/>
          </p:nvPr>
        </p:nvSpPr>
        <p:spPr/>
        <p:txBody>
          <a:bodyPr/>
          <a:lstStyle/>
          <a:p>
            <a:r>
              <a:rPr lang="en-US"/>
              <a:t>Cluster Account Requests and Training</a:t>
            </a:r>
          </a:p>
        </p:txBody>
      </p:sp>
      <p:sp>
        <p:nvSpPr>
          <p:cNvPr id="5" name="Content Placeholder 4">
            <a:extLst>
              <a:ext uri="{FF2B5EF4-FFF2-40B4-BE49-F238E27FC236}">
                <a16:creationId xmlns:a16="http://schemas.microsoft.com/office/drawing/2014/main" id="{B289CE08-ABCE-4651-AA51-50F57D4F2ED8}"/>
              </a:ext>
            </a:extLst>
          </p:cNvPr>
          <p:cNvSpPr>
            <a:spLocks noGrp="1"/>
          </p:cNvSpPr>
          <p:nvPr>
            <p:ph idx="1"/>
          </p:nvPr>
        </p:nvSpPr>
        <p:spPr/>
        <p:txBody>
          <a:bodyPr>
            <a:normAutofit lnSpcReduction="10000"/>
          </a:bodyPr>
          <a:lstStyle/>
          <a:p>
            <a:r>
              <a:rPr lang="en-US"/>
              <a:t>In the following slides, the numbers for users requesting accounts over the period 2019 – 2022 are broken down. </a:t>
            </a:r>
          </a:p>
          <a:p>
            <a:r>
              <a:rPr lang="en-US"/>
              <a:t>The tables and figures show how the account requests are distributed based on the origination school/college of the researcher.</a:t>
            </a:r>
          </a:p>
          <a:p>
            <a:r>
              <a:rPr lang="en-US"/>
              <a:t>Additional slides break down the numbers for student researchers attending the new user tutorial for the different months in 2022.</a:t>
            </a:r>
          </a:p>
          <a:p>
            <a:r>
              <a:rPr lang="en-US"/>
              <a:t>In general, the CEC and COS have most requests for cluster accounts.</a:t>
            </a:r>
          </a:p>
          <a:p>
            <a:r>
              <a:rPr lang="en-US"/>
              <a:t>The number of requested account does not necessarily correspond to the number of users trained as some users take time before they actually attend the tutorial sessions to start using the cluster.</a:t>
            </a:r>
          </a:p>
        </p:txBody>
      </p:sp>
    </p:spTree>
    <p:extLst>
      <p:ext uri="{BB962C8B-B14F-4D97-AF65-F5344CB8AC3E}">
        <p14:creationId xmlns:p14="http://schemas.microsoft.com/office/powerpoint/2010/main" val="1132359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3CDB6-29AA-404C-AF0E-06C7A072611C}"/>
              </a:ext>
            </a:extLst>
          </p:cNvPr>
          <p:cNvSpPr>
            <a:spLocks noGrp="1"/>
          </p:cNvSpPr>
          <p:nvPr>
            <p:ph type="title"/>
          </p:nvPr>
        </p:nvSpPr>
        <p:spPr/>
        <p:txBody>
          <a:bodyPr/>
          <a:lstStyle/>
          <a:p>
            <a:r>
              <a:rPr lang="en-US"/>
              <a:t>Cluster Account Requests by Faculty 2019 - 2022</a:t>
            </a:r>
          </a:p>
        </p:txBody>
      </p:sp>
      <p:pic>
        <p:nvPicPr>
          <p:cNvPr id="5" name="Content Placeholder 4">
            <a:extLst>
              <a:ext uri="{FF2B5EF4-FFF2-40B4-BE49-F238E27FC236}">
                <a16:creationId xmlns:a16="http://schemas.microsoft.com/office/drawing/2014/main" id="{2B001914-C172-4AA8-9CC4-9E1D09E25A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522" y="1601872"/>
            <a:ext cx="6506660" cy="3903996"/>
          </a:xfrm>
        </p:spPr>
      </p:pic>
      <p:graphicFrame>
        <p:nvGraphicFramePr>
          <p:cNvPr id="6" name="Table 5">
            <a:extLst>
              <a:ext uri="{FF2B5EF4-FFF2-40B4-BE49-F238E27FC236}">
                <a16:creationId xmlns:a16="http://schemas.microsoft.com/office/drawing/2014/main" id="{958C84CB-451D-4FD6-9769-DB8E83322698}"/>
              </a:ext>
            </a:extLst>
          </p:cNvPr>
          <p:cNvGraphicFramePr>
            <a:graphicFrameLocks noGrp="1"/>
          </p:cNvGraphicFramePr>
          <p:nvPr>
            <p:extLst>
              <p:ext uri="{D42A27DB-BD31-4B8C-83A1-F6EECF244321}">
                <p14:modId xmlns:p14="http://schemas.microsoft.com/office/powerpoint/2010/main" val="894403171"/>
              </p:ext>
            </p:extLst>
          </p:nvPr>
        </p:nvGraphicFramePr>
        <p:xfrm>
          <a:off x="6405396" y="2418125"/>
          <a:ext cx="2135604" cy="2453640"/>
        </p:xfrm>
        <a:graphic>
          <a:graphicData uri="http://schemas.openxmlformats.org/drawingml/2006/table">
            <a:tbl>
              <a:tblPr/>
              <a:tblGrid>
                <a:gridCol w="445168">
                  <a:extLst>
                    <a:ext uri="{9D8B030D-6E8A-4147-A177-3AD203B41FA5}">
                      <a16:colId xmlns:a16="http://schemas.microsoft.com/office/drawing/2014/main" val="1207564343"/>
                    </a:ext>
                  </a:extLst>
                </a:gridCol>
                <a:gridCol w="338523">
                  <a:extLst>
                    <a:ext uri="{9D8B030D-6E8A-4147-A177-3AD203B41FA5}">
                      <a16:colId xmlns:a16="http://schemas.microsoft.com/office/drawing/2014/main" val="3955056409"/>
                    </a:ext>
                  </a:extLst>
                </a:gridCol>
                <a:gridCol w="413921">
                  <a:extLst>
                    <a:ext uri="{9D8B030D-6E8A-4147-A177-3AD203B41FA5}">
                      <a16:colId xmlns:a16="http://schemas.microsoft.com/office/drawing/2014/main" val="3792213162"/>
                    </a:ext>
                  </a:extLst>
                </a:gridCol>
                <a:gridCol w="474630">
                  <a:extLst>
                    <a:ext uri="{9D8B030D-6E8A-4147-A177-3AD203B41FA5}">
                      <a16:colId xmlns:a16="http://schemas.microsoft.com/office/drawing/2014/main" val="2942639117"/>
                    </a:ext>
                  </a:extLst>
                </a:gridCol>
                <a:gridCol w="463362">
                  <a:extLst>
                    <a:ext uri="{9D8B030D-6E8A-4147-A177-3AD203B41FA5}">
                      <a16:colId xmlns:a16="http://schemas.microsoft.com/office/drawing/2014/main" val="1380424112"/>
                    </a:ext>
                  </a:extLst>
                </a:gridCol>
              </a:tblGrid>
              <a:tr h="147674">
                <a:tc>
                  <a:txBody>
                    <a:bodyPr/>
                    <a:lstStyle/>
                    <a:p>
                      <a:pPr algn="l" fontAlgn="b"/>
                      <a:r>
                        <a:rPr lang="en-US" sz="1100" b="1" i="0" u="none" strike="noStrike">
                          <a:solidFill>
                            <a:srgbClr val="000000"/>
                          </a:solidFill>
                          <a:effectLst/>
                          <a:latin typeface="Calibri" panose="020F0502020204030204" pitchFamily="34" charset="0"/>
                        </a:rPr>
                        <a:t>Month</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2019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2020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2022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0822642"/>
                  </a:ext>
                </a:extLst>
              </a:tr>
              <a:tr h="147674">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8727662"/>
                  </a:ext>
                </a:extLst>
              </a:tr>
              <a:tr h="147674">
                <a:tc>
                  <a:txBody>
                    <a:bodyPr/>
                    <a:lstStyle/>
                    <a:p>
                      <a:pPr algn="r" fontAlgn="b"/>
                      <a:r>
                        <a:rPr lang="en-US"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8340542"/>
                  </a:ext>
                </a:extLst>
              </a:tr>
              <a:tr h="147674">
                <a:tc>
                  <a:txBody>
                    <a:bodyPr/>
                    <a:lstStyle/>
                    <a:p>
                      <a:pPr algn="r" fontAlgn="b"/>
                      <a:r>
                        <a:rPr lang="en-US" sz="1100" b="0" i="0" u="none" strike="noStrike">
                          <a:solidFill>
                            <a:srgbClr val="000000"/>
                          </a:solidFill>
                          <a:effectLst/>
                          <a:latin typeface="Calibri" panose="020F0502020204030204" pitchFamily="34" charset="0"/>
                        </a:rPr>
                        <a:t>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8744540"/>
                  </a:ext>
                </a:extLst>
              </a:tr>
              <a:tr h="147674">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5044766"/>
                  </a:ext>
                </a:extLst>
              </a:tr>
              <a:tr h="147674">
                <a:tc>
                  <a:txBody>
                    <a:bodyPr/>
                    <a:lstStyle/>
                    <a:p>
                      <a:pPr algn="r" fontAlgn="b"/>
                      <a:r>
                        <a:rPr lang="en-US" sz="1100" b="0" i="0" u="none" strike="noStrike">
                          <a:solidFill>
                            <a:srgbClr val="000000"/>
                          </a:solidFill>
                          <a:effectLst/>
                          <a:latin typeface="Calibri" panose="020F0502020204030204" pitchFamily="34" charset="0"/>
                        </a:rPr>
                        <a:t>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4604623"/>
                  </a:ext>
                </a:extLst>
              </a:tr>
              <a:tr h="147674">
                <a:tc>
                  <a:txBody>
                    <a:bodyPr/>
                    <a:lstStyle/>
                    <a:p>
                      <a:pPr algn="r" fontAlgn="b"/>
                      <a:r>
                        <a:rPr lang="en-US" sz="1100" b="0" i="0" u="none" strike="noStrike">
                          <a:solidFill>
                            <a:srgbClr val="000000"/>
                          </a:solidFill>
                          <a:effectLst/>
                          <a:latin typeface="Calibri" panose="020F0502020204030204" pitchFamily="34" charset="0"/>
                        </a:rPr>
                        <a:t>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4784573"/>
                  </a:ext>
                </a:extLst>
              </a:tr>
              <a:tr h="147674">
                <a:tc>
                  <a:txBody>
                    <a:bodyPr/>
                    <a:lstStyle/>
                    <a:p>
                      <a:pPr algn="r" fontAlgn="b"/>
                      <a:r>
                        <a:rPr lang="en-US" sz="1100" b="0" i="0" u="none" strike="noStrike">
                          <a:solidFill>
                            <a:srgbClr val="000000"/>
                          </a:solidFill>
                          <a:effectLst/>
                          <a:latin typeface="Calibri" panose="020F0502020204030204" pitchFamily="34" charset="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3289358"/>
                  </a:ext>
                </a:extLst>
              </a:tr>
              <a:tr h="147674">
                <a:tc>
                  <a:txBody>
                    <a:bodyPr/>
                    <a:lstStyle/>
                    <a:p>
                      <a:pPr algn="r" fontAlgn="b"/>
                      <a:r>
                        <a:rPr lang="en-US" sz="1100" b="0" i="0" u="none" strike="noStrike">
                          <a:solidFill>
                            <a:srgbClr val="000000"/>
                          </a:solidFill>
                          <a:effectLst/>
                          <a:latin typeface="Calibri" panose="020F0502020204030204" pitchFamily="34" charset="0"/>
                        </a:rPr>
                        <a:t>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4884984"/>
                  </a:ext>
                </a:extLst>
              </a:tr>
              <a:tr h="147674">
                <a:tc>
                  <a:txBody>
                    <a:bodyPr/>
                    <a:lstStyle/>
                    <a:p>
                      <a:pPr algn="r" fontAlgn="b"/>
                      <a:r>
                        <a:rPr lang="en-US" sz="1100" b="0" i="0" u="none" strike="noStrike">
                          <a:solidFill>
                            <a:srgbClr val="000000"/>
                          </a:solidFill>
                          <a:effectLst/>
                          <a:latin typeface="Calibri" panose="020F0502020204030204" pitchFamily="34" charset="0"/>
                        </a:rPr>
                        <a:t>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7692212"/>
                  </a:ext>
                </a:extLst>
              </a:tr>
              <a:tr h="147674">
                <a:tc>
                  <a:txBody>
                    <a:bodyPr/>
                    <a:lstStyle/>
                    <a:p>
                      <a:pPr algn="r" fontAlgn="b"/>
                      <a:r>
                        <a:rPr lang="en-US" sz="1100" b="0" i="0" u="none" strike="noStrike">
                          <a:solidFill>
                            <a:srgbClr val="000000"/>
                          </a:solidFill>
                          <a:effectLst/>
                          <a:latin typeface="Calibri" panose="020F0502020204030204" pitchFamily="34" charset="0"/>
                        </a:rPr>
                        <a:t>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9149068"/>
                  </a:ext>
                </a:extLst>
              </a:tr>
              <a:tr h="147674">
                <a:tc>
                  <a:txBody>
                    <a:bodyPr/>
                    <a:lstStyle/>
                    <a:p>
                      <a:pPr algn="r" fontAlgn="b"/>
                      <a:r>
                        <a:rPr lang="en-US" sz="1100" b="0" i="0" u="none" strike="noStrike">
                          <a:solidFill>
                            <a:srgbClr val="000000"/>
                          </a:solidFill>
                          <a:effectLst/>
                          <a:latin typeface="Calibri" panose="020F0502020204030204" pitchFamily="34" charset="0"/>
                        </a:rPr>
                        <a:t>11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6990758"/>
                  </a:ext>
                </a:extLst>
              </a:tr>
              <a:tr h="147674">
                <a:tc>
                  <a:txBody>
                    <a:bodyPr/>
                    <a:lstStyle/>
                    <a:p>
                      <a:pPr algn="r" fontAlgn="b"/>
                      <a:r>
                        <a:rPr lang="en-US" sz="1100" b="0" i="0" u="none" strike="noStrike">
                          <a:solidFill>
                            <a:srgbClr val="000000"/>
                          </a:solidFill>
                          <a:effectLst/>
                          <a:latin typeface="Calibri" panose="020F0502020204030204" pitchFamily="34" charset="0"/>
                        </a:rPr>
                        <a:t>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5737289"/>
                  </a:ext>
                </a:extLst>
              </a:tr>
              <a:tr h="147674">
                <a:tc>
                  <a:txBody>
                    <a:bodyPr/>
                    <a:lstStyle/>
                    <a:p>
                      <a:pPr algn="l" fontAlgn="b"/>
                      <a:r>
                        <a:rPr lang="en-US" sz="1100" b="1" i="0" u="none" strike="noStrike">
                          <a:solidFill>
                            <a:srgbClr val="000000"/>
                          </a:solidFill>
                          <a:effectLst/>
                          <a:latin typeface="Calibri" panose="020F0502020204030204" pitchFamily="34" charset="0"/>
                        </a:rPr>
                        <a:t>Total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45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58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0117270"/>
                  </a:ext>
                </a:extLst>
              </a:tr>
            </a:tbl>
          </a:graphicData>
        </a:graphic>
      </p:graphicFrame>
      <p:graphicFrame>
        <p:nvGraphicFramePr>
          <p:cNvPr id="7" name="Content Placeholder 3">
            <a:extLst>
              <a:ext uri="{FF2B5EF4-FFF2-40B4-BE49-F238E27FC236}">
                <a16:creationId xmlns:a16="http://schemas.microsoft.com/office/drawing/2014/main" id="{EA728541-CE8F-4091-ADD8-BF6363508189}"/>
              </a:ext>
            </a:extLst>
          </p:cNvPr>
          <p:cNvGraphicFramePr>
            <a:graphicFrameLocks/>
          </p:cNvGraphicFramePr>
          <p:nvPr>
            <p:extLst>
              <p:ext uri="{D42A27DB-BD31-4B8C-83A1-F6EECF244321}">
                <p14:modId xmlns:p14="http://schemas.microsoft.com/office/powerpoint/2010/main" val="3108819374"/>
              </p:ext>
            </p:extLst>
          </p:nvPr>
        </p:nvGraphicFramePr>
        <p:xfrm>
          <a:off x="9463436" y="4709265"/>
          <a:ext cx="1890363" cy="1439989"/>
        </p:xfrm>
        <a:graphic>
          <a:graphicData uri="http://schemas.openxmlformats.org/drawingml/2006/table">
            <a:tbl>
              <a:tblPr/>
              <a:tblGrid>
                <a:gridCol w="621490">
                  <a:extLst>
                    <a:ext uri="{9D8B030D-6E8A-4147-A177-3AD203B41FA5}">
                      <a16:colId xmlns:a16="http://schemas.microsoft.com/office/drawing/2014/main" val="494523869"/>
                    </a:ext>
                  </a:extLst>
                </a:gridCol>
                <a:gridCol w="1268873">
                  <a:extLst>
                    <a:ext uri="{9D8B030D-6E8A-4147-A177-3AD203B41FA5}">
                      <a16:colId xmlns:a16="http://schemas.microsoft.com/office/drawing/2014/main" val="1490619501"/>
                    </a:ext>
                  </a:extLst>
                </a:gridCol>
              </a:tblGrid>
              <a:tr h="392724">
                <a:tc>
                  <a:txBody>
                    <a:bodyPr/>
                    <a:lstStyle/>
                    <a:p>
                      <a:pPr algn="l" fontAlgn="b"/>
                      <a:r>
                        <a:rPr lang="en-US" sz="1100" b="1" i="0" u="none" strike="noStrike">
                          <a:solidFill>
                            <a:srgbClr val="000000"/>
                          </a:solidFill>
                          <a:effectLst/>
                          <a:latin typeface="Calibri" panose="020F0502020204030204" pitchFamily="34" charset="0"/>
                        </a:rPr>
                        <a:t>College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Calibri" panose="020F0502020204030204" pitchFamily="34" charset="0"/>
                        </a:rPr>
                        <a:t>No. of Requests 2022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6962831"/>
                  </a:ext>
                </a:extLst>
              </a:tr>
              <a:tr h="209453">
                <a:tc>
                  <a:txBody>
                    <a:bodyPr/>
                    <a:lstStyle/>
                    <a:p>
                      <a:pPr algn="l" fontAlgn="b"/>
                      <a:r>
                        <a:rPr lang="en-US" sz="1100" b="0" i="0" u="none" strike="noStrike">
                          <a:solidFill>
                            <a:srgbClr val="000000"/>
                          </a:solidFill>
                          <a:effectLst/>
                          <a:latin typeface="Calibri" panose="020F0502020204030204" pitchFamily="34" charset="0"/>
                        </a:rPr>
                        <a:t>CEC</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7241483"/>
                  </a:ext>
                </a:extLst>
              </a:tr>
              <a:tr h="209453">
                <a:tc>
                  <a:txBody>
                    <a:bodyPr/>
                    <a:lstStyle/>
                    <a:p>
                      <a:pPr algn="l" fontAlgn="b"/>
                      <a:r>
                        <a:rPr lang="en-US" sz="1100" b="0" i="0" u="none" strike="noStrike">
                          <a:solidFill>
                            <a:srgbClr val="000000"/>
                          </a:solidFill>
                          <a:effectLst/>
                          <a:latin typeface="Calibri" panose="020F0502020204030204" pitchFamily="34" charset="0"/>
                        </a:rPr>
                        <a:t>CHSS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1146062"/>
                  </a:ext>
                </a:extLst>
              </a:tr>
              <a:tr h="209453">
                <a:tc>
                  <a:txBody>
                    <a:bodyPr/>
                    <a:lstStyle/>
                    <a:p>
                      <a:pPr algn="l" fontAlgn="b"/>
                      <a:r>
                        <a:rPr lang="en-US" sz="1100" b="0" i="0" u="none" strike="noStrike">
                          <a:solidFill>
                            <a:srgbClr val="000000"/>
                          </a:solidFill>
                          <a:effectLst/>
                          <a:latin typeface="Calibri" panose="020F0502020204030204" pitchFamily="34" charset="0"/>
                        </a:rPr>
                        <a:t>COS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2346182"/>
                  </a:ext>
                </a:extLst>
              </a:tr>
              <a:tr h="209453">
                <a:tc>
                  <a:txBody>
                    <a:bodyPr/>
                    <a:lstStyle/>
                    <a:p>
                      <a:pPr algn="l" fontAlgn="b"/>
                      <a:r>
                        <a:rPr lang="en-US" sz="1100" b="0" i="0" u="none" strike="noStrike">
                          <a:solidFill>
                            <a:srgbClr val="000000"/>
                          </a:solidFill>
                          <a:effectLst/>
                          <a:latin typeface="Calibri" panose="020F0502020204030204" pitchFamily="34" charset="0"/>
                        </a:rPr>
                        <a:t>ORC</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5520888"/>
                  </a:ext>
                </a:extLst>
              </a:tr>
              <a:tr h="209453">
                <a:tc>
                  <a:txBody>
                    <a:bodyPr/>
                    <a:lstStyle/>
                    <a:p>
                      <a:pPr algn="l" fontAlgn="b"/>
                      <a:r>
                        <a:rPr lang="en-US" sz="1100" b="0" i="0" u="none" strike="noStrike">
                          <a:solidFill>
                            <a:srgbClr val="000000"/>
                          </a:solidFill>
                          <a:effectLst/>
                          <a:latin typeface="Calibri" panose="020F0502020204030204" pitchFamily="34" charset="0"/>
                        </a:rPr>
                        <a:t>SOM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4489161"/>
                  </a:ext>
                </a:extLst>
              </a:tr>
            </a:tbl>
          </a:graphicData>
        </a:graphic>
      </p:graphicFrame>
      <p:graphicFrame>
        <p:nvGraphicFramePr>
          <p:cNvPr id="8" name="Table 7">
            <a:extLst>
              <a:ext uri="{FF2B5EF4-FFF2-40B4-BE49-F238E27FC236}">
                <a16:creationId xmlns:a16="http://schemas.microsoft.com/office/drawing/2014/main" id="{FF17A484-140A-4CB8-A419-453B628B23BF}"/>
              </a:ext>
            </a:extLst>
          </p:cNvPr>
          <p:cNvGraphicFramePr>
            <a:graphicFrameLocks noGrp="1"/>
          </p:cNvGraphicFramePr>
          <p:nvPr>
            <p:extLst>
              <p:ext uri="{D42A27DB-BD31-4B8C-83A1-F6EECF244321}">
                <p14:modId xmlns:p14="http://schemas.microsoft.com/office/powerpoint/2010/main" val="1069983425"/>
              </p:ext>
            </p:extLst>
          </p:nvPr>
        </p:nvGraphicFramePr>
        <p:xfrm>
          <a:off x="9463437" y="3079862"/>
          <a:ext cx="1890363" cy="1463040"/>
        </p:xfrm>
        <a:graphic>
          <a:graphicData uri="http://schemas.openxmlformats.org/drawingml/2006/table">
            <a:tbl>
              <a:tblPr/>
              <a:tblGrid>
                <a:gridCol w="560108">
                  <a:extLst>
                    <a:ext uri="{9D8B030D-6E8A-4147-A177-3AD203B41FA5}">
                      <a16:colId xmlns:a16="http://schemas.microsoft.com/office/drawing/2014/main" val="1225248444"/>
                    </a:ext>
                  </a:extLst>
                </a:gridCol>
                <a:gridCol w="1330255">
                  <a:extLst>
                    <a:ext uri="{9D8B030D-6E8A-4147-A177-3AD203B41FA5}">
                      <a16:colId xmlns:a16="http://schemas.microsoft.com/office/drawing/2014/main" val="2309093601"/>
                    </a:ext>
                  </a:extLst>
                </a:gridCol>
              </a:tblGrid>
              <a:tr h="182880">
                <a:tc>
                  <a:txBody>
                    <a:bodyPr/>
                    <a:lstStyle/>
                    <a:p>
                      <a:pPr algn="l" fontAlgn="b"/>
                      <a:r>
                        <a:rPr lang="en-US" sz="1100" b="1" i="0" u="none" strike="noStrike">
                          <a:solidFill>
                            <a:srgbClr val="000000"/>
                          </a:solidFill>
                          <a:effectLst/>
                          <a:latin typeface="Calibri" panose="020F0502020204030204" pitchFamily="34" charset="0"/>
                        </a:rPr>
                        <a:t>College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Calibri" panose="020F0502020204030204" pitchFamily="34" charset="0"/>
                        </a:rPr>
                        <a:t>No. of Requests 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8528092"/>
                  </a:ext>
                </a:extLst>
              </a:tr>
              <a:tr h="182880">
                <a:tc>
                  <a:txBody>
                    <a:bodyPr/>
                    <a:lstStyle/>
                    <a:p>
                      <a:pPr algn="l" fontAlgn="b"/>
                      <a:r>
                        <a:rPr lang="en-US" sz="1100" b="0" i="0" u="none" strike="noStrike">
                          <a:solidFill>
                            <a:srgbClr val="000000"/>
                          </a:solidFill>
                          <a:effectLst/>
                          <a:latin typeface="Calibri" panose="020F0502020204030204" pitchFamily="34" charset="0"/>
                        </a:rPr>
                        <a:t>CEC</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2137850"/>
                  </a:ext>
                </a:extLst>
              </a:tr>
              <a:tr h="182880">
                <a:tc>
                  <a:txBody>
                    <a:bodyPr/>
                    <a:lstStyle/>
                    <a:p>
                      <a:pPr algn="l" fontAlgn="b"/>
                      <a:r>
                        <a:rPr lang="en-US" sz="1100" b="0" i="0" u="none" strike="noStrike">
                          <a:solidFill>
                            <a:srgbClr val="000000"/>
                          </a:solidFill>
                          <a:effectLst/>
                          <a:latin typeface="Calibri" panose="020F0502020204030204" pitchFamily="34" charset="0"/>
                        </a:rPr>
                        <a:t>CHHS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4904181"/>
                  </a:ext>
                </a:extLst>
              </a:tr>
              <a:tr h="182880">
                <a:tc>
                  <a:txBody>
                    <a:bodyPr/>
                    <a:lstStyle/>
                    <a:p>
                      <a:pPr algn="l" fontAlgn="b"/>
                      <a:r>
                        <a:rPr lang="en-US" sz="1100" b="0" i="0" u="none" strike="noStrike">
                          <a:solidFill>
                            <a:srgbClr val="000000"/>
                          </a:solidFill>
                          <a:effectLst/>
                          <a:latin typeface="Calibri" panose="020F0502020204030204" pitchFamily="34" charset="0"/>
                        </a:rPr>
                        <a:t>CHSS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4817841"/>
                  </a:ext>
                </a:extLst>
              </a:tr>
              <a:tr h="182880">
                <a:tc>
                  <a:txBody>
                    <a:bodyPr/>
                    <a:lstStyle/>
                    <a:p>
                      <a:pPr algn="l" fontAlgn="b"/>
                      <a:r>
                        <a:rPr lang="en-US" sz="1100" b="0" i="0" u="none" strike="noStrike">
                          <a:solidFill>
                            <a:srgbClr val="000000"/>
                          </a:solidFill>
                          <a:effectLst/>
                          <a:latin typeface="Calibri" panose="020F0502020204030204" pitchFamily="34" charset="0"/>
                        </a:rPr>
                        <a:t>COS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6425616"/>
                  </a:ext>
                </a:extLst>
              </a:tr>
              <a:tr h="182880">
                <a:tc>
                  <a:txBody>
                    <a:bodyPr/>
                    <a:lstStyle/>
                    <a:p>
                      <a:pPr algn="l" fontAlgn="b"/>
                      <a:r>
                        <a:rPr lang="en-US" sz="1100" b="0" i="0" u="none" strike="noStrike">
                          <a:solidFill>
                            <a:srgbClr val="000000"/>
                          </a:solidFill>
                          <a:effectLst/>
                          <a:latin typeface="Calibri" panose="020F0502020204030204" pitchFamily="34" charset="0"/>
                        </a:rPr>
                        <a:t>SCHAR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449051"/>
                  </a:ext>
                </a:extLst>
              </a:tr>
              <a:tr h="182880">
                <a:tc>
                  <a:txBody>
                    <a:bodyPr/>
                    <a:lstStyle/>
                    <a:p>
                      <a:pPr algn="l" fontAlgn="b"/>
                      <a:r>
                        <a:rPr lang="en-US" sz="1100" b="0" i="0" u="none" strike="noStrike">
                          <a:solidFill>
                            <a:srgbClr val="000000"/>
                          </a:solidFill>
                          <a:effectLst/>
                          <a:latin typeface="Calibri" panose="020F0502020204030204" pitchFamily="34" charset="0"/>
                        </a:rPr>
                        <a:t>SMSC</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0638387"/>
                  </a:ext>
                </a:extLst>
              </a:tr>
              <a:tr h="182880">
                <a:tc>
                  <a:txBody>
                    <a:bodyPr/>
                    <a:lstStyle/>
                    <a:p>
                      <a:pPr algn="l" fontAlgn="b"/>
                      <a:r>
                        <a:rPr lang="en-US" sz="1100" b="0" i="0" u="none" strike="noStrike">
                          <a:solidFill>
                            <a:srgbClr val="000000"/>
                          </a:solidFill>
                          <a:effectLst/>
                          <a:latin typeface="Calibri" panose="020F0502020204030204" pitchFamily="34" charset="0"/>
                        </a:rPr>
                        <a:t>SOM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11882179"/>
                  </a:ext>
                </a:extLst>
              </a:tr>
            </a:tbl>
          </a:graphicData>
        </a:graphic>
      </p:graphicFrame>
      <p:graphicFrame>
        <p:nvGraphicFramePr>
          <p:cNvPr id="9" name="Table 8">
            <a:extLst>
              <a:ext uri="{FF2B5EF4-FFF2-40B4-BE49-F238E27FC236}">
                <a16:creationId xmlns:a16="http://schemas.microsoft.com/office/drawing/2014/main" id="{531DD6AF-F17F-44D2-8A72-14A1E8DF5E8C}"/>
              </a:ext>
            </a:extLst>
          </p:cNvPr>
          <p:cNvGraphicFramePr>
            <a:graphicFrameLocks noGrp="1"/>
          </p:cNvGraphicFramePr>
          <p:nvPr>
            <p:extLst>
              <p:ext uri="{D42A27DB-BD31-4B8C-83A1-F6EECF244321}">
                <p14:modId xmlns:p14="http://schemas.microsoft.com/office/powerpoint/2010/main" val="1181765556"/>
              </p:ext>
            </p:extLst>
          </p:nvPr>
        </p:nvGraphicFramePr>
        <p:xfrm>
          <a:off x="9463436" y="2364859"/>
          <a:ext cx="1892300" cy="548640"/>
        </p:xfrm>
        <a:graphic>
          <a:graphicData uri="http://schemas.openxmlformats.org/drawingml/2006/table">
            <a:tbl>
              <a:tblPr/>
              <a:tblGrid>
                <a:gridCol w="609600">
                  <a:extLst>
                    <a:ext uri="{9D8B030D-6E8A-4147-A177-3AD203B41FA5}">
                      <a16:colId xmlns:a16="http://schemas.microsoft.com/office/drawing/2014/main" val="2001782363"/>
                    </a:ext>
                  </a:extLst>
                </a:gridCol>
                <a:gridCol w="1282700">
                  <a:extLst>
                    <a:ext uri="{9D8B030D-6E8A-4147-A177-3AD203B41FA5}">
                      <a16:colId xmlns:a16="http://schemas.microsoft.com/office/drawing/2014/main" val="2123442005"/>
                    </a:ext>
                  </a:extLst>
                </a:gridCol>
              </a:tblGrid>
              <a:tr h="182880">
                <a:tc>
                  <a:txBody>
                    <a:bodyPr/>
                    <a:lstStyle/>
                    <a:p>
                      <a:pPr algn="l" fontAlgn="b"/>
                      <a:r>
                        <a:rPr lang="en-US" sz="1100" b="1" i="0" u="none" strike="noStrike">
                          <a:solidFill>
                            <a:srgbClr val="000000"/>
                          </a:solidFill>
                          <a:effectLst/>
                          <a:latin typeface="Calibri" panose="020F0502020204030204" pitchFamily="34" charset="0"/>
                        </a:rPr>
                        <a:t>College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Calibri" panose="020F0502020204030204" pitchFamily="34" charset="0"/>
                        </a:rPr>
                        <a:t>No. of Requests 2020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141031"/>
                  </a:ext>
                </a:extLst>
              </a:tr>
              <a:tr h="182880">
                <a:tc>
                  <a:txBody>
                    <a:bodyPr/>
                    <a:lstStyle/>
                    <a:p>
                      <a:pPr algn="l" fontAlgn="b"/>
                      <a:r>
                        <a:rPr lang="en-US" sz="1100" b="0" i="0" u="none" strike="noStrike">
                          <a:solidFill>
                            <a:srgbClr val="000000"/>
                          </a:solidFill>
                          <a:effectLst/>
                          <a:latin typeface="Calibri" panose="020F0502020204030204" pitchFamily="34" charset="0"/>
                        </a:rPr>
                        <a:t>CEC</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7397984"/>
                  </a:ext>
                </a:extLst>
              </a:tr>
              <a:tr h="182880">
                <a:tc>
                  <a:txBody>
                    <a:bodyPr/>
                    <a:lstStyle/>
                    <a:p>
                      <a:pPr algn="l" fontAlgn="b"/>
                      <a:r>
                        <a:rPr lang="en-US" sz="1100" b="0" i="0" u="none" strike="noStrike">
                          <a:solidFill>
                            <a:srgbClr val="000000"/>
                          </a:solidFill>
                          <a:effectLst/>
                          <a:latin typeface="Calibri" panose="020F0502020204030204" pitchFamily="34" charset="0"/>
                        </a:rPr>
                        <a:t>COS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6107387"/>
                  </a:ext>
                </a:extLst>
              </a:tr>
            </a:tbl>
          </a:graphicData>
        </a:graphic>
      </p:graphicFrame>
      <p:sp>
        <p:nvSpPr>
          <p:cNvPr id="10" name="TextBox 9">
            <a:extLst>
              <a:ext uri="{FF2B5EF4-FFF2-40B4-BE49-F238E27FC236}">
                <a16:creationId xmlns:a16="http://schemas.microsoft.com/office/drawing/2014/main" id="{8E213825-222E-4474-8A90-29B4D6E97A4C}"/>
              </a:ext>
            </a:extLst>
          </p:cNvPr>
          <p:cNvSpPr txBox="1"/>
          <p:nvPr/>
        </p:nvSpPr>
        <p:spPr>
          <a:xfrm>
            <a:off x="6277057" y="1608110"/>
            <a:ext cx="2427789" cy="738664"/>
          </a:xfrm>
          <a:prstGeom prst="rect">
            <a:avLst/>
          </a:prstGeom>
          <a:noFill/>
        </p:spPr>
        <p:txBody>
          <a:bodyPr wrap="square" rtlCol="0">
            <a:spAutoFit/>
          </a:bodyPr>
          <a:lstStyle/>
          <a:p>
            <a:r>
              <a:rPr lang="en-US" sz="1400"/>
              <a:t>Total account requests from faculty for cluster accounts for every month</a:t>
            </a:r>
          </a:p>
        </p:txBody>
      </p:sp>
      <p:sp>
        <p:nvSpPr>
          <p:cNvPr id="11" name="TextBox 10">
            <a:extLst>
              <a:ext uri="{FF2B5EF4-FFF2-40B4-BE49-F238E27FC236}">
                <a16:creationId xmlns:a16="http://schemas.microsoft.com/office/drawing/2014/main" id="{7FCB236B-74EB-4B71-83F9-E3BCE691B90E}"/>
              </a:ext>
            </a:extLst>
          </p:cNvPr>
          <p:cNvSpPr txBox="1"/>
          <p:nvPr/>
        </p:nvSpPr>
        <p:spPr>
          <a:xfrm>
            <a:off x="9352846" y="1759015"/>
            <a:ext cx="2335832" cy="523220"/>
          </a:xfrm>
          <a:prstGeom prst="rect">
            <a:avLst/>
          </a:prstGeom>
          <a:noFill/>
        </p:spPr>
        <p:txBody>
          <a:bodyPr wrap="square" rtlCol="0">
            <a:spAutoFit/>
          </a:bodyPr>
          <a:lstStyle/>
          <a:p>
            <a:r>
              <a:rPr lang="en-US" sz="1400"/>
              <a:t>Total account requests from faculty by School/College</a:t>
            </a:r>
          </a:p>
        </p:txBody>
      </p:sp>
    </p:spTree>
    <p:extLst>
      <p:ext uri="{BB962C8B-B14F-4D97-AF65-F5344CB8AC3E}">
        <p14:creationId xmlns:p14="http://schemas.microsoft.com/office/powerpoint/2010/main" val="568153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234D-7778-4002-A248-069BC64B07E2}"/>
              </a:ext>
            </a:extLst>
          </p:cNvPr>
          <p:cNvSpPr>
            <a:spLocks noGrp="1"/>
          </p:cNvSpPr>
          <p:nvPr>
            <p:ph type="title"/>
          </p:nvPr>
        </p:nvSpPr>
        <p:spPr/>
        <p:txBody>
          <a:bodyPr/>
          <a:lstStyle/>
          <a:p>
            <a:r>
              <a:rPr lang="en-US"/>
              <a:t>Cluster Accounts Requested by Students Each month 2019 - 2022</a:t>
            </a:r>
          </a:p>
        </p:txBody>
      </p:sp>
      <p:pic>
        <p:nvPicPr>
          <p:cNvPr id="5" name="Content Placeholder 4">
            <a:extLst>
              <a:ext uri="{FF2B5EF4-FFF2-40B4-BE49-F238E27FC236}">
                <a16:creationId xmlns:a16="http://schemas.microsoft.com/office/drawing/2014/main" id="{E5D7106D-0915-4CCD-854F-DB45BCC40E6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547985"/>
            <a:ext cx="8241483" cy="4944890"/>
          </a:xfrm>
        </p:spPr>
      </p:pic>
      <p:graphicFrame>
        <p:nvGraphicFramePr>
          <p:cNvPr id="6" name="Table 5">
            <a:extLst>
              <a:ext uri="{FF2B5EF4-FFF2-40B4-BE49-F238E27FC236}">
                <a16:creationId xmlns:a16="http://schemas.microsoft.com/office/drawing/2014/main" id="{8B42A08F-EED1-4BFA-8412-616A01A6FEB5}"/>
              </a:ext>
            </a:extLst>
          </p:cNvPr>
          <p:cNvGraphicFramePr>
            <a:graphicFrameLocks noGrp="1"/>
          </p:cNvGraphicFramePr>
          <p:nvPr>
            <p:extLst>
              <p:ext uri="{D42A27DB-BD31-4B8C-83A1-F6EECF244321}">
                <p14:modId xmlns:p14="http://schemas.microsoft.com/office/powerpoint/2010/main" val="2900561070"/>
              </p:ext>
            </p:extLst>
          </p:nvPr>
        </p:nvGraphicFramePr>
        <p:xfrm>
          <a:off x="8241483" y="2205831"/>
          <a:ext cx="3260124" cy="3771900"/>
        </p:xfrm>
        <a:graphic>
          <a:graphicData uri="http://schemas.openxmlformats.org/drawingml/2006/table">
            <a:tbl>
              <a:tblPr/>
              <a:tblGrid>
                <a:gridCol w="776220">
                  <a:extLst>
                    <a:ext uri="{9D8B030D-6E8A-4147-A177-3AD203B41FA5}">
                      <a16:colId xmlns:a16="http://schemas.microsoft.com/office/drawing/2014/main" val="2344955365"/>
                    </a:ext>
                  </a:extLst>
                </a:gridCol>
                <a:gridCol w="620976">
                  <a:extLst>
                    <a:ext uri="{9D8B030D-6E8A-4147-A177-3AD203B41FA5}">
                      <a16:colId xmlns:a16="http://schemas.microsoft.com/office/drawing/2014/main" val="1143859901"/>
                    </a:ext>
                  </a:extLst>
                </a:gridCol>
                <a:gridCol w="620976">
                  <a:extLst>
                    <a:ext uri="{9D8B030D-6E8A-4147-A177-3AD203B41FA5}">
                      <a16:colId xmlns:a16="http://schemas.microsoft.com/office/drawing/2014/main" val="663831559"/>
                    </a:ext>
                  </a:extLst>
                </a:gridCol>
                <a:gridCol w="620976">
                  <a:extLst>
                    <a:ext uri="{9D8B030D-6E8A-4147-A177-3AD203B41FA5}">
                      <a16:colId xmlns:a16="http://schemas.microsoft.com/office/drawing/2014/main" val="3973990956"/>
                    </a:ext>
                  </a:extLst>
                </a:gridCol>
                <a:gridCol w="620976">
                  <a:extLst>
                    <a:ext uri="{9D8B030D-6E8A-4147-A177-3AD203B41FA5}">
                      <a16:colId xmlns:a16="http://schemas.microsoft.com/office/drawing/2014/main" val="2441832972"/>
                    </a:ext>
                  </a:extLst>
                </a:gridCol>
              </a:tblGrid>
              <a:tr h="227517">
                <a:tc>
                  <a:txBody>
                    <a:bodyPr/>
                    <a:lstStyle/>
                    <a:p>
                      <a:pPr algn="l" fontAlgn="b"/>
                      <a:r>
                        <a:rPr lang="en-US" sz="16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4">
                  <a:txBody>
                    <a:bodyPr/>
                    <a:lstStyle/>
                    <a:p>
                      <a:pPr algn="ctr" fontAlgn="b"/>
                      <a:r>
                        <a:rPr lang="en-US" sz="1600" b="1" i="0" u="none" strike="noStrike">
                          <a:solidFill>
                            <a:srgbClr val="000000"/>
                          </a:solidFill>
                          <a:effectLst/>
                          <a:latin typeface="Calibri" panose="020F0502020204030204" pitchFamily="34" charset="0"/>
                        </a:rPr>
                        <a:t>Year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00574615"/>
                  </a:ext>
                </a:extLst>
              </a:tr>
              <a:tr h="227517">
                <a:tc>
                  <a:txBody>
                    <a:bodyPr/>
                    <a:lstStyle/>
                    <a:p>
                      <a:pPr algn="l" fontAlgn="b"/>
                      <a:r>
                        <a:rPr lang="en-US" sz="1600" b="1" i="0" u="none" strike="noStrike">
                          <a:solidFill>
                            <a:srgbClr val="000000"/>
                          </a:solidFill>
                          <a:effectLst/>
                          <a:latin typeface="Calibri" panose="020F0502020204030204" pitchFamily="34" charset="0"/>
                        </a:rPr>
                        <a:t>Month</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1" i="0" u="none" strike="noStrike">
                          <a:solidFill>
                            <a:srgbClr val="000000"/>
                          </a:solidFill>
                          <a:effectLst/>
                          <a:latin typeface="Calibri" panose="020F0502020204030204" pitchFamily="34" charset="0"/>
                        </a:rPr>
                        <a:t>2019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1" i="0" u="none" strike="noStrike">
                          <a:solidFill>
                            <a:srgbClr val="000000"/>
                          </a:solidFill>
                          <a:effectLst/>
                          <a:latin typeface="Calibri" panose="020F0502020204030204" pitchFamily="34" charset="0"/>
                        </a:rPr>
                        <a:t>2020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1" i="0" u="none" strike="noStrike">
                          <a:solidFill>
                            <a:srgbClr val="000000"/>
                          </a:solidFill>
                          <a:effectLst/>
                          <a:latin typeface="Calibri" panose="020F0502020204030204" pitchFamily="34" charset="0"/>
                        </a:rPr>
                        <a:t>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1" i="0" u="none" strike="noStrike">
                          <a:solidFill>
                            <a:srgbClr val="000000"/>
                          </a:solidFill>
                          <a:effectLst/>
                          <a:latin typeface="Calibri" panose="020F0502020204030204" pitchFamily="34" charset="0"/>
                        </a:rPr>
                        <a:t>2022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70797846"/>
                  </a:ext>
                </a:extLst>
              </a:tr>
              <a:tr h="227517">
                <a:tc>
                  <a:txBody>
                    <a:bodyPr/>
                    <a:lstStyle/>
                    <a:p>
                      <a:pPr algn="r" fontAlgn="b"/>
                      <a:r>
                        <a:rPr lang="en-US" sz="16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5552285"/>
                  </a:ext>
                </a:extLst>
              </a:tr>
              <a:tr h="227517">
                <a:tc>
                  <a:txBody>
                    <a:bodyPr/>
                    <a:lstStyle/>
                    <a:p>
                      <a:pPr algn="r" fontAlgn="b"/>
                      <a:r>
                        <a:rPr lang="en-US" sz="16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48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5334332"/>
                  </a:ext>
                </a:extLst>
              </a:tr>
              <a:tr h="227517">
                <a:tc>
                  <a:txBody>
                    <a:bodyPr/>
                    <a:lstStyle/>
                    <a:p>
                      <a:pPr algn="r" fontAlgn="b"/>
                      <a:r>
                        <a:rPr lang="en-US" sz="1600" b="0" i="0" u="none" strike="noStrike">
                          <a:solidFill>
                            <a:srgbClr val="000000"/>
                          </a:solidFill>
                          <a:effectLst/>
                          <a:latin typeface="Calibri" panose="020F0502020204030204" pitchFamily="34" charset="0"/>
                        </a:rPr>
                        <a:t>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8572855"/>
                  </a:ext>
                </a:extLst>
              </a:tr>
              <a:tr h="227517">
                <a:tc>
                  <a:txBody>
                    <a:bodyPr/>
                    <a:lstStyle/>
                    <a:p>
                      <a:pPr algn="r" fontAlgn="b"/>
                      <a:r>
                        <a:rPr lang="en-US" sz="16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7945025"/>
                  </a:ext>
                </a:extLst>
              </a:tr>
              <a:tr h="227517">
                <a:tc>
                  <a:txBody>
                    <a:bodyPr/>
                    <a:lstStyle/>
                    <a:p>
                      <a:pPr algn="r" fontAlgn="b"/>
                      <a:r>
                        <a:rPr lang="en-US" sz="1600" b="0" i="0" u="none" strike="noStrike">
                          <a:solidFill>
                            <a:srgbClr val="000000"/>
                          </a:solidFill>
                          <a:effectLst/>
                          <a:latin typeface="Calibri" panose="020F0502020204030204" pitchFamily="34" charset="0"/>
                        </a:rPr>
                        <a:t>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8166210"/>
                  </a:ext>
                </a:extLst>
              </a:tr>
              <a:tr h="227517">
                <a:tc>
                  <a:txBody>
                    <a:bodyPr/>
                    <a:lstStyle/>
                    <a:p>
                      <a:pPr algn="r" fontAlgn="b"/>
                      <a:r>
                        <a:rPr lang="en-US" sz="1600" b="0" i="0" u="none" strike="noStrike">
                          <a:solidFill>
                            <a:srgbClr val="000000"/>
                          </a:solidFill>
                          <a:effectLst/>
                          <a:latin typeface="Calibri" panose="020F0502020204030204" pitchFamily="34" charset="0"/>
                        </a:rPr>
                        <a:t>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30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5445135"/>
                  </a:ext>
                </a:extLst>
              </a:tr>
              <a:tr h="227517">
                <a:tc>
                  <a:txBody>
                    <a:bodyPr/>
                    <a:lstStyle/>
                    <a:p>
                      <a:pPr algn="r" fontAlgn="b"/>
                      <a:r>
                        <a:rPr lang="en-US" sz="1600" b="0" i="0" u="none" strike="noStrike">
                          <a:solidFill>
                            <a:srgbClr val="000000"/>
                          </a:solidFill>
                          <a:effectLst/>
                          <a:latin typeface="Calibri" panose="020F0502020204030204" pitchFamily="34" charset="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868807"/>
                  </a:ext>
                </a:extLst>
              </a:tr>
              <a:tr h="227517">
                <a:tc>
                  <a:txBody>
                    <a:bodyPr/>
                    <a:lstStyle/>
                    <a:p>
                      <a:pPr algn="r" fontAlgn="b"/>
                      <a:r>
                        <a:rPr lang="en-US" sz="1600" b="0" i="0" u="none" strike="noStrike">
                          <a:solidFill>
                            <a:srgbClr val="000000"/>
                          </a:solidFill>
                          <a:effectLst/>
                          <a:latin typeface="Calibri" panose="020F0502020204030204" pitchFamily="34" charset="0"/>
                        </a:rPr>
                        <a:t>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35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47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9800449"/>
                  </a:ext>
                </a:extLst>
              </a:tr>
              <a:tr h="227517">
                <a:tc>
                  <a:txBody>
                    <a:bodyPr/>
                    <a:lstStyle/>
                    <a:p>
                      <a:pPr algn="r" fontAlgn="b"/>
                      <a:r>
                        <a:rPr lang="en-US" sz="1600" b="0" i="0" u="none" strike="noStrike">
                          <a:solidFill>
                            <a:srgbClr val="000000"/>
                          </a:solidFill>
                          <a:effectLst/>
                          <a:latin typeface="Calibri" panose="020F0502020204030204" pitchFamily="34" charset="0"/>
                        </a:rPr>
                        <a:t>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84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3646425"/>
                  </a:ext>
                </a:extLst>
              </a:tr>
              <a:tr h="227517">
                <a:tc>
                  <a:txBody>
                    <a:bodyPr/>
                    <a:lstStyle/>
                    <a:p>
                      <a:pPr algn="r" fontAlgn="b"/>
                      <a:r>
                        <a:rPr lang="en-US" sz="1600" b="0" i="0" u="none" strike="noStrike">
                          <a:solidFill>
                            <a:srgbClr val="000000"/>
                          </a:solidFill>
                          <a:effectLst/>
                          <a:latin typeface="Calibri" panose="020F0502020204030204" pitchFamily="34" charset="0"/>
                        </a:rPr>
                        <a:t>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43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3263749"/>
                  </a:ext>
                </a:extLst>
              </a:tr>
              <a:tr h="227517">
                <a:tc>
                  <a:txBody>
                    <a:bodyPr/>
                    <a:lstStyle/>
                    <a:p>
                      <a:pPr algn="r" fontAlgn="b"/>
                      <a:r>
                        <a:rPr lang="en-US" sz="1600" b="0" i="0" u="none" strike="noStrike">
                          <a:solidFill>
                            <a:srgbClr val="000000"/>
                          </a:solidFill>
                          <a:effectLst/>
                          <a:latin typeface="Calibri" panose="020F0502020204030204" pitchFamily="34" charset="0"/>
                        </a:rPr>
                        <a:t>11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55962100"/>
                  </a:ext>
                </a:extLst>
              </a:tr>
              <a:tr h="227517">
                <a:tc>
                  <a:txBody>
                    <a:bodyPr/>
                    <a:lstStyle/>
                    <a:p>
                      <a:pPr algn="r" fontAlgn="b"/>
                      <a:r>
                        <a:rPr lang="en-US" sz="1600" b="0" i="0" u="none" strike="noStrike">
                          <a:solidFill>
                            <a:srgbClr val="000000"/>
                          </a:solidFill>
                          <a:effectLst/>
                          <a:latin typeface="Calibri" panose="020F0502020204030204" pitchFamily="34" charset="0"/>
                        </a:rPr>
                        <a:t>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88593370"/>
                  </a:ext>
                </a:extLst>
              </a:tr>
              <a:tr h="227517">
                <a:tc>
                  <a:txBody>
                    <a:bodyPr/>
                    <a:lstStyle/>
                    <a:p>
                      <a:pPr algn="l" fontAlgn="b"/>
                      <a:r>
                        <a:rPr lang="en-US" sz="1600" b="1" i="0" u="none" strike="noStrike">
                          <a:solidFill>
                            <a:srgbClr val="000000"/>
                          </a:solidFill>
                          <a:effectLst/>
                          <a:latin typeface="Calibri" panose="020F0502020204030204" pitchFamily="34" charset="0"/>
                        </a:rPr>
                        <a:t>Total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1" i="0" u="none" strike="noStrike">
                          <a:solidFill>
                            <a:srgbClr val="000000"/>
                          </a:solidFill>
                          <a:effectLst/>
                          <a:latin typeface="Calibri" panose="020F0502020204030204" pitchFamily="34" charset="0"/>
                        </a:rPr>
                        <a:t>136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1" i="0" u="none" strike="noStrike">
                          <a:solidFill>
                            <a:srgbClr val="000000"/>
                          </a:solidFill>
                          <a:effectLst/>
                          <a:latin typeface="Calibri" panose="020F0502020204030204" pitchFamily="34" charset="0"/>
                        </a:rPr>
                        <a:t>152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1" i="0" u="none" strike="noStrike">
                          <a:solidFill>
                            <a:srgbClr val="000000"/>
                          </a:solidFill>
                          <a:effectLst/>
                          <a:latin typeface="Calibri" panose="020F0502020204030204" pitchFamily="34" charset="0"/>
                        </a:rPr>
                        <a:t>206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1" i="0" u="none" strike="noStrike">
                          <a:solidFill>
                            <a:srgbClr val="000000"/>
                          </a:solidFill>
                          <a:effectLst/>
                          <a:latin typeface="Calibri" panose="020F0502020204030204" pitchFamily="34" charset="0"/>
                        </a:rPr>
                        <a:t>383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7979110"/>
                  </a:ext>
                </a:extLst>
              </a:tr>
            </a:tbl>
          </a:graphicData>
        </a:graphic>
      </p:graphicFrame>
    </p:spTree>
    <p:extLst>
      <p:ext uri="{BB962C8B-B14F-4D97-AF65-F5344CB8AC3E}">
        <p14:creationId xmlns:p14="http://schemas.microsoft.com/office/powerpoint/2010/main" val="898695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0255D-DC3C-4F3C-B503-00886947C9DA}"/>
              </a:ext>
            </a:extLst>
          </p:cNvPr>
          <p:cNvSpPr>
            <a:spLocks noGrp="1"/>
          </p:cNvSpPr>
          <p:nvPr>
            <p:ph type="title"/>
          </p:nvPr>
        </p:nvSpPr>
        <p:spPr/>
        <p:txBody>
          <a:bodyPr/>
          <a:lstStyle/>
          <a:p>
            <a:r>
              <a:rPr lang="en-US"/>
              <a:t>Cluster Accounts Requested by Students arranged by School/College 2019 – 2022</a:t>
            </a:r>
          </a:p>
        </p:txBody>
      </p:sp>
      <p:graphicFrame>
        <p:nvGraphicFramePr>
          <p:cNvPr id="4" name="Table 3">
            <a:extLst>
              <a:ext uri="{FF2B5EF4-FFF2-40B4-BE49-F238E27FC236}">
                <a16:creationId xmlns:a16="http://schemas.microsoft.com/office/drawing/2014/main" id="{173566C8-3749-46FB-9A94-CCD305DE3B3B}"/>
              </a:ext>
            </a:extLst>
          </p:cNvPr>
          <p:cNvGraphicFramePr>
            <a:graphicFrameLocks noGrp="1"/>
          </p:cNvGraphicFramePr>
          <p:nvPr>
            <p:extLst>
              <p:ext uri="{D42A27DB-BD31-4B8C-83A1-F6EECF244321}">
                <p14:modId xmlns:p14="http://schemas.microsoft.com/office/powerpoint/2010/main" val="278455562"/>
              </p:ext>
            </p:extLst>
          </p:nvPr>
        </p:nvGraphicFramePr>
        <p:xfrm>
          <a:off x="1394254" y="2423160"/>
          <a:ext cx="3091249" cy="1005840"/>
        </p:xfrm>
        <a:graphic>
          <a:graphicData uri="http://schemas.openxmlformats.org/drawingml/2006/table">
            <a:tbl>
              <a:tblPr/>
              <a:tblGrid>
                <a:gridCol w="939114">
                  <a:extLst>
                    <a:ext uri="{9D8B030D-6E8A-4147-A177-3AD203B41FA5}">
                      <a16:colId xmlns:a16="http://schemas.microsoft.com/office/drawing/2014/main" val="2536247540"/>
                    </a:ext>
                  </a:extLst>
                </a:gridCol>
                <a:gridCol w="2152135">
                  <a:extLst>
                    <a:ext uri="{9D8B030D-6E8A-4147-A177-3AD203B41FA5}">
                      <a16:colId xmlns:a16="http://schemas.microsoft.com/office/drawing/2014/main" val="1623601286"/>
                    </a:ext>
                  </a:extLst>
                </a:gridCol>
              </a:tblGrid>
              <a:tr h="182880">
                <a:tc>
                  <a:txBody>
                    <a:bodyPr/>
                    <a:lstStyle/>
                    <a:p>
                      <a:pPr algn="l" fontAlgn="b"/>
                      <a:r>
                        <a:rPr lang="en-US" sz="1600" b="1" i="0" u="none" strike="noStrike">
                          <a:solidFill>
                            <a:srgbClr val="000000"/>
                          </a:solidFill>
                          <a:effectLst/>
                          <a:latin typeface="Calibri" panose="020F0502020204030204" pitchFamily="34" charset="0"/>
                        </a:rPr>
                        <a:t>College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1" i="0" u="none" strike="noStrike">
                          <a:solidFill>
                            <a:srgbClr val="000000"/>
                          </a:solidFill>
                          <a:effectLst/>
                          <a:latin typeface="Calibri" panose="020F0502020204030204" pitchFamily="34" charset="0"/>
                        </a:rPr>
                        <a:t>No. of Requests 2019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1087132"/>
                  </a:ext>
                </a:extLst>
              </a:tr>
              <a:tr h="182880">
                <a:tc>
                  <a:txBody>
                    <a:bodyPr/>
                    <a:lstStyle/>
                    <a:p>
                      <a:pPr algn="l" fontAlgn="b"/>
                      <a:r>
                        <a:rPr lang="en-US" sz="1600" b="0" i="0" u="none" strike="noStrike">
                          <a:solidFill>
                            <a:srgbClr val="000000"/>
                          </a:solidFill>
                          <a:effectLst/>
                          <a:latin typeface="Calibri" panose="020F0502020204030204" pitchFamily="34" charset="0"/>
                        </a:rPr>
                        <a:t>CEC</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104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561440"/>
                  </a:ext>
                </a:extLst>
              </a:tr>
              <a:tr h="182880">
                <a:tc>
                  <a:txBody>
                    <a:bodyPr/>
                    <a:lstStyle/>
                    <a:p>
                      <a:pPr algn="l" fontAlgn="b"/>
                      <a:r>
                        <a:rPr lang="en-US" sz="1600" b="0" i="0" u="none" strike="noStrike">
                          <a:solidFill>
                            <a:srgbClr val="000000"/>
                          </a:solidFill>
                          <a:effectLst/>
                          <a:latin typeface="Calibri" panose="020F0502020204030204" pitchFamily="34" charset="0"/>
                        </a:rPr>
                        <a:t>CHSS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8246972"/>
                  </a:ext>
                </a:extLst>
              </a:tr>
              <a:tr h="182880">
                <a:tc>
                  <a:txBody>
                    <a:bodyPr/>
                    <a:lstStyle/>
                    <a:p>
                      <a:pPr algn="l" fontAlgn="b"/>
                      <a:r>
                        <a:rPr lang="en-US" sz="1600" b="0" i="0" u="none" strike="noStrike">
                          <a:solidFill>
                            <a:srgbClr val="000000"/>
                          </a:solidFill>
                          <a:effectLst/>
                          <a:latin typeface="Calibri" panose="020F0502020204030204" pitchFamily="34" charset="0"/>
                        </a:rPr>
                        <a:t>COS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0421336"/>
                  </a:ext>
                </a:extLst>
              </a:tr>
            </a:tbl>
          </a:graphicData>
        </a:graphic>
      </p:graphicFrame>
      <p:graphicFrame>
        <p:nvGraphicFramePr>
          <p:cNvPr id="5" name="Table 4">
            <a:extLst>
              <a:ext uri="{FF2B5EF4-FFF2-40B4-BE49-F238E27FC236}">
                <a16:creationId xmlns:a16="http://schemas.microsoft.com/office/drawing/2014/main" id="{B44313D2-9456-4E22-8BBE-FB89F6A2D111}"/>
              </a:ext>
            </a:extLst>
          </p:cNvPr>
          <p:cNvGraphicFramePr>
            <a:graphicFrameLocks noGrp="1"/>
          </p:cNvGraphicFramePr>
          <p:nvPr>
            <p:extLst>
              <p:ext uri="{D42A27DB-BD31-4B8C-83A1-F6EECF244321}">
                <p14:modId xmlns:p14="http://schemas.microsoft.com/office/powerpoint/2010/main" val="1323159907"/>
              </p:ext>
            </p:extLst>
          </p:nvPr>
        </p:nvGraphicFramePr>
        <p:xfrm>
          <a:off x="6435811" y="2460945"/>
          <a:ext cx="3177746" cy="1257300"/>
        </p:xfrm>
        <a:graphic>
          <a:graphicData uri="http://schemas.openxmlformats.org/drawingml/2006/table">
            <a:tbl>
              <a:tblPr/>
              <a:tblGrid>
                <a:gridCol w="881687">
                  <a:extLst>
                    <a:ext uri="{9D8B030D-6E8A-4147-A177-3AD203B41FA5}">
                      <a16:colId xmlns:a16="http://schemas.microsoft.com/office/drawing/2014/main" val="2153042298"/>
                    </a:ext>
                  </a:extLst>
                </a:gridCol>
                <a:gridCol w="2296059">
                  <a:extLst>
                    <a:ext uri="{9D8B030D-6E8A-4147-A177-3AD203B41FA5}">
                      <a16:colId xmlns:a16="http://schemas.microsoft.com/office/drawing/2014/main" val="1306688533"/>
                    </a:ext>
                  </a:extLst>
                </a:gridCol>
              </a:tblGrid>
              <a:tr h="182880">
                <a:tc>
                  <a:txBody>
                    <a:bodyPr/>
                    <a:lstStyle/>
                    <a:p>
                      <a:pPr algn="l" fontAlgn="b"/>
                      <a:r>
                        <a:rPr lang="en-US" sz="1600" b="1" i="0" u="none" strike="noStrike">
                          <a:solidFill>
                            <a:srgbClr val="000000"/>
                          </a:solidFill>
                          <a:effectLst/>
                          <a:latin typeface="Calibri" panose="020F0502020204030204" pitchFamily="34" charset="0"/>
                        </a:rPr>
                        <a:t>College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1" i="0" u="none" strike="noStrike">
                          <a:solidFill>
                            <a:srgbClr val="000000"/>
                          </a:solidFill>
                          <a:effectLst/>
                          <a:latin typeface="Calibri" panose="020F0502020204030204" pitchFamily="34" charset="0"/>
                        </a:rPr>
                        <a:t>No. of Requests 2020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7608191"/>
                  </a:ext>
                </a:extLst>
              </a:tr>
              <a:tr h="182880">
                <a:tc>
                  <a:txBody>
                    <a:bodyPr/>
                    <a:lstStyle/>
                    <a:p>
                      <a:pPr algn="l" fontAlgn="b"/>
                      <a:r>
                        <a:rPr lang="en-US" sz="1600" b="0" i="0" u="none" strike="noStrike">
                          <a:solidFill>
                            <a:srgbClr val="000000"/>
                          </a:solidFill>
                          <a:effectLst/>
                          <a:latin typeface="Calibri" panose="020F0502020204030204" pitchFamily="34" charset="0"/>
                        </a:rPr>
                        <a:t>CEC</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98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8707297"/>
                  </a:ext>
                </a:extLst>
              </a:tr>
              <a:tr h="182880">
                <a:tc>
                  <a:txBody>
                    <a:bodyPr/>
                    <a:lstStyle/>
                    <a:p>
                      <a:pPr algn="l" fontAlgn="b"/>
                      <a:r>
                        <a:rPr lang="en-US" sz="1600" b="0" i="0" u="none" strike="noStrike">
                          <a:solidFill>
                            <a:srgbClr val="000000"/>
                          </a:solidFill>
                          <a:effectLst/>
                          <a:latin typeface="Calibri" panose="020F0502020204030204" pitchFamily="34" charset="0"/>
                        </a:rPr>
                        <a:t>CHSS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8196991"/>
                  </a:ext>
                </a:extLst>
              </a:tr>
              <a:tr h="182880">
                <a:tc>
                  <a:txBody>
                    <a:bodyPr/>
                    <a:lstStyle/>
                    <a:p>
                      <a:pPr algn="l" fontAlgn="b"/>
                      <a:r>
                        <a:rPr lang="en-US" sz="1600" b="0" i="0" u="none" strike="noStrike">
                          <a:solidFill>
                            <a:srgbClr val="000000"/>
                          </a:solidFill>
                          <a:effectLst/>
                          <a:latin typeface="Calibri" panose="020F0502020204030204" pitchFamily="34" charset="0"/>
                        </a:rPr>
                        <a:t>COS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40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0296705"/>
                  </a:ext>
                </a:extLst>
              </a:tr>
              <a:tr h="182880">
                <a:tc>
                  <a:txBody>
                    <a:bodyPr/>
                    <a:lstStyle/>
                    <a:p>
                      <a:pPr algn="l" fontAlgn="b"/>
                      <a:r>
                        <a:rPr lang="en-US" sz="1600" b="0" i="0" u="none" strike="noStrike">
                          <a:solidFill>
                            <a:srgbClr val="000000"/>
                          </a:solidFill>
                          <a:effectLst/>
                          <a:latin typeface="Calibri" panose="020F0502020204030204" pitchFamily="34" charset="0"/>
                        </a:rPr>
                        <a:t>SCHAR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2173666"/>
                  </a:ext>
                </a:extLst>
              </a:tr>
            </a:tbl>
          </a:graphicData>
        </a:graphic>
      </p:graphicFrame>
      <p:graphicFrame>
        <p:nvGraphicFramePr>
          <p:cNvPr id="6" name="Table 5">
            <a:extLst>
              <a:ext uri="{FF2B5EF4-FFF2-40B4-BE49-F238E27FC236}">
                <a16:creationId xmlns:a16="http://schemas.microsoft.com/office/drawing/2014/main" id="{B1DED1CD-7316-43AD-BF2D-303D22A02394}"/>
              </a:ext>
            </a:extLst>
          </p:cNvPr>
          <p:cNvGraphicFramePr>
            <a:graphicFrameLocks noGrp="1"/>
          </p:cNvGraphicFramePr>
          <p:nvPr>
            <p:extLst>
              <p:ext uri="{D42A27DB-BD31-4B8C-83A1-F6EECF244321}">
                <p14:modId xmlns:p14="http://schemas.microsoft.com/office/powerpoint/2010/main" val="2669989338"/>
              </p:ext>
            </p:extLst>
          </p:nvPr>
        </p:nvGraphicFramePr>
        <p:xfrm>
          <a:off x="1394254" y="4502978"/>
          <a:ext cx="3184267" cy="1508760"/>
        </p:xfrm>
        <a:graphic>
          <a:graphicData uri="http://schemas.openxmlformats.org/drawingml/2006/table">
            <a:tbl>
              <a:tblPr/>
              <a:tblGrid>
                <a:gridCol w="979775">
                  <a:extLst>
                    <a:ext uri="{9D8B030D-6E8A-4147-A177-3AD203B41FA5}">
                      <a16:colId xmlns:a16="http://schemas.microsoft.com/office/drawing/2014/main" val="2561992244"/>
                    </a:ext>
                  </a:extLst>
                </a:gridCol>
                <a:gridCol w="2204492">
                  <a:extLst>
                    <a:ext uri="{9D8B030D-6E8A-4147-A177-3AD203B41FA5}">
                      <a16:colId xmlns:a16="http://schemas.microsoft.com/office/drawing/2014/main" val="1401906167"/>
                    </a:ext>
                  </a:extLst>
                </a:gridCol>
              </a:tblGrid>
              <a:tr h="182880">
                <a:tc>
                  <a:txBody>
                    <a:bodyPr/>
                    <a:lstStyle/>
                    <a:p>
                      <a:pPr algn="l" fontAlgn="b"/>
                      <a:r>
                        <a:rPr lang="en-US" sz="1600" b="1" i="0" u="none" strike="noStrike">
                          <a:solidFill>
                            <a:srgbClr val="000000"/>
                          </a:solidFill>
                          <a:effectLst/>
                          <a:latin typeface="Calibri" panose="020F0502020204030204" pitchFamily="34" charset="0"/>
                        </a:rPr>
                        <a:t>College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1" i="0" u="none" strike="noStrike">
                          <a:solidFill>
                            <a:srgbClr val="000000"/>
                          </a:solidFill>
                          <a:effectLst/>
                          <a:latin typeface="Calibri" panose="020F0502020204030204" pitchFamily="34" charset="0"/>
                        </a:rPr>
                        <a:t>No. of Requests 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5808104"/>
                  </a:ext>
                </a:extLst>
              </a:tr>
              <a:tr h="182880">
                <a:tc>
                  <a:txBody>
                    <a:bodyPr/>
                    <a:lstStyle/>
                    <a:p>
                      <a:pPr algn="l" fontAlgn="b"/>
                      <a:r>
                        <a:rPr lang="en-US" sz="1600" b="0" i="0" u="none" strike="noStrike">
                          <a:solidFill>
                            <a:srgbClr val="000000"/>
                          </a:solidFill>
                          <a:effectLst/>
                          <a:latin typeface="Calibri" panose="020F0502020204030204" pitchFamily="34" charset="0"/>
                        </a:rPr>
                        <a:t>CEC</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131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5149058"/>
                  </a:ext>
                </a:extLst>
              </a:tr>
              <a:tr h="182880">
                <a:tc>
                  <a:txBody>
                    <a:bodyPr/>
                    <a:lstStyle/>
                    <a:p>
                      <a:pPr algn="l" fontAlgn="b"/>
                      <a:r>
                        <a:rPr lang="en-US" sz="1600" b="0" i="0" u="none" strike="noStrike">
                          <a:solidFill>
                            <a:srgbClr val="000000"/>
                          </a:solidFill>
                          <a:effectLst/>
                          <a:latin typeface="Calibri" panose="020F0502020204030204" pitchFamily="34" charset="0"/>
                        </a:rPr>
                        <a:t>CHHS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7230051"/>
                  </a:ext>
                </a:extLst>
              </a:tr>
              <a:tr h="182880">
                <a:tc>
                  <a:txBody>
                    <a:bodyPr/>
                    <a:lstStyle/>
                    <a:p>
                      <a:pPr algn="l" fontAlgn="b"/>
                      <a:r>
                        <a:rPr lang="en-US" sz="1600" b="0" i="0" u="none" strike="noStrike">
                          <a:solidFill>
                            <a:srgbClr val="000000"/>
                          </a:solidFill>
                          <a:effectLst/>
                          <a:latin typeface="Calibri" panose="020F0502020204030204" pitchFamily="34" charset="0"/>
                        </a:rPr>
                        <a:t>CHSS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5508493"/>
                  </a:ext>
                </a:extLst>
              </a:tr>
              <a:tr h="182880">
                <a:tc>
                  <a:txBody>
                    <a:bodyPr/>
                    <a:lstStyle/>
                    <a:p>
                      <a:pPr algn="l" fontAlgn="b"/>
                      <a:r>
                        <a:rPr lang="en-US" sz="1600" b="0" i="0" u="none" strike="noStrike">
                          <a:solidFill>
                            <a:srgbClr val="000000"/>
                          </a:solidFill>
                          <a:effectLst/>
                          <a:latin typeface="Calibri" panose="020F0502020204030204" pitchFamily="34" charset="0"/>
                        </a:rPr>
                        <a:t>COS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5142672"/>
                  </a:ext>
                </a:extLst>
              </a:tr>
              <a:tr h="182880">
                <a:tc>
                  <a:txBody>
                    <a:bodyPr/>
                    <a:lstStyle/>
                    <a:p>
                      <a:pPr algn="l" fontAlgn="b"/>
                      <a:r>
                        <a:rPr lang="en-US" sz="1600" b="0" i="0" u="none" strike="noStrike">
                          <a:solidFill>
                            <a:srgbClr val="000000"/>
                          </a:solidFill>
                          <a:effectLst/>
                          <a:latin typeface="Calibri" panose="020F0502020204030204" pitchFamily="34" charset="0"/>
                        </a:rPr>
                        <a:t>ORC</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7104574"/>
                  </a:ext>
                </a:extLst>
              </a:tr>
            </a:tbl>
          </a:graphicData>
        </a:graphic>
      </p:graphicFrame>
      <p:graphicFrame>
        <p:nvGraphicFramePr>
          <p:cNvPr id="7" name="Table 6">
            <a:extLst>
              <a:ext uri="{FF2B5EF4-FFF2-40B4-BE49-F238E27FC236}">
                <a16:creationId xmlns:a16="http://schemas.microsoft.com/office/drawing/2014/main" id="{6D059C14-AE02-44C5-BE53-083148D315E1}"/>
              </a:ext>
            </a:extLst>
          </p:cNvPr>
          <p:cNvGraphicFramePr>
            <a:graphicFrameLocks noGrp="1"/>
          </p:cNvGraphicFramePr>
          <p:nvPr>
            <p:extLst>
              <p:ext uri="{D42A27DB-BD31-4B8C-83A1-F6EECF244321}">
                <p14:modId xmlns:p14="http://schemas.microsoft.com/office/powerpoint/2010/main" val="3448104654"/>
              </p:ext>
            </p:extLst>
          </p:nvPr>
        </p:nvGraphicFramePr>
        <p:xfrm>
          <a:off x="6305723" y="4508097"/>
          <a:ext cx="3307834" cy="1925826"/>
        </p:xfrm>
        <a:graphic>
          <a:graphicData uri="http://schemas.openxmlformats.org/drawingml/2006/table">
            <a:tbl>
              <a:tblPr/>
              <a:tblGrid>
                <a:gridCol w="1072811">
                  <a:extLst>
                    <a:ext uri="{9D8B030D-6E8A-4147-A177-3AD203B41FA5}">
                      <a16:colId xmlns:a16="http://schemas.microsoft.com/office/drawing/2014/main" val="690580316"/>
                    </a:ext>
                  </a:extLst>
                </a:gridCol>
                <a:gridCol w="2235023">
                  <a:extLst>
                    <a:ext uri="{9D8B030D-6E8A-4147-A177-3AD203B41FA5}">
                      <a16:colId xmlns:a16="http://schemas.microsoft.com/office/drawing/2014/main" val="1666058265"/>
                    </a:ext>
                  </a:extLst>
                </a:gridCol>
              </a:tblGrid>
              <a:tr h="320971">
                <a:tc>
                  <a:txBody>
                    <a:bodyPr/>
                    <a:lstStyle/>
                    <a:p>
                      <a:pPr algn="l" fontAlgn="b"/>
                      <a:r>
                        <a:rPr lang="en-US" sz="1600" b="1" i="0" u="none" strike="noStrike">
                          <a:solidFill>
                            <a:srgbClr val="000000"/>
                          </a:solidFill>
                          <a:effectLst/>
                          <a:latin typeface="Calibri" panose="020F0502020204030204" pitchFamily="34" charset="0"/>
                        </a:rPr>
                        <a:t>College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1" i="0" u="none" strike="noStrike">
                          <a:solidFill>
                            <a:srgbClr val="000000"/>
                          </a:solidFill>
                          <a:effectLst/>
                          <a:latin typeface="Calibri" panose="020F0502020204030204" pitchFamily="34" charset="0"/>
                        </a:rPr>
                        <a:t>No. of Requests 2022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933977"/>
                  </a:ext>
                </a:extLst>
              </a:tr>
              <a:tr h="320971">
                <a:tc>
                  <a:txBody>
                    <a:bodyPr/>
                    <a:lstStyle/>
                    <a:p>
                      <a:pPr algn="l" fontAlgn="b"/>
                      <a:r>
                        <a:rPr lang="en-US" sz="1600" b="0" i="0" u="none" strike="noStrike">
                          <a:solidFill>
                            <a:srgbClr val="000000"/>
                          </a:solidFill>
                          <a:effectLst/>
                          <a:latin typeface="Calibri" panose="020F0502020204030204" pitchFamily="34" charset="0"/>
                        </a:rPr>
                        <a:t>CEC</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306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0616472"/>
                  </a:ext>
                </a:extLst>
              </a:tr>
              <a:tr h="320971">
                <a:tc>
                  <a:txBody>
                    <a:bodyPr/>
                    <a:lstStyle/>
                    <a:p>
                      <a:pPr algn="l" fontAlgn="b"/>
                      <a:r>
                        <a:rPr lang="en-US" sz="1600" b="0" i="0" u="none" strike="noStrike">
                          <a:solidFill>
                            <a:srgbClr val="000000"/>
                          </a:solidFill>
                          <a:effectLst/>
                          <a:latin typeface="Calibri" panose="020F0502020204030204" pitchFamily="34" charset="0"/>
                        </a:rPr>
                        <a:t>CEHD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79136827"/>
                  </a:ext>
                </a:extLst>
              </a:tr>
              <a:tr h="320971">
                <a:tc>
                  <a:txBody>
                    <a:bodyPr/>
                    <a:lstStyle/>
                    <a:p>
                      <a:pPr algn="l" fontAlgn="b"/>
                      <a:r>
                        <a:rPr lang="en-US" sz="1600" b="0" i="0" u="none" strike="noStrike">
                          <a:solidFill>
                            <a:srgbClr val="000000"/>
                          </a:solidFill>
                          <a:effectLst/>
                          <a:latin typeface="Calibri" panose="020F0502020204030204" pitchFamily="34" charset="0"/>
                        </a:rPr>
                        <a:t>CHHS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0059607"/>
                  </a:ext>
                </a:extLst>
              </a:tr>
              <a:tr h="320971">
                <a:tc>
                  <a:txBody>
                    <a:bodyPr/>
                    <a:lstStyle/>
                    <a:p>
                      <a:pPr algn="l" fontAlgn="b"/>
                      <a:r>
                        <a:rPr lang="en-US" sz="1600" b="0" i="0" u="none" strike="noStrike">
                          <a:solidFill>
                            <a:srgbClr val="000000"/>
                          </a:solidFill>
                          <a:effectLst/>
                          <a:latin typeface="Calibri" panose="020F0502020204030204" pitchFamily="34" charset="0"/>
                        </a:rPr>
                        <a:t>CHSS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2458460"/>
                  </a:ext>
                </a:extLst>
              </a:tr>
              <a:tr h="320971">
                <a:tc>
                  <a:txBody>
                    <a:bodyPr/>
                    <a:lstStyle/>
                    <a:p>
                      <a:pPr algn="l" fontAlgn="b"/>
                      <a:r>
                        <a:rPr lang="en-US" sz="1600" b="0" i="0" u="none" strike="noStrike">
                          <a:solidFill>
                            <a:srgbClr val="000000"/>
                          </a:solidFill>
                          <a:effectLst/>
                          <a:latin typeface="Calibri" panose="020F0502020204030204" pitchFamily="34" charset="0"/>
                        </a:rPr>
                        <a:t>COS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65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4138082"/>
                  </a:ext>
                </a:extLst>
              </a:tr>
            </a:tbl>
          </a:graphicData>
        </a:graphic>
      </p:graphicFrame>
    </p:spTree>
    <p:extLst>
      <p:ext uri="{BB962C8B-B14F-4D97-AF65-F5344CB8AC3E}">
        <p14:creationId xmlns:p14="http://schemas.microsoft.com/office/powerpoint/2010/main" val="2341671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1525E-A547-4585-8601-B02699523033}"/>
              </a:ext>
            </a:extLst>
          </p:cNvPr>
          <p:cNvSpPr>
            <a:spLocks noGrp="1"/>
          </p:cNvSpPr>
          <p:nvPr>
            <p:ph type="title"/>
          </p:nvPr>
        </p:nvSpPr>
        <p:spPr/>
        <p:txBody>
          <a:bodyPr/>
          <a:lstStyle/>
          <a:p>
            <a:r>
              <a:rPr lang="en-US"/>
              <a:t>Students trained by School/College in 2022</a:t>
            </a:r>
          </a:p>
        </p:txBody>
      </p:sp>
      <p:graphicFrame>
        <p:nvGraphicFramePr>
          <p:cNvPr id="4" name="Content Placeholder 3">
            <a:extLst>
              <a:ext uri="{FF2B5EF4-FFF2-40B4-BE49-F238E27FC236}">
                <a16:creationId xmlns:a16="http://schemas.microsoft.com/office/drawing/2014/main" id="{3D189384-715B-4F27-8A2B-312E512D2030}"/>
              </a:ext>
            </a:extLst>
          </p:cNvPr>
          <p:cNvGraphicFramePr>
            <a:graphicFrameLocks noGrp="1"/>
          </p:cNvGraphicFramePr>
          <p:nvPr>
            <p:ph idx="1"/>
            <p:extLst>
              <p:ext uri="{D42A27DB-BD31-4B8C-83A1-F6EECF244321}">
                <p14:modId xmlns:p14="http://schemas.microsoft.com/office/powerpoint/2010/main" val="3317047390"/>
              </p:ext>
            </p:extLst>
          </p:nvPr>
        </p:nvGraphicFramePr>
        <p:xfrm>
          <a:off x="7537622" y="2419628"/>
          <a:ext cx="4081850" cy="3771900"/>
        </p:xfrm>
        <a:graphic>
          <a:graphicData uri="http://schemas.openxmlformats.org/drawingml/2006/table">
            <a:tbl>
              <a:tblPr/>
              <a:tblGrid>
                <a:gridCol w="816370">
                  <a:extLst>
                    <a:ext uri="{9D8B030D-6E8A-4147-A177-3AD203B41FA5}">
                      <a16:colId xmlns:a16="http://schemas.microsoft.com/office/drawing/2014/main" val="2649647031"/>
                    </a:ext>
                  </a:extLst>
                </a:gridCol>
                <a:gridCol w="653096">
                  <a:extLst>
                    <a:ext uri="{9D8B030D-6E8A-4147-A177-3AD203B41FA5}">
                      <a16:colId xmlns:a16="http://schemas.microsoft.com/office/drawing/2014/main" val="2463772870"/>
                    </a:ext>
                  </a:extLst>
                </a:gridCol>
                <a:gridCol w="653096">
                  <a:extLst>
                    <a:ext uri="{9D8B030D-6E8A-4147-A177-3AD203B41FA5}">
                      <a16:colId xmlns:a16="http://schemas.microsoft.com/office/drawing/2014/main" val="2727132292"/>
                    </a:ext>
                  </a:extLst>
                </a:gridCol>
                <a:gridCol w="653096">
                  <a:extLst>
                    <a:ext uri="{9D8B030D-6E8A-4147-A177-3AD203B41FA5}">
                      <a16:colId xmlns:a16="http://schemas.microsoft.com/office/drawing/2014/main" val="1218315655"/>
                    </a:ext>
                  </a:extLst>
                </a:gridCol>
                <a:gridCol w="653096">
                  <a:extLst>
                    <a:ext uri="{9D8B030D-6E8A-4147-A177-3AD203B41FA5}">
                      <a16:colId xmlns:a16="http://schemas.microsoft.com/office/drawing/2014/main" val="1688199934"/>
                    </a:ext>
                  </a:extLst>
                </a:gridCol>
                <a:gridCol w="653096">
                  <a:extLst>
                    <a:ext uri="{9D8B030D-6E8A-4147-A177-3AD203B41FA5}">
                      <a16:colId xmlns:a16="http://schemas.microsoft.com/office/drawing/2014/main" val="3112265667"/>
                    </a:ext>
                  </a:extLst>
                </a:gridCol>
              </a:tblGrid>
              <a:tr h="198685">
                <a:tc>
                  <a:txBody>
                    <a:bodyPr/>
                    <a:lstStyle/>
                    <a:p>
                      <a:pPr algn="l" fontAlgn="b"/>
                      <a:r>
                        <a:rPr lang="en-US" sz="16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5">
                  <a:txBody>
                    <a:bodyPr/>
                    <a:lstStyle/>
                    <a:p>
                      <a:pPr algn="ctr" fontAlgn="b"/>
                      <a:r>
                        <a:rPr lang="en-US" sz="1600" b="1" i="0" u="none" strike="noStrike">
                          <a:solidFill>
                            <a:srgbClr val="000000"/>
                          </a:solidFill>
                          <a:effectLst/>
                          <a:latin typeface="Calibri" panose="020F0502020204030204" pitchFamily="34" charset="0"/>
                        </a:rPr>
                        <a:t>School/College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41911152"/>
                  </a:ext>
                </a:extLst>
              </a:tr>
              <a:tr h="198685">
                <a:tc>
                  <a:txBody>
                    <a:bodyPr/>
                    <a:lstStyle/>
                    <a:p>
                      <a:pPr algn="l" fontAlgn="b"/>
                      <a:r>
                        <a:rPr lang="en-US" sz="1600" b="0" i="0" u="none" strike="noStrike">
                          <a:solidFill>
                            <a:srgbClr val="000000"/>
                          </a:solidFill>
                          <a:effectLst/>
                          <a:latin typeface="Calibri" panose="020F0502020204030204" pitchFamily="34" charset="0"/>
                        </a:rPr>
                        <a:t>Month</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effectLst/>
                          <a:latin typeface="Calibri" panose="020F0502020204030204" pitchFamily="34" charset="0"/>
                        </a:rPr>
                        <a:t>CEC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effectLst/>
                          <a:latin typeface="Calibri" panose="020F0502020204030204" pitchFamily="34" charset="0"/>
                        </a:rPr>
                        <a:t>CHHS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effectLst/>
                          <a:latin typeface="Calibri" panose="020F0502020204030204" pitchFamily="34" charset="0"/>
                        </a:rPr>
                        <a:t>CHSS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effectLst/>
                          <a:latin typeface="Calibri" panose="020F0502020204030204" pitchFamily="34" charset="0"/>
                        </a:rPr>
                        <a:t>COS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effectLst/>
                          <a:latin typeface="Calibri" panose="020F0502020204030204" pitchFamily="34" charset="0"/>
                        </a:rPr>
                        <a:t>SOM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35428688"/>
                  </a:ext>
                </a:extLst>
              </a:tr>
              <a:tr h="198685">
                <a:tc>
                  <a:txBody>
                    <a:bodyPr/>
                    <a:lstStyle/>
                    <a:p>
                      <a:pPr algn="r" fontAlgn="b"/>
                      <a:r>
                        <a:rPr lang="en-US" sz="16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8047472"/>
                  </a:ext>
                </a:extLst>
              </a:tr>
              <a:tr h="198685">
                <a:tc>
                  <a:txBody>
                    <a:bodyPr/>
                    <a:lstStyle/>
                    <a:p>
                      <a:pPr algn="r" fontAlgn="b"/>
                      <a:r>
                        <a:rPr lang="en-US" sz="16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36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566735"/>
                  </a:ext>
                </a:extLst>
              </a:tr>
              <a:tr h="228783">
                <a:tc>
                  <a:txBody>
                    <a:bodyPr/>
                    <a:lstStyle/>
                    <a:p>
                      <a:pPr algn="r" fontAlgn="b"/>
                      <a:r>
                        <a:rPr lang="en-US" sz="1600" b="0" i="0" u="none" strike="noStrike">
                          <a:solidFill>
                            <a:srgbClr val="000000"/>
                          </a:solidFill>
                          <a:effectLst/>
                          <a:latin typeface="Calibri" panose="020F0502020204030204" pitchFamily="34" charset="0"/>
                        </a:rPr>
                        <a:t>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3463261"/>
                  </a:ext>
                </a:extLst>
              </a:tr>
              <a:tr h="198685">
                <a:tc>
                  <a:txBody>
                    <a:bodyPr/>
                    <a:lstStyle/>
                    <a:p>
                      <a:pPr algn="r" fontAlgn="b"/>
                      <a:r>
                        <a:rPr lang="en-US" sz="16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6352788"/>
                  </a:ext>
                </a:extLst>
              </a:tr>
              <a:tr h="198685">
                <a:tc>
                  <a:txBody>
                    <a:bodyPr/>
                    <a:lstStyle/>
                    <a:p>
                      <a:pPr algn="r" fontAlgn="b"/>
                      <a:r>
                        <a:rPr lang="en-US" sz="1600" b="0" i="0" u="none" strike="noStrike">
                          <a:solidFill>
                            <a:srgbClr val="000000"/>
                          </a:solidFill>
                          <a:effectLst/>
                          <a:latin typeface="Calibri" panose="020F0502020204030204" pitchFamily="34" charset="0"/>
                        </a:rPr>
                        <a:t>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1650553"/>
                  </a:ext>
                </a:extLst>
              </a:tr>
              <a:tr h="198685">
                <a:tc>
                  <a:txBody>
                    <a:bodyPr/>
                    <a:lstStyle/>
                    <a:p>
                      <a:pPr algn="r" fontAlgn="b"/>
                      <a:r>
                        <a:rPr lang="en-US" sz="1600" b="0" i="0" u="none" strike="noStrike">
                          <a:solidFill>
                            <a:srgbClr val="000000"/>
                          </a:solidFill>
                          <a:effectLst/>
                          <a:latin typeface="Calibri" panose="020F0502020204030204" pitchFamily="34" charset="0"/>
                        </a:rPr>
                        <a:t>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2660828"/>
                  </a:ext>
                </a:extLst>
              </a:tr>
              <a:tr h="198685">
                <a:tc>
                  <a:txBody>
                    <a:bodyPr/>
                    <a:lstStyle/>
                    <a:p>
                      <a:pPr algn="r" fontAlgn="b"/>
                      <a:r>
                        <a:rPr lang="en-US" sz="1600" b="0" i="0" u="none" strike="noStrike">
                          <a:solidFill>
                            <a:srgbClr val="000000"/>
                          </a:solidFill>
                          <a:effectLst/>
                          <a:latin typeface="Calibri" panose="020F0502020204030204" pitchFamily="34" charset="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1023031"/>
                  </a:ext>
                </a:extLst>
              </a:tr>
              <a:tr h="198685">
                <a:tc>
                  <a:txBody>
                    <a:bodyPr/>
                    <a:lstStyle/>
                    <a:p>
                      <a:pPr algn="r" fontAlgn="b"/>
                      <a:r>
                        <a:rPr lang="en-US" sz="1600" b="0" i="0" u="none" strike="noStrike">
                          <a:solidFill>
                            <a:srgbClr val="000000"/>
                          </a:solidFill>
                          <a:effectLst/>
                          <a:latin typeface="Calibri" panose="020F0502020204030204" pitchFamily="34" charset="0"/>
                        </a:rPr>
                        <a:t>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6765244"/>
                  </a:ext>
                </a:extLst>
              </a:tr>
              <a:tr h="198685">
                <a:tc>
                  <a:txBody>
                    <a:bodyPr/>
                    <a:lstStyle/>
                    <a:p>
                      <a:pPr algn="r" fontAlgn="b"/>
                      <a:r>
                        <a:rPr lang="en-US" sz="1600" b="0" i="0" u="none" strike="noStrike">
                          <a:solidFill>
                            <a:srgbClr val="000000"/>
                          </a:solidFill>
                          <a:effectLst/>
                          <a:latin typeface="Calibri" panose="020F0502020204030204" pitchFamily="34" charset="0"/>
                        </a:rPr>
                        <a:t>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79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458005"/>
                  </a:ext>
                </a:extLst>
              </a:tr>
              <a:tr h="198685">
                <a:tc>
                  <a:txBody>
                    <a:bodyPr/>
                    <a:lstStyle/>
                    <a:p>
                      <a:pPr algn="r" fontAlgn="b"/>
                      <a:r>
                        <a:rPr lang="en-US" sz="1600" b="0" i="0" u="none" strike="noStrike">
                          <a:solidFill>
                            <a:srgbClr val="000000"/>
                          </a:solidFill>
                          <a:effectLst/>
                          <a:latin typeface="Calibri" panose="020F0502020204030204" pitchFamily="34" charset="0"/>
                        </a:rPr>
                        <a:t>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35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0858171"/>
                  </a:ext>
                </a:extLst>
              </a:tr>
              <a:tr h="198685">
                <a:tc>
                  <a:txBody>
                    <a:bodyPr/>
                    <a:lstStyle/>
                    <a:p>
                      <a:pPr algn="r" fontAlgn="b"/>
                      <a:r>
                        <a:rPr lang="en-US" sz="1600" b="0" i="0" u="none" strike="noStrike">
                          <a:solidFill>
                            <a:srgbClr val="000000"/>
                          </a:solidFill>
                          <a:effectLst/>
                          <a:latin typeface="Calibri" panose="020F0502020204030204" pitchFamily="34" charset="0"/>
                        </a:rPr>
                        <a:t>11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3288592"/>
                  </a:ext>
                </a:extLst>
              </a:tr>
              <a:tr h="198685">
                <a:tc>
                  <a:txBody>
                    <a:bodyPr/>
                    <a:lstStyle/>
                    <a:p>
                      <a:pPr algn="r" fontAlgn="b"/>
                      <a:r>
                        <a:rPr lang="en-US" sz="1600" b="0" i="0" u="none" strike="noStrike">
                          <a:solidFill>
                            <a:srgbClr val="000000"/>
                          </a:solidFill>
                          <a:effectLst/>
                          <a:latin typeface="Calibri" panose="020F0502020204030204" pitchFamily="34" charset="0"/>
                        </a:rPr>
                        <a:t>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Calibri" panose="020F050202020403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1149116"/>
                  </a:ext>
                </a:extLst>
              </a:tr>
              <a:tr h="198685">
                <a:tc>
                  <a:txBody>
                    <a:bodyPr/>
                    <a:lstStyle/>
                    <a:p>
                      <a:pPr algn="l" fontAlgn="b"/>
                      <a:r>
                        <a:rPr lang="en-US" sz="1600" b="1" i="0" u="none" strike="noStrike">
                          <a:solidFill>
                            <a:srgbClr val="000000"/>
                          </a:solidFill>
                          <a:effectLst/>
                          <a:latin typeface="Calibri" panose="020F0502020204030204" pitchFamily="34" charset="0"/>
                        </a:rPr>
                        <a:t>TOTAL</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600" b="1" i="0" u="none" strike="noStrike">
                          <a:solidFill>
                            <a:srgbClr val="000000"/>
                          </a:solidFill>
                          <a:effectLst/>
                          <a:latin typeface="Calibri" panose="020F0502020204030204" pitchFamily="34" charset="0"/>
                        </a:rPr>
                        <a:t>250</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600" b="1" i="0" u="none" strike="noStrike">
                          <a:solidFill>
                            <a:srgbClr val="000000"/>
                          </a:solidFill>
                          <a:effectLst/>
                          <a:latin typeface="Calibri" panose="020F0502020204030204" pitchFamily="34" charset="0"/>
                        </a:rPr>
                        <a:t>3</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600" b="1" i="0" u="none" strike="noStrike">
                          <a:solidFill>
                            <a:srgbClr val="000000"/>
                          </a:solidFill>
                          <a:effectLst/>
                          <a:latin typeface="Calibri" panose="020F0502020204030204" pitchFamily="34" charset="0"/>
                        </a:rPr>
                        <a:t>7</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600" b="1" i="0" u="none" strike="noStrike">
                          <a:solidFill>
                            <a:srgbClr val="000000"/>
                          </a:solidFill>
                          <a:effectLst/>
                          <a:latin typeface="Calibri" panose="020F0502020204030204" pitchFamily="34" charset="0"/>
                        </a:rPr>
                        <a:t>68</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600" b="1" i="0" u="none" strike="noStrike">
                          <a:solidFill>
                            <a:srgbClr val="000000"/>
                          </a:solidFill>
                          <a:effectLst/>
                          <a:latin typeface="Calibri" panose="020F0502020204030204" pitchFamily="34" charset="0"/>
                        </a:rPr>
                        <a:t>2</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706122224"/>
                  </a:ext>
                </a:extLst>
              </a:tr>
            </a:tbl>
          </a:graphicData>
        </a:graphic>
      </p:graphicFrame>
      <p:pic>
        <p:nvPicPr>
          <p:cNvPr id="6" name="Picture 5">
            <a:extLst>
              <a:ext uri="{FF2B5EF4-FFF2-40B4-BE49-F238E27FC236}">
                <a16:creationId xmlns:a16="http://schemas.microsoft.com/office/drawing/2014/main" id="{2A4E58DE-10BB-4E94-A712-A44ED58E4B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9" y="1962429"/>
            <a:ext cx="6547537" cy="4365024"/>
          </a:xfrm>
          <a:prstGeom prst="rect">
            <a:avLst/>
          </a:prstGeom>
        </p:spPr>
      </p:pic>
    </p:spTree>
    <p:extLst>
      <p:ext uri="{BB962C8B-B14F-4D97-AF65-F5344CB8AC3E}">
        <p14:creationId xmlns:p14="http://schemas.microsoft.com/office/powerpoint/2010/main" val="3358453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C7EBE-19A3-45D8-B8E4-B0BABDA115A4}"/>
              </a:ext>
            </a:extLst>
          </p:cNvPr>
          <p:cNvSpPr>
            <a:spLocks noGrp="1"/>
          </p:cNvSpPr>
          <p:nvPr>
            <p:ph type="title"/>
          </p:nvPr>
        </p:nvSpPr>
        <p:spPr/>
        <p:txBody>
          <a:bodyPr/>
          <a:lstStyle/>
          <a:p>
            <a:r>
              <a:rPr lang="en-US"/>
              <a:t>Students trained per month by School/College in 2022 </a:t>
            </a:r>
          </a:p>
        </p:txBody>
      </p:sp>
      <p:pic>
        <p:nvPicPr>
          <p:cNvPr id="5" name="Content Placeholder 4">
            <a:extLst>
              <a:ext uri="{FF2B5EF4-FFF2-40B4-BE49-F238E27FC236}">
                <a16:creationId xmlns:a16="http://schemas.microsoft.com/office/drawing/2014/main" id="{C97CC94D-C69D-4D9E-AFAA-093DD6021A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6994" y="1585595"/>
            <a:ext cx="11298011" cy="5272405"/>
          </a:xfrm>
        </p:spPr>
      </p:pic>
    </p:spTree>
    <p:extLst>
      <p:ext uri="{BB962C8B-B14F-4D97-AF65-F5344CB8AC3E}">
        <p14:creationId xmlns:p14="http://schemas.microsoft.com/office/powerpoint/2010/main" val="1495289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754230-3D36-4657-A6CF-81D30307C0BB}"/>
              </a:ext>
            </a:extLst>
          </p:cNvPr>
          <p:cNvSpPr>
            <a:spLocks noGrp="1"/>
          </p:cNvSpPr>
          <p:nvPr>
            <p:ph type="title"/>
          </p:nvPr>
        </p:nvSpPr>
        <p:spPr/>
        <p:txBody>
          <a:bodyPr/>
          <a:lstStyle/>
          <a:p>
            <a:r>
              <a:rPr lang="en-US"/>
              <a:t>Summary of Usage Numbers</a:t>
            </a:r>
          </a:p>
        </p:txBody>
      </p:sp>
      <p:sp>
        <p:nvSpPr>
          <p:cNvPr id="5" name="Text Placeholder 4">
            <a:extLst>
              <a:ext uri="{FF2B5EF4-FFF2-40B4-BE49-F238E27FC236}">
                <a16:creationId xmlns:a16="http://schemas.microsoft.com/office/drawing/2014/main" id="{6250C443-9281-4B15-928A-46E95353D93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36637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CDAACF-45C6-48B7-8587-124985846F43}"/>
              </a:ext>
            </a:extLst>
          </p:cNvPr>
          <p:cNvSpPr>
            <a:spLocks noGrp="1"/>
          </p:cNvSpPr>
          <p:nvPr>
            <p:ph type="title"/>
          </p:nvPr>
        </p:nvSpPr>
        <p:spPr>
          <a:xfrm>
            <a:off x="839788" y="457200"/>
            <a:ext cx="10372498" cy="1600200"/>
          </a:xfrm>
        </p:spPr>
        <p:txBody>
          <a:bodyPr>
            <a:noAutofit/>
          </a:bodyPr>
          <a:lstStyle/>
          <a:p>
            <a:r>
              <a:rPr lang="en-US" sz="3600"/>
              <a:t>Total number of Jobs Run on both Argo and Hopper </a:t>
            </a:r>
            <a:br>
              <a:rPr lang="en-US" sz="3600"/>
            </a:br>
            <a:endParaRPr lang="en-US" sz="3600"/>
          </a:p>
        </p:txBody>
      </p:sp>
      <p:graphicFrame>
        <p:nvGraphicFramePr>
          <p:cNvPr id="17" name="Content Placeholder 16">
            <a:extLst>
              <a:ext uri="{FF2B5EF4-FFF2-40B4-BE49-F238E27FC236}">
                <a16:creationId xmlns:a16="http://schemas.microsoft.com/office/drawing/2014/main" id="{6EAC6422-EA6D-4683-BA94-70AE4B170B13}"/>
              </a:ext>
            </a:extLst>
          </p:cNvPr>
          <p:cNvGraphicFramePr>
            <a:graphicFrameLocks noGrp="1"/>
          </p:cNvGraphicFramePr>
          <p:nvPr>
            <p:ph idx="1"/>
            <p:extLst>
              <p:ext uri="{D42A27DB-BD31-4B8C-83A1-F6EECF244321}">
                <p14:modId xmlns:p14="http://schemas.microsoft.com/office/powerpoint/2010/main" val="4039629326"/>
              </p:ext>
            </p:extLst>
          </p:nvPr>
        </p:nvGraphicFramePr>
        <p:xfrm>
          <a:off x="839788" y="2198550"/>
          <a:ext cx="3932238" cy="783772"/>
        </p:xfrm>
        <a:graphic>
          <a:graphicData uri="http://schemas.openxmlformats.org/drawingml/2006/table">
            <a:tbl>
              <a:tblPr firstRow="1" firstCol="1" bandRow="1"/>
              <a:tblGrid>
                <a:gridCol w="1310746">
                  <a:extLst>
                    <a:ext uri="{9D8B030D-6E8A-4147-A177-3AD203B41FA5}">
                      <a16:colId xmlns:a16="http://schemas.microsoft.com/office/drawing/2014/main" val="4042011151"/>
                    </a:ext>
                  </a:extLst>
                </a:gridCol>
                <a:gridCol w="1310746">
                  <a:extLst>
                    <a:ext uri="{9D8B030D-6E8A-4147-A177-3AD203B41FA5}">
                      <a16:colId xmlns:a16="http://schemas.microsoft.com/office/drawing/2014/main" val="1771525633"/>
                    </a:ext>
                  </a:extLst>
                </a:gridCol>
                <a:gridCol w="1310746">
                  <a:extLst>
                    <a:ext uri="{9D8B030D-6E8A-4147-A177-3AD203B41FA5}">
                      <a16:colId xmlns:a16="http://schemas.microsoft.com/office/drawing/2014/main" val="365615022"/>
                    </a:ext>
                  </a:extLst>
                </a:gridCol>
              </a:tblGrid>
              <a:tr h="195943">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Year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144363" marR="14436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Argo</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144363" marR="14436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Hopper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144363" marR="14436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66596465"/>
                  </a:ext>
                </a:extLst>
              </a:tr>
              <a:tr h="195943">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144363" marR="14436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3080997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9658122"/>
                  </a:ext>
                </a:extLst>
              </a:tr>
              <a:tr h="195943">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144363" marR="14436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424030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178120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7776107"/>
                  </a:ext>
                </a:extLst>
              </a:tr>
              <a:tr h="195943">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144363" marR="14436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364032</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1179007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3728027"/>
                  </a:ext>
                </a:extLst>
              </a:tr>
            </a:tbl>
          </a:graphicData>
        </a:graphic>
      </p:graphicFrame>
      <p:sp>
        <p:nvSpPr>
          <p:cNvPr id="20" name="Text Placeholder 19">
            <a:extLst>
              <a:ext uri="{FF2B5EF4-FFF2-40B4-BE49-F238E27FC236}">
                <a16:creationId xmlns:a16="http://schemas.microsoft.com/office/drawing/2014/main" id="{C76A9AA1-E517-42BA-926E-B2BADF286D2C}"/>
              </a:ext>
            </a:extLst>
          </p:cNvPr>
          <p:cNvSpPr>
            <a:spLocks noGrp="1"/>
          </p:cNvSpPr>
          <p:nvPr>
            <p:ph type="body" sz="half" idx="2"/>
          </p:nvPr>
        </p:nvSpPr>
        <p:spPr>
          <a:xfrm>
            <a:off x="839788" y="3429000"/>
            <a:ext cx="3932237" cy="2439988"/>
          </a:xfrm>
        </p:spPr>
        <p:txBody>
          <a:bodyPr>
            <a:normAutofit fontScale="92500" lnSpcReduction="20000"/>
          </a:bodyPr>
          <a:lstStyle/>
          <a:p>
            <a:r>
              <a:rPr lang="en-US"/>
              <a:t>- The table summarizes the usage of the clusters across the different years, with an increasing number of jobs being submitted to Hopper as opposed to ARGO. </a:t>
            </a:r>
          </a:p>
          <a:p>
            <a:pPr marL="285750" indent="-285750">
              <a:buFontTx/>
              <a:buChar char="-"/>
            </a:pPr>
            <a:r>
              <a:rPr lang="en-US"/>
              <a:t>The number of jobs on Hopper crossed the 1M mark in 2022 as more researchers and new users were added to Hopper. </a:t>
            </a:r>
          </a:p>
          <a:p>
            <a:pPr marL="285750" indent="-285750">
              <a:buFontTx/>
              <a:buChar char="-"/>
            </a:pPr>
            <a:r>
              <a:rPr lang="en-US"/>
              <a:t>The high number of jobs in 2020 on Argo were driven by researchers from the Statistics department and the Cybersecurity and Engineering Department submitting array jobs.</a:t>
            </a:r>
          </a:p>
          <a:p>
            <a:endParaRPr lang="en-US"/>
          </a:p>
        </p:txBody>
      </p:sp>
      <p:graphicFrame>
        <p:nvGraphicFramePr>
          <p:cNvPr id="6" name="Chart 5">
            <a:extLst>
              <a:ext uri="{FF2B5EF4-FFF2-40B4-BE49-F238E27FC236}">
                <a16:creationId xmlns:a16="http://schemas.microsoft.com/office/drawing/2014/main" id="{EB82BA74-7549-4EC8-979F-A33022FB35AB}"/>
              </a:ext>
            </a:extLst>
          </p:cNvPr>
          <p:cNvGraphicFramePr>
            <a:graphicFrameLocks/>
          </p:cNvGraphicFramePr>
          <p:nvPr>
            <p:extLst>
              <p:ext uri="{D42A27DB-BD31-4B8C-83A1-F6EECF244321}">
                <p14:modId xmlns:p14="http://schemas.microsoft.com/office/powerpoint/2010/main" val="1186142908"/>
              </p:ext>
            </p:extLst>
          </p:nvPr>
        </p:nvGraphicFramePr>
        <p:xfrm>
          <a:off x="5719665" y="2502411"/>
          <a:ext cx="4878372" cy="31892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85030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CA878-980B-4D85-A97B-42C5DEE29083}"/>
              </a:ext>
            </a:extLst>
          </p:cNvPr>
          <p:cNvSpPr>
            <a:spLocks noGrp="1"/>
          </p:cNvSpPr>
          <p:nvPr>
            <p:ph type="title"/>
          </p:nvPr>
        </p:nvSpPr>
        <p:spPr/>
        <p:txBody>
          <a:bodyPr/>
          <a:lstStyle/>
          <a:p>
            <a:r>
              <a:rPr lang="en-US"/>
              <a:t>GPU/CPU Jobs – Single Core vs. Multi-Core </a:t>
            </a:r>
          </a:p>
        </p:txBody>
      </p:sp>
      <p:sp>
        <p:nvSpPr>
          <p:cNvPr id="10" name="Content Placeholder 9">
            <a:extLst>
              <a:ext uri="{FF2B5EF4-FFF2-40B4-BE49-F238E27FC236}">
                <a16:creationId xmlns:a16="http://schemas.microsoft.com/office/drawing/2014/main" id="{1AE0F038-7A56-4402-847A-F3ABCE20AD73}"/>
              </a:ext>
            </a:extLst>
          </p:cNvPr>
          <p:cNvSpPr>
            <a:spLocks noGrp="1"/>
          </p:cNvSpPr>
          <p:nvPr>
            <p:ph idx="1"/>
          </p:nvPr>
        </p:nvSpPr>
        <p:spPr>
          <a:xfrm>
            <a:off x="838200" y="1825625"/>
            <a:ext cx="4681756" cy="4351338"/>
          </a:xfrm>
        </p:spPr>
        <p:txBody>
          <a:bodyPr>
            <a:normAutofit fontScale="92500" lnSpcReduction="20000"/>
          </a:bodyPr>
          <a:lstStyle/>
          <a:p>
            <a:r>
              <a:rPr lang="en-US"/>
              <a:t>From all the jobs that ran, we look at jobs that was ran on either a single processor (core) or across multiple processors.</a:t>
            </a:r>
          </a:p>
          <a:p>
            <a:r>
              <a:rPr lang="en-US"/>
              <a:t>Across 2020 – 2022, the majority of jobs are single-core and run on CPUs on Argo. </a:t>
            </a:r>
          </a:p>
          <a:p>
            <a:r>
              <a:rPr lang="en-US"/>
              <a:t>On Hopper, we had more multi-core CPU jobs in 2021. For 2022 single-core CPU runs roughly matched multi-core </a:t>
            </a:r>
            <a:r>
              <a:rPr lang="en-US" err="1"/>
              <a:t>cpu</a:t>
            </a:r>
            <a:r>
              <a:rPr lang="en-US"/>
              <a:t> runs.</a:t>
            </a:r>
          </a:p>
          <a:p>
            <a:r>
              <a:rPr lang="en-US"/>
              <a:t>Most of the </a:t>
            </a:r>
            <a:r>
              <a:rPr lang="en-US" err="1"/>
              <a:t>gpu</a:t>
            </a:r>
            <a:r>
              <a:rPr lang="en-US"/>
              <a:t> runs were multi-core on Hopper in 2022. </a:t>
            </a:r>
          </a:p>
          <a:p>
            <a:endParaRPr lang="en-US"/>
          </a:p>
          <a:p>
            <a:endParaRPr lang="en-US"/>
          </a:p>
        </p:txBody>
      </p:sp>
      <p:graphicFrame>
        <p:nvGraphicFramePr>
          <p:cNvPr id="3" name="Table 2">
            <a:extLst>
              <a:ext uri="{FF2B5EF4-FFF2-40B4-BE49-F238E27FC236}">
                <a16:creationId xmlns:a16="http://schemas.microsoft.com/office/drawing/2014/main" id="{DAEC0840-4F2E-4AC1-B249-1733A24B0845}"/>
              </a:ext>
            </a:extLst>
          </p:cNvPr>
          <p:cNvGraphicFramePr>
            <a:graphicFrameLocks noGrp="1"/>
          </p:cNvGraphicFramePr>
          <p:nvPr>
            <p:extLst>
              <p:ext uri="{D42A27DB-BD31-4B8C-83A1-F6EECF244321}">
                <p14:modId xmlns:p14="http://schemas.microsoft.com/office/powerpoint/2010/main" val="3863773951"/>
              </p:ext>
            </p:extLst>
          </p:nvPr>
        </p:nvGraphicFramePr>
        <p:xfrm>
          <a:off x="6096000" y="2353252"/>
          <a:ext cx="5385729" cy="1427916"/>
        </p:xfrm>
        <a:graphic>
          <a:graphicData uri="http://schemas.openxmlformats.org/drawingml/2006/table">
            <a:tbl>
              <a:tblPr firstRow="1" firstCol="1" bandRow="1"/>
              <a:tblGrid>
                <a:gridCol w="604008">
                  <a:extLst>
                    <a:ext uri="{9D8B030D-6E8A-4147-A177-3AD203B41FA5}">
                      <a16:colId xmlns:a16="http://schemas.microsoft.com/office/drawing/2014/main" val="1298686563"/>
                    </a:ext>
                  </a:extLst>
                </a:gridCol>
                <a:gridCol w="918593">
                  <a:extLst>
                    <a:ext uri="{9D8B030D-6E8A-4147-A177-3AD203B41FA5}">
                      <a16:colId xmlns:a16="http://schemas.microsoft.com/office/drawing/2014/main" val="820297991"/>
                    </a:ext>
                  </a:extLst>
                </a:gridCol>
                <a:gridCol w="965782">
                  <a:extLst>
                    <a:ext uri="{9D8B030D-6E8A-4147-A177-3AD203B41FA5}">
                      <a16:colId xmlns:a16="http://schemas.microsoft.com/office/drawing/2014/main" val="1389521471"/>
                    </a:ext>
                  </a:extLst>
                </a:gridCol>
                <a:gridCol w="965782">
                  <a:extLst>
                    <a:ext uri="{9D8B030D-6E8A-4147-A177-3AD203B41FA5}">
                      <a16:colId xmlns:a16="http://schemas.microsoft.com/office/drawing/2014/main" val="1156286156"/>
                    </a:ext>
                  </a:extLst>
                </a:gridCol>
                <a:gridCol w="965782">
                  <a:extLst>
                    <a:ext uri="{9D8B030D-6E8A-4147-A177-3AD203B41FA5}">
                      <a16:colId xmlns:a16="http://schemas.microsoft.com/office/drawing/2014/main" val="2233806382"/>
                    </a:ext>
                  </a:extLst>
                </a:gridCol>
                <a:gridCol w="965782">
                  <a:extLst>
                    <a:ext uri="{9D8B030D-6E8A-4147-A177-3AD203B41FA5}">
                      <a16:colId xmlns:a16="http://schemas.microsoft.com/office/drawing/2014/main" val="3030383207"/>
                    </a:ext>
                  </a:extLst>
                </a:gridCol>
              </a:tblGrid>
              <a:tr h="230441">
                <a:tc>
                  <a:txBody>
                    <a:bodyPr/>
                    <a:lstStyle/>
                    <a:p>
                      <a:pPr marL="0" marR="0">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ARGO </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GPU Jobs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l">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CPU Jobs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l">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9295662"/>
                  </a:ext>
                </a:extLst>
              </a:tr>
              <a:tr h="467071">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Year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multi-core </a:t>
                      </a:r>
                      <a:r>
                        <a:rPr lang="en-US" sz="1100" b="1"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gpu</a:t>
                      </a: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single-core </a:t>
                      </a:r>
                      <a:r>
                        <a:rPr lang="en-US" sz="1100" b="1"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gpu</a:t>
                      </a: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multi-core </a:t>
                      </a:r>
                      <a:r>
                        <a:rPr lang="en-US" sz="1100" b="1"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cpu</a:t>
                      </a: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single-core </a:t>
                      </a:r>
                      <a:r>
                        <a:rPr lang="en-US" sz="1100" b="1"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cpu</a:t>
                      </a: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4826581"/>
                  </a:ext>
                </a:extLst>
              </a:tr>
              <a:tr h="243468">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3475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142317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146293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2788912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3080997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3772574"/>
                  </a:ext>
                </a:extLst>
              </a:tr>
              <a:tr h="243468">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2021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10451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105696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76908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230426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423481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50667211"/>
                  </a:ext>
                </a:extLst>
              </a:tr>
              <a:tr h="243468">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5118</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10445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124442</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224034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364039</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7043049"/>
                  </a:ext>
                </a:extLst>
              </a:tr>
            </a:tbl>
          </a:graphicData>
        </a:graphic>
      </p:graphicFrame>
      <p:graphicFrame>
        <p:nvGraphicFramePr>
          <p:cNvPr id="4" name="Table 3">
            <a:extLst>
              <a:ext uri="{FF2B5EF4-FFF2-40B4-BE49-F238E27FC236}">
                <a16:creationId xmlns:a16="http://schemas.microsoft.com/office/drawing/2014/main" id="{072D42DF-CEE0-4C9E-87F2-DBA2E61EC6A9}"/>
              </a:ext>
            </a:extLst>
          </p:cNvPr>
          <p:cNvGraphicFramePr>
            <a:graphicFrameLocks noGrp="1"/>
          </p:cNvGraphicFramePr>
          <p:nvPr>
            <p:extLst>
              <p:ext uri="{D42A27DB-BD31-4B8C-83A1-F6EECF244321}">
                <p14:modId xmlns:p14="http://schemas.microsoft.com/office/powerpoint/2010/main" val="3955468968"/>
              </p:ext>
            </p:extLst>
          </p:nvPr>
        </p:nvGraphicFramePr>
        <p:xfrm>
          <a:off x="6096000" y="4460848"/>
          <a:ext cx="5385733" cy="1325561"/>
        </p:xfrm>
        <a:graphic>
          <a:graphicData uri="http://schemas.openxmlformats.org/drawingml/2006/table">
            <a:tbl>
              <a:tblPr firstRow="1" firstCol="1" bandRow="1"/>
              <a:tblGrid>
                <a:gridCol w="836634">
                  <a:extLst>
                    <a:ext uri="{9D8B030D-6E8A-4147-A177-3AD203B41FA5}">
                      <a16:colId xmlns:a16="http://schemas.microsoft.com/office/drawing/2014/main" val="3324760294"/>
                    </a:ext>
                  </a:extLst>
                </a:gridCol>
                <a:gridCol w="650731">
                  <a:extLst>
                    <a:ext uri="{9D8B030D-6E8A-4147-A177-3AD203B41FA5}">
                      <a16:colId xmlns:a16="http://schemas.microsoft.com/office/drawing/2014/main" val="1949107515"/>
                    </a:ext>
                  </a:extLst>
                </a:gridCol>
                <a:gridCol w="974592">
                  <a:extLst>
                    <a:ext uri="{9D8B030D-6E8A-4147-A177-3AD203B41FA5}">
                      <a16:colId xmlns:a16="http://schemas.microsoft.com/office/drawing/2014/main" val="1668424820"/>
                    </a:ext>
                  </a:extLst>
                </a:gridCol>
                <a:gridCol w="974592">
                  <a:extLst>
                    <a:ext uri="{9D8B030D-6E8A-4147-A177-3AD203B41FA5}">
                      <a16:colId xmlns:a16="http://schemas.microsoft.com/office/drawing/2014/main" val="2185927803"/>
                    </a:ext>
                  </a:extLst>
                </a:gridCol>
                <a:gridCol w="974592">
                  <a:extLst>
                    <a:ext uri="{9D8B030D-6E8A-4147-A177-3AD203B41FA5}">
                      <a16:colId xmlns:a16="http://schemas.microsoft.com/office/drawing/2014/main" val="1326379617"/>
                    </a:ext>
                  </a:extLst>
                </a:gridCol>
                <a:gridCol w="974592">
                  <a:extLst>
                    <a:ext uri="{9D8B030D-6E8A-4147-A177-3AD203B41FA5}">
                      <a16:colId xmlns:a16="http://schemas.microsoft.com/office/drawing/2014/main" val="4287725263"/>
                    </a:ext>
                  </a:extLst>
                </a:gridCol>
              </a:tblGrid>
              <a:tr h="193149">
                <a:tc>
                  <a:txBody>
                    <a:bodyPr/>
                    <a:lstStyle/>
                    <a:p>
                      <a:pPr marL="0" marR="0">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HOPPER</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GPU Jobs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l">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CPU Jobs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l">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5193397"/>
                  </a:ext>
                </a:extLst>
              </a:tr>
              <a:tr h="559999">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Year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multi-core </a:t>
                      </a:r>
                      <a:r>
                        <a:rPr lang="en-US" sz="1100" b="1"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gpu</a:t>
                      </a: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single-core </a:t>
                      </a:r>
                      <a:r>
                        <a:rPr lang="en-US" sz="1100" b="1"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gpu</a:t>
                      </a: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multi-core </a:t>
                      </a:r>
                      <a:r>
                        <a:rPr lang="en-US" sz="1100" b="1"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cpu</a:t>
                      </a: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single-core </a:t>
                      </a:r>
                      <a:r>
                        <a:rPr lang="en-US" sz="1100" b="1"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cpu</a:t>
                      </a: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6356766"/>
                  </a:ext>
                </a:extLst>
              </a:tr>
              <a:tr h="193149">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2020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9578891"/>
                  </a:ext>
                </a:extLst>
              </a:tr>
              <a:tr h="186115">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1750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2233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105627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68480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178097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8759163"/>
                  </a:ext>
                </a:extLst>
              </a:tr>
              <a:tr h="193149">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114249</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33938</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512936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517884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1179007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0608400"/>
                  </a:ext>
                </a:extLst>
              </a:tr>
            </a:tbl>
          </a:graphicData>
        </a:graphic>
      </p:graphicFrame>
    </p:spTree>
    <p:extLst>
      <p:ext uri="{BB962C8B-B14F-4D97-AF65-F5344CB8AC3E}">
        <p14:creationId xmlns:p14="http://schemas.microsoft.com/office/powerpoint/2010/main" val="1729879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C1E1C-E743-431D-93E2-3C81D93BBBF3}"/>
              </a:ext>
            </a:extLst>
          </p:cNvPr>
          <p:cNvSpPr>
            <a:spLocks noGrp="1"/>
          </p:cNvSpPr>
          <p:nvPr>
            <p:ph type="title"/>
          </p:nvPr>
        </p:nvSpPr>
        <p:spPr/>
        <p:txBody>
          <a:bodyPr/>
          <a:lstStyle/>
          <a:p>
            <a:r>
              <a:rPr lang="en-US"/>
              <a:t>Jobs Submitted by School/Colleges</a:t>
            </a:r>
          </a:p>
        </p:txBody>
      </p:sp>
      <p:sp>
        <p:nvSpPr>
          <p:cNvPr id="3" name="Content Placeholder 2">
            <a:extLst>
              <a:ext uri="{FF2B5EF4-FFF2-40B4-BE49-F238E27FC236}">
                <a16:creationId xmlns:a16="http://schemas.microsoft.com/office/drawing/2014/main" id="{B4F2E44F-3F58-4315-BEF7-050D5155F49D}"/>
              </a:ext>
            </a:extLst>
          </p:cNvPr>
          <p:cNvSpPr>
            <a:spLocks noGrp="1"/>
          </p:cNvSpPr>
          <p:nvPr>
            <p:ph idx="1"/>
          </p:nvPr>
        </p:nvSpPr>
        <p:spPr/>
        <p:txBody>
          <a:bodyPr/>
          <a:lstStyle/>
          <a:p>
            <a:r>
              <a:rPr lang="en-US"/>
              <a:t>In the following tables and figures, we have the number of jobs submitted broken down by originating school/college. </a:t>
            </a:r>
          </a:p>
          <a:p>
            <a:r>
              <a:rPr lang="en-US"/>
              <a:t>The jobs submissions come from a variety of schools, including  the College of Science, College of Engineering and Computing, the School of Business (SOM) and SCHAR, and their usage changes from year to year.</a:t>
            </a:r>
          </a:p>
          <a:p>
            <a:r>
              <a:rPr lang="en-US"/>
              <a:t>On Hopper, usage includes non-traditional schools such as LAW and VPA.</a:t>
            </a:r>
          </a:p>
          <a:p>
            <a:r>
              <a:rPr lang="en-US"/>
              <a:t>The CEC and COS consistently have the most jobs submitted on both Hopper and ARGO across the 3 years.</a:t>
            </a:r>
          </a:p>
          <a:p>
            <a:pPr marL="0" indent="0">
              <a:buNone/>
            </a:pPr>
            <a:endParaRPr lang="en-US"/>
          </a:p>
          <a:p>
            <a:endParaRPr lang="en-US"/>
          </a:p>
        </p:txBody>
      </p:sp>
    </p:spTree>
    <p:extLst>
      <p:ext uri="{BB962C8B-B14F-4D97-AF65-F5344CB8AC3E}">
        <p14:creationId xmlns:p14="http://schemas.microsoft.com/office/powerpoint/2010/main" val="4055058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23B03-80EA-4480-9455-C65EB7F59643}"/>
              </a:ext>
            </a:extLst>
          </p:cNvPr>
          <p:cNvSpPr>
            <a:spLocks noGrp="1"/>
          </p:cNvSpPr>
          <p:nvPr>
            <p:ph type="title"/>
          </p:nvPr>
        </p:nvSpPr>
        <p:spPr/>
        <p:txBody>
          <a:bodyPr/>
          <a:lstStyle/>
          <a:p>
            <a:r>
              <a:rPr lang="en-US"/>
              <a:t>All Jobs Submitted by School/College: ARGO</a:t>
            </a:r>
          </a:p>
        </p:txBody>
      </p:sp>
      <p:graphicFrame>
        <p:nvGraphicFramePr>
          <p:cNvPr id="5" name="Table 4">
            <a:extLst>
              <a:ext uri="{FF2B5EF4-FFF2-40B4-BE49-F238E27FC236}">
                <a16:creationId xmlns:a16="http://schemas.microsoft.com/office/drawing/2014/main" id="{C793594B-7253-4BD8-8BF6-EF9A003CFFB0}"/>
              </a:ext>
            </a:extLst>
          </p:cNvPr>
          <p:cNvGraphicFramePr>
            <a:graphicFrameLocks noGrp="1"/>
          </p:cNvGraphicFramePr>
          <p:nvPr>
            <p:extLst>
              <p:ext uri="{D42A27DB-BD31-4B8C-83A1-F6EECF244321}">
                <p14:modId xmlns:p14="http://schemas.microsoft.com/office/powerpoint/2010/main" val="1560661208"/>
              </p:ext>
            </p:extLst>
          </p:nvPr>
        </p:nvGraphicFramePr>
        <p:xfrm>
          <a:off x="722786" y="2011574"/>
          <a:ext cx="2181837" cy="1463040"/>
        </p:xfrm>
        <a:graphic>
          <a:graphicData uri="http://schemas.openxmlformats.org/drawingml/2006/table">
            <a:tbl>
              <a:tblPr firstRow="1" firstCol="1" bandRow="1"/>
              <a:tblGrid>
                <a:gridCol w="665998">
                  <a:extLst>
                    <a:ext uri="{9D8B030D-6E8A-4147-A177-3AD203B41FA5}">
                      <a16:colId xmlns:a16="http://schemas.microsoft.com/office/drawing/2014/main" val="1532539100"/>
                    </a:ext>
                  </a:extLst>
                </a:gridCol>
                <a:gridCol w="1515839">
                  <a:extLst>
                    <a:ext uri="{9D8B030D-6E8A-4147-A177-3AD203B41FA5}">
                      <a16:colId xmlns:a16="http://schemas.microsoft.com/office/drawing/2014/main" val="3604397412"/>
                    </a:ext>
                  </a:extLst>
                </a:gridCol>
              </a:tblGrid>
              <a:tr h="182880">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2020 All ARGO Submits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2584105"/>
                  </a:ext>
                </a:extLst>
              </a:tr>
              <a:tr h="182880">
                <a:tc>
                  <a:txBody>
                    <a:bodyPr/>
                    <a:lstStyle/>
                    <a:p>
                      <a:pPr algn="r" rtl="0" fontAlgn="ctr"/>
                      <a:r>
                        <a:rPr lang="en-US" sz="1100" b="0" i="0" u="none" strike="noStrike">
                          <a:solidFill>
                            <a:srgbClr val="000000"/>
                          </a:solidFill>
                          <a:effectLst/>
                          <a:latin typeface="Calibri" panose="020F0502020204030204" pitchFamily="34" charset="0"/>
                        </a:rPr>
                        <a:t>CEC</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2806615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5641222"/>
                  </a:ext>
                </a:extLst>
              </a:tr>
              <a:tr h="182880">
                <a:tc>
                  <a:txBody>
                    <a:bodyPr/>
                    <a:lstStyle/>
                    <a:p>
                      <a:pPr algn="r" rtl="0" fontAlgn="ctr"/>
                      <a:r>
                        <a:rPr lang="en-US" sz="1100" b="0" i="0" u="none" strike="noStrike">
                          <a:solidFill>
                            <a:srgbClr val="000000"/>
                          </a:solidFill>
                          <a:effectLst/>
                          <a:latin typeface="Calibri" panose="020F0502020204030204" pitchFamily="34" charset="0"/>
                        </a:rPr>
                        <a:t>CHSS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4757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6714520"/>
                  </a:ext>
                </a:extLst>
              </a:tr>
              <a:tr h="182880">
                <a:tc>
                  <a:txBody>
                    <a:bodyPr/>
                    <a:lstStyle/>
                    <a:p>
                      <a:pPr algn="r" rtl="0" fontAlgn="ctr"/>
                      <a:r>
                        <a:rPr lang="en-US" sz="1100" b="0" i="0" u="none" strike="noStrike">
                          <a:solidFill>
                            <a:srgbClr val="000000"/>
                          </a:solidFill>
                          <a:effectLst/>
                          <a:latin typeface="Calibri" panose="020F0502020204030204" pitchFamily="34" charset="0"/>
                        </a:rPr>
                        <a:t>COS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268607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2971655"/>
                  </a:ext>
                </a:extLst>
              </a:tr>
              <a:tr h="182880">
                <a:tc>
                  <a:txBody>
                    <a:bodyPr/>
                    <a:lstStyle/>
                    <a:p>
                      <a:pPr algn="r" rtl="0" fontAlgn="ctr"/>
                      <a:r>
                        <a:rPr lang="en-US" sz="1100" b="0" i="0" u="none" strike="noStrike">
                          <a:solidFill>
                            <a:srgbClr val="000000"/>
                          </a:solidFill>
                          <a:effectLst/>
                          <a:latin typeface="Calibri" panose="020F0502020204030204" pitchFamily="34" charset="0"/>
                        </a:rPr>
                        <a:t>ORC</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859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3895338"/>
                  </a:ext>
                </a:extLst>
              </a:tr>
              <a:tr h="182880">
                <a:tc>
                  <a:txBody>
                    <a:bodyPr/>
                    <a:lstStyle/>
                    <a:p>
                      <a:pPr algn="r" rtl="0" fontAlgn="ctr"/>
                      <a:r>
                        <a:rPr lang="en-US" sz="1100" b="0" i="0" u="none" strike="noStrike">
                          <a:solidFill>
                            <a:srgbClr val="000000"/>
                          </a:solidFill>
                          <a:effectLst/>
                          <a:latin typeface="Calibri" panose="020F0502020204030204" pitchFamily="34" charset="0"/>
                        </a:rPr>
                        <a:t>SCHAR</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46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06777792"/>
                  </a:ext>
                </a:extLst>
              </a:tr>
              <a:tr h="182880">
                <a:tc>
                  <a:txBody>
                    <a:bodyPr/>
                    <a:lstStyle/>
                    <a:p>
                      <a:pPr algn="r" rtl="0" fontAlgn="ctr"/>
                      <a:r>
                        <a:rPr lang="en-US" sz="1100" b="0" i="0" u="none" strike="noStrike">
                          <a:solidFill>
                            <a:srgbClr val="000000"/>
                          </a:solidFill>
                          <a:effectLst/>
                          <a:latin typeface="Calibri" panose="020F0502020204030204" pitchFamily="34" charset="0"/>
                        </a:rPr>
                        <a:t>SOM</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108</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5311223"/>
                  </a:ext>
                </a:extLst>
              </a:tr>
              <a:tr h="182880">
                <a:tc>
                  <a:txBody>
                    <a:bodyPr/>
                    <a:lstStyle/>
                    <a:p>
                      <a:pPr algn="r" rtl="0" fontAlgn="ctr"/>
                      <a:r>
                        <a:rPr lang="en-US" sz="1100" b="1" i="0" u="none" strike="noStrike">
                          <a:solidFill>
                            <a:srgbClr val="000000"/>
                          </a:solidFill>
                          <a:effectLst/>
                          <a:latin typeface="Calibri" panose="020F0502020204030204" pitchFamily="34" charset="0"/>
                        </a:rPr>
                        <a:t>TOTAL</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3080992</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8242110"/>
                  </a:ext>
                </a:extLst>
              </a:tr>
            </a:tbl>
          </a:graphicData>
        </a:graphic>
      </p:graphicFrame>
      <p:graphicFrame>
        <p:nvGraphicFramePr>
          <p:cNvPr id="11" name="Table 10">
            <a:extLst>
              <a:ext uri="{FF2B5EF4-FFF2-40B4-BE49-F238E27FC236}">
                <a16:creationId xmlns:a16="http://schemas.microsoft.com/office/drawing/2014/main" id="{6B8BAA2C-17A0-4D43-947E-A94AF36FA4EB}"/>
              </a:ext>
            </a:extLst>
          </p:cNvPr>
          <p:cNvGraphicFramePr>
            <a:graphicFrameLocks noGrp="1"/>
          </p:cNvGraphicFramePr>
          <p:nvPr>
            <p:extLst>
              <p:ext uri="{D42A27DB-BD31-4B8C-83A1-F6EECF244321}">
                <p14:modId xmlns:p14="http://schemas.microsoft.com/office/powerpoint/2010/main" val="4287054289"/>
              </p:ext>
            </p:extLst>
          </p:nvPr>
        </p:nvGraphicFramePr>
        <p:xfrm>
          <a:off x="4423623" y="2006669"/>
          <a:ext cx="2111375" cy="1475938"/>
        </p:xfrm>
        <a:graphic>
          <a:graphicData uri="http://schemas.openxmlformats.org/drawingml/2006/table">
            <a:tbl>
              <a:tblPr firstRow="1" firstCol="1" bandRow="1"/>
              <a:tblGrid>
                <a:gridCol w="609600">
                  <a:extLst>
                    <a:ext uri="{9D8B030D-6E8A-4147-A177-3AD203B41FA5}">
                      <a16:colId xmlns:a16="http://schemas.microsoft.com/office/drawing/2014/main" val="3200058308"/>
                    </a:ext>
                  </a:extLst>
                </a:gridCol>
                <a:gridCol w="1501775">
                  <a:extLst>
                    <a:ext uri="{9D8B030D-6E8A-4147-A177-3AD203B41FA5}">
                      <a16:colId xmlns:a16="http://schemas.microsoft.com/office/drawing/2014/main" val="2406376821"/>
                    </a:ext>
                  </a:extLst>
                </a:gridCol>
              </a:tblGrid>
              <a:tr h="182880">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2021 All ARGO Submits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7830839"/>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201139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3495835"/>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CHSS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4608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0733069"/>
                  </a:ext>
                </a:extLst>
              </a:tr>
              <a:tr h="195778">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218049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32296698"/>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ORC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8311722"/>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SCHAR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5868706"/>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SOM</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8656295"/>
                  </a:ext>
                </a:extLst>
              </a:tr>
              <a:tr h="182880">
                <a:tc>
                  <a:txBody>
                    <a:bodyPr/>
                    <a:lstStyle/>
                    <a:p>
                      <a:pPr marL="0" marR="0" algn="r">
                        <a:lnSpc>
                          <a:spcPct val="107000"/>
                        </a:lnSpc>
                        <a:spcBef>
                          <a:spcPts val="0"/>
                        </a:spcBef>
                        <a:spcAft>
                          <a:spcPts val="0"/>
                        </a:spcAft>
                      </a:pPr>
                      <a:r>
                        <a:rPr lang="en-US" sz="1100" b="1">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423906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8934361"/>
                  </a:ext>
                </a:extLst>
              </a:tr>
            </a:tbl>
          </a:graphicData>
        </a:graphic>
      </p:graphicFrame>
      <p:graphicFrame>
        <p:nvGraphicFramePr>
          <p:cNvPr id="12" name="Table 11">
            <a:extLst>
              <a:ext uri="{FF2B5EF4-FFF2-40B4-BE49-F238E27FC236}">
                <a16:creationId xmlns:a16="http://schemas.microsoft.com/office/drawing/2014/main" id="{69700ADB-58FE-439B-A063-37E17E55754E}"/>
              </a:ext>
            </a:extLst>
          </p:cNvPr>
          <p:cNvGraphicFramePr>
            <a:graphicFrameLocks noGrp="1"/>
          </p:cNvGraphicFramePr>
          <p:nvPr>
            <p:extLst>
              <p:ext uri="{D42A27DB-BD31-4B8C-83A1-F6EECF244321}">
                <p14:modId xmlns:p14="http://schemas.microsoft.com/office/powerpoint/2010/main" val="1540587549"/>
              </p:ext>
            </p:extLst>
          </p:nvPr>
        </p:nvGraphicFramePr>
        <p:xfrm>
          <a:off x="8132675" y="2155142"/>
          <a:ext cx="2124075" cy="1280160"/>
        </p:xfrm>
        <a:graphic>
          <a:graphicData uri="http://schemas.openxmlformats.org/drawingml/2006/table">
            <a:tbl>
              <a:tblPr firstRow="1" firstCol="1" bandRow="1"/>
              <a:tblGrid>
                <a:gridCol w="609600">
                  <a:extLst>
                    <a:ext uri="{9D8B030D-6E8A-4147-A177-3AD203B41FA5}">
                      <a16:colId xmlns:a16="http://schemas.microsoft.com/office/drawing/2014/main" val="1894957935"/>
                    </a:ext>
                  </a:extLst>
                </a:gridCol>
                <a:gridCol w="1514475">
                  <a:extLst>
                    <a:ext uri="{9D8B030D-6E8A-4147-A177-3AD203B41FA5}">
                      <a16:colId xmlns:a16="http://schemas.microsoft.com/office/drawing/2014/main" val="3196871701"/>
                    </a:ext>
                  </a:extLst>
                </a:gridCol>
              </a:tblGrid>
              <a:tr h="182880">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2022 All ARGO Submits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36523316"/>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239489</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98003"/>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CHHS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2797793"/>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CHSS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7890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7635960"/>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116480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8482492"/>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ORC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98</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6176730"/>
                  </a:ext>
                </a:extLst>
              </a:tr>
              <a:tr h="182880">
                <a:tc>
                  <a:txBody>
                    <a:bodyPr/>
                    <a:lstStyle/>
                    <a:p>
                      <a:pPr marL="0" marR="0" algn="r">
                        <a:lnSpc>
                          <a:spcPct val="107000"/>
                        </a:lnSpc>
                        <a:spcBef>
                          <a:spcPts val="0"/>
                        </a:spcBef>
                        <a:spcAft>
                          <a:spcPts val="0"/>
                        </a:spcAft>
                      </a:pPr>
                      <a:r>
                        <a:rPr lang="en-US" sz="1100" b="1">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364032</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3890100"/>
                  </a:ext>
                </a:extLst>
              </a:tr>
            </a:tbl>
          </a:graphicData>
        </a:graphic>
      </p:graphicFrame>
      <p:pic>
        <p:nvPicPr>
          <p:cNvPr id="2057" name="Picture 19">
            <a:extLst>
              <a:ext uri="{FF2B5EF4-FFF2-40B4-BE49-F238E27FC236}">
                <a16:creationId xmlns:a16="http://schemas.microsoft.com/office/drawing/2014/main" id="{5F0BD2C9-9A92-4964-8507-7E69F6716E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712" y="3753541"/>
            <a:ext cx="3336925" cy="222567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20">
            <a:extLst>
              <a:ext uri="{FF2B5EF4-FFF2-40B4-BE49-F238E27FC236}">
                <a16:creationId xmlns:a16="http://schemas.microsoft.com/office/drawing/2014/main" id="{D4B89119-0C6E-49D4-9B64-3BC7F559F6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7246" y="3716877"/>
            <a:ext cx="3513137" cy="234632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0">
            <a:extLst>
              <a:ext uri="{FF2B5EF4-FFF2-40B4-BE49-F238E27FC236}">
                <a16:creationId xmlns:a16="http://schemas.microsoft.com/office/drawing/2014/main" id="{0F126079-4282-4142-AFAF-0F4A4FED59F2}"/>
              </a:ext>
            </a:extLst>
          </p:cNvPr>
          <p:cNvSpPr>
            <a:spLocks noChangeArrowheads="1"/>
          </p:cNvSpPr>
          <p:nvPr/>
        </p:nvSpPr>
        <p:spPr bwMode="auto">
          <a:xfrm>
            <a:off x="5033963" y="3452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11">
            <a:extLst>
              <a:ext uri="{FF2B5EF4-FFF2-40B4-BE49-F238E27FC236}">
                <a16:creationId xmlns:a16="http://schemas.microsoft.com/office/drawing/2014/main" id="{38E9FB83-A6D6-4F64-9663-C76023A9CB43}"/>
              </a:ext>
            </a:extLst>
          </p:cNvPr>
          <p:cNvSpPr>
            <a:spLocks noChangeArrowheads="1"/>
          </p:cNvSpPr>
          <p:nvPr/>
        </p:nvSpPr>
        <p:spPr bwMode="auto">
          <a:xfrm>
            <a:off x="5033963" y="61356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12">
            <a:extLst>
              <a:ext uri="{FF2B5EF4-FFF2-40B4-BE49-F238E27FC236}">
                <a16:creationId xmlns:a16="http://schemas.microsoft.com/office/drawing/2014/main" id="{2409C47F-A0B7-446C-92F9-E5373DF2FE33}"/>
              </a:ext>
            </a:extLst>
          </p:cNvPr>
          <p:cNvSpPr>
            <a:spLocks noChangeArrowheads="1"/>
          </p:cNvSpPr>
          <p:nvPr/>
        </p:nvSpPr>
        <p:spPr bwMode="auto">
          <a:xfrm>
            <a:off x="5033963" y="89392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8" name="Picture 7">
            <a:extLst>
              <a:ext uri="{FF2B5EF4-FFF2-40B4-BE49-F238E27FC236}">
                <a16:creationId xmlns:a16="http://schemas.microsoft.com/office/drawing/2014/main" id="{2EF041DA-BF8B-4021-B5B2-F8BEB1E7A0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00991" y="3681414"/>
            <a:ext cx="3528971" cy="2352648"/>
          </a:xfrm>
          <a:prstGeom prst="rect">
            <a:avLst/>
          </a:prstGeom>
        </p:spPr>
      </p:pic>
    </p:spTree>
    <p:extLst>
      <p:ext uri="{BB962C8B-B14F-4D97-AF65-F5344CB8AC3E}">
        <p14:creationId xmlns:p14="http://schemas.microsoft.com/office/powerpoint/2010/main" val="4003773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CD485-7E76-4D46-B0CC-9EE9896676D7}"/>
              </a:ext>
            </a:extLst>
          </p:cNvPr>
          <p:cNvSpPr>
            <a:spLocks noGrp="1"/>
          </p:cNvSpPr>
          <p:nvPr>
            <p:ph type="title"/>
          </p:nvPr>
        </p:nvSpPr>
        <p:spPr/>
        <p:txBody>
          <a:bodyPr/>
          <a:lstStyle/>
          <a:p>
            <a:r>
              <a:rPr lang="en-US"/>
              <a:t>All Jobs Submitted by School/College: Hopper</a:t>
            </a:r>
          </a:p>
        </p:txBody>
      </p:sp>
      <p:graphicFrame>
        <p:nvGraphicFramePr>
          <p:cNvPr id="9" name="Table 8">
            <a:extLst>
              <a:ext uri="{FF2B5EF4-FFF2-40B4-BE49-F238E27FC236}">
                <a16:creationId xmlns:a16="http://schemas.microsoft.com/office/drawing/2014/main" id="{470558EF-0BE1-4ADB-BC11-9F90A19CD211}"/>
              </a:ext>
            </a:extLst>
          </p:cNvPr>
          <p:cNvGraphicFramePr>
            <a:graphicFrameLocks noGrp="1"/>
          </p:cNvGraphicFramePr>
          <p:nvPr>
            <p:extLst>
              <p:ext uri="{D42A27DB-BD31-4B8C-83A1-F6EECF244321}">
                <p14:modId xmlns:p14="http://schemas.microsoft.com/office/powerpoint/2010/main" val="1387120798"/>
              </p:ext>
            </p:extLst>
          </p:nvPr>
        </p:nvGraphicFramePr>
        <p:xfrm>
          <a:off x="1847514" y="1714603"/>
          <a:ext cx="2397315" cy="1280160"/>
        </p:xfrm>
        <a:graphic>
          <a:graphicData uri="http://schemas.openxmlformats.org/drawingml/2006/table">
            <a:tbl>
              <a:tblPr firstRow="1" firstCol="1" bandRow="1"/>
              <a:tblGrid>
                <a:gridCol w="711413">
                  <a:extLst>
                    <a:ext uri="{9D8B030D-6E8A-4147-A177-3AD203B41FA5}">
                      <a16:colId xmlns:a16="http://schemas.microsoft.com/office/drawing/2014/main" val="2289613914"/>
                    </a:ext>
                  </a:extLst>
                </a:gridCol>
                <a:gridCol w="1685902">
                  <a:extLst>
                    <a:ext uri="{9D8B030D-6E8A-4147-A177-3AD203B41FA5}">
                      <a16:colId xmlns:a16="http://schemas.microsoft.com/office/drawing/2014/main" val="1937416983"/>
                    </a:ext>
                  </a:extLst>
                </a:gridCol>
              </a:tblGrid>
              <a:tr h="182880">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2021 All Hopper Submits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5133097"/>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93440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4716001"/>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CHSS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827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4339241"/>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79077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0177052"/>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ORC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4541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2722900"/>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SOM</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9611221"/>
                  </a:ext>
                </a:extLst>
              </a:tr>
              <a:tr h="182880">
                <a:tc>
                  <a:txBody>
                    <a:bodyPr/>
                    <a:lstStyle/>
                    <a:p>
                      <a:pPr marL="0" marR="0" algn="r">
                        <a:lnSpc>
                          <a:spcPct val="107000"/>
                        </a:lnSpc>
                        <a:spcBef>
                          <a:spcPts val="0"/>
                        </a:spcBef>
                        <a:spcAft>
                          <a:spcPts val="0"/>
                        </a:spcAft>
                      </a:pPr>
                      <a:r>
                        <a:rPr lang="en-US" sz="1100" b="1">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177892</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1563006"/>
                  </a:ext>
                </a:extLst>
              </a:tr>
            </a:tbl>
          </a:graphicData>
        </a:graphic>
      </p:graphicFrame>
      <p:graphicFrame>
        <p:nvGraphicFramePr>
          <p:cNvPr id="10" name="Table 9">
            <a:extLst>
              <a:ext uri="{FF2B5EF4-FFF2-40B4-BE49-F238E27FC236}">
                <a16:creationId xmlns:a16="http://schemas.microsoft.com/office/drawing/2014/main" id="{45C2E09F-FF5B-4D2B-A7B9-8B1E9D16E823}"/>
              </a:ext>
            </a:extLst>
          </p:cNvPr>
          <p:cNvGraphicFramePr>
            <a:graphicFrameLocks noGrp="1"/>
          </p:cNvGraphicFramePr>
          <p:nvPr>
            <p:extLst>
              <p:ext uri="{D42A27DB-BD31-4B8C-83A1-F6EECF244321}">
                <p14:modId xmlns:p14="http://schemas.microsoft.com/office/powerpoint/2010/main" val="2485284043"/>
              </p:ext>
            </p:extLst>
          </p:nvPr>
        </p:nvGraphicFramePr>
        <p:xfrm>
          <a:off x="1847514" y="4202395"/>
          <a:ext cx="2397315" cy="2011680"/>
        </p:xfrm>
        <a:graphic>
          <a:graphicData uri="http://schemas.openxmlformats.org/drawingml/2006/table">
            <a:tbl>
              <a:tblPr firstRow="1" firstCol="1" bandRow="1"/>
              <a:tblGrid>
                <a:gridCol w="711413">
                  <a:extLst>
                    <a:ext uri="{9D8B030D-6E8A-4147-A177-3AD203B41FA5}">
                      <a16:colId xmlns:a16="http://schemas.microsoft.com/office/drawing/2014/main" val="3425990700"/>
                    </a:ext>
                  </a:extLst>
                </a:gridCol>
                <a:gridCol w="1685902">
                  <a:extLst>
                    <a:ext uri="{9D8B030D-6E8A-4147-A177-3AD203B41FA5}">
                      <a16:colId xmlns:a16="http://schemas.microsoft.com/office/drawing/2014/main" val="3300876922"/>
                    </a:ext>
                  </a:extLst>
                </a:gridCol>
              </a:tblGrid>
              <a:tr h="182880">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2022 All Hopper Submits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2240756"/>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772413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37402010"/>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CHHS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15621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50297015"/>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CHSS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8007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64334334"/>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376035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51324161"/>
                  </a:ext>
                </a:extLst>
              </a:tr>
              <a:tr h="182880">
                <a:tc>
                  <a:txBody>
                    <a:bodyPr/>
                    <a:lstStyle/>
                    <a:p>
                      <a:pPr marL="0" marR="0" algn="r">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ITS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4917116"/>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LAW</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246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5069128"/>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ORC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6065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2745499"/>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SOM</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591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9806236"/>
                  </a:ext>
                </a:extLst>
              </a:tr>
              <a:tr h="182880">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VPA</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1469446"/>
                  </a:ext>
                </a:extLst>
              </a:tr>
              <a:tr h="182880">
                <a:tc>
                  <a:txBody>
                    <a:bodyPr/>
                    <a:lstStyle/>
                    <a:p>
                      <a:pPr marL="0" marR="0" algn="r">
                        <a:lnSpc>
                          <a:spcPct val="107000"/>
                        </a:lnSpc>
                        <a:spcBef>
                          <a:spcPts val="0"/>
                        </a:spcBef>
                        <a:spcAft>
                          <a:spcPts val="0"/>
                        </a:spcAft>
                      </a:pPr>
                      <a:r>
                        <a:rPr lang="en-US" sz="1100" b="1">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1179007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5346565"/>
                  </a:ext>
                </a:extLst>
              </a:tr>
            </a:tbl>
          </a:graphicData>
        </a:graphic>
      </p:graphicFrame>
      <p:pic>
        <p:nvPicPr>
          <p:cNvPr id="4103" name="Picture 23">
            <a:extLst>
              <a:ext uri="{FF2B5EF4-FFF2-40B4-BE49-F238E27FC236}">
                <a16:creationId xmlns:a16="http://schemas.microsoft.com/office/drawing/2014/main" id="{65B1B47F-F981-478A-B545-73738507F1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9697" y="1468758"/>
            <a:ext cx="3513137" cy="234632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22">
            <a:extLst>
              <a:ext uri="{FF2B5EF4-FFF2-40B4-BE49-F238E27FC236}">
                <a16:creationId xmlns:a16="http://schemas.microsoft.com/office/drawing/2014/main" id="{A21B96B3-F3F7-4A8E-8878-AFF7E518F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966522"/>
            <a:ext cx="3586834" cy="2394472"/>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8">
            <a:extLst>
              <a:ext uri="{FF2B5EF4-FFF2-40B4-BE49-F238E27FC236}">
                <a16:creationId xmlns:a16="http://schemas.microsoft.com/office/drawing/2014/main" id="{77259EDA-F0A1-49FF-8769-41A9F86CE319}"/>
              </a:ext>
            </a:extLst>
          </p:cNvPr>
          <p:cNvSpPr>
            <a:spLocks noChangeArrowheads="1"/>
          </p:cNvSpPr>
          <p:nvPr/>
        </p:nvSpPr>
        <p:spPr bwMode="auto">
          <a:xfrm>
            <a:off x="7803699" y="210438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5392"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a:ln>
                <a:noFill/>
              </a:ln>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Rectangle 9">
            <a:extLst>
              <a:ext uri="{FF2B5EF4-FFF2-40B4-BE49-F238E27FC236}">
                <a16:creationId xmlns:a16="http://schemas.microsoft.com/office/drawing/2014/main" id="{2487321F-0965-4723-B5A6-85BD7BBFA35C}"/>
              </a:ext>
            </a:extLst>
          </p:cNvPr>
          <p:cNvSpPr>
            <a:spLocks noChangeArrowheads="1"/>
          </p:cNvSpPr>
          <p:nvPr/>
        </p:nvSpPr>
        <p:spPr bwMode="auto">
          <a:xfrm>
            <a:off x="7803699" y="490791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10">
            <a:extLst>
              <a:ext uri="{FF2B5EF4-FFF2-40B4-BE49-F238E27FC236}">
                <a16:creationId xmlns:a16="http://schemas.microsoft.com/office/drawing/2014/main" id="{0E26218B-08DE-436B-B8A6-102519773623}"/>
              </a:ext>
            </a:extLst>
          </p:cNvPr>
          <p:cNvSpPr>
            <a:spLocks noChangeArrowheads="1"/>
          </p:cNvSpPr>
          <p:nvPr/>
        </p:nvSpPr>
        <p:spPr bwMode="auto">
          <a:xfrm>
            <a:off x="7803699" y="770508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957546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C1E1C-E743-431D-93E2-3C81D93BBBF3}"/>
              </a:ext>
            </a:extLst>
          </p:cNvPr>
          <p:cNvSpPr>
            <a:spLocks noGrp="1"/>
          </p:cNvSpPr>
          <p:nvPr>
            <p:ph type="title"/>
          </p:nvPr>
        </p:nvSpPr>
        <p:spPr/>
        <p:txBody>
          <a:bodyPr/>
          <a:lstStyle/>
          <a:p>
            <a:r>
              <a:rPr lang="en-US"/>
              <a:t>Jobs Exit States</a:t>
            </a:r>
          </a:p>
        </p:txBody>
      </p:sp>
      <p:sp>
        <p:nvSpPr>
          <p:cNvPr id="3" name="Content Placeholder 2">
            <a:extLst>
              <a:ext uri="{FF2B5EF4-FFF2-40B4-BE49-F238E27FC236}">
                <a16:creationId xmlns:a16="http://schemas.microsoft.com/office/drawing/2014/main" id="{B4F2E44F-3F58-4315-BEF7-050D5155F49D}"/>
              </a:ext>
            </a:extLst>
          </p:cNvPr>
          <p:cNvSpPr>
            <a:spLocks noGrp="1"/>
          </p:cNvSpPr>
          <p:nvPr>
            <p:ph idx="1"/>
          </p:nvPr>
        </p:nvSpPr>
        <p:spPr/>
        <p:txBody>
          <a:bodyPr>
            <a:normAutofit fontScale="77500" lnSpcReduction="20000"/>
          </a:bodyPr>
          <a:lstStyle/>
          <a:p>
            <a:r>
              <a:rPr lang="en-US"/>
              <a:t>Once submitted, jobs on the cluster can have various exit states:</a:t>
            </a:r>
          </a:p>
          <a:p>
            <a:pPr lvl="1"/>
            <a:r>
              <a:rPr lang="en-US"/>
              <a:t>COMPLETE – they run to completion</a:t>
            </a:r>
          </a:p>
          <a:p>
            <a:pPr lvl="1"/>
            <a:r>
              <a:rPr lang="en-US"/>
              <a:t>FAILED – They run for some time and then fail to complete successfully</a:t>
            </a:r>
          </a:p>
          <a:p>
            <a:pPr lvl="1"/>
            <a:r>
              <a:rPr lang="en-US"/>
              <a:t>CANCELLED – they get cancelled before they either COMPLETE or FAIL</a:t>
            </a:r>
          </a:p>
          <a:p>
            <a:pPr lvl="1"/>
            <a:r>
              <a:rPr lang="en-US"/>
              <a:t>TIMEOUT – they run but hit the set time limit so do not complete</a:t>
            </a:r>
          </a:p>
          <a:p>
            <a:pPr lvl="1"/>
            <a:r>
              <a:rPr lang="en-US"/>
              <a:t>OUT_OF_MEMORY – they fail because not enough memory was set</a:t>
            </a:r>
          </a:p>
          <a:p>
            <a:pPr lvl="1"/>
            <a:r>
              <a:rPr lang="en-US"/>
              <a:t>NODE_FAIL – the node itself crashes for some reason</a:t>
            </a:r>
          </a:p>
          <a:p>
            <a:pPr lvl="1"/>
            <a:r>
              <a:rPr lang="en-US"/>
              <a:t>PREEMPTED – they were stopped to allow higher priority jobs</a:t>
            </a:r>
          </a:p>
          <a:p>
            <a:pPr lvl="1"/>
            <a:r>
              <a:rPr lang="en-US"/>
              <a:t>REQUEUED – they were stopped and sent back to the Queue </a:t>
            </a:r>
          </a:p>
          <a:p>
            <a:pPr lvl="1"/>
            <a:r>
              <a:rPr lang="en-US"/>
              <a:t>*We had about 20 runaway jobs (status stays ‘RUNNING’ even after they’re done and nodes are idle)</a:t>
            </a:r>
          </a:p>
          <a:p>
            <a:r>
              <a:rPr lang="en-US"/>
              <a:t>The total number of jobs run counts all jobs regardless of completion state</a:t>
            </a:r>
          </a:p>
          <a:p>
            <a:r>
              <a:rPr lang="en-US"/>
              <a:t>In the next slides, we see that the majority of jobs run to completion. Most of the jobs that do not complete – get cancelled or fail, are normally restarted.</a:t>
            </a:r>
          </a:p>
          <a:p>
            <a:pPr marL="0" indent="0">
              <a:buNone/>
            </a:pPr>
            <a:r>
              <a:rPr lang="en-US"/>
              <a:t> </a:t>
            </a:r>
          </a:p>
          <a:p>
            <a:pPr lvl="1"/>
            <a:endParaRPr lang="en-US"/>
          </a:p>
          <a:p>
            <a:pPr marL="0" indent="0">
              <a:buNone/>
            </a:pPr>
            <a:endParaRPr lang="en-US"/>
          </a:p>
          <a:p>
            <a:endParaRPr lang="en-US"/>
          </a:p>
        </p:txBody>
      </p:sp>
    </p:spTree>
    <p:extLst>
      <p:ext uri="{BB962C8B-B14F-4D97-AF65-F5344CB8AC3E}">
        <p14:creationId xmlns:p14="http://schemas.microsoft.com/office/powerpoint/2010/main" val="3795510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D4453-5E28-4FCB-8942-1EB46DBB3886}"/>
              </a:ext>
            </a:extLst>
          </p:cNvPr>
          <p:cNvSpPr>
            <a:spLocks noGrp="1"/>
          </p:cNvSpPr>
          <p:nvPr>
            <p:ph type="title"/>
          </p:nvPr>
        </p:nvSpPr>
        <p:spPr/>
        <p:txBody>
          <a:bodyPr/>
          <a:lstStyle/>
          <a:p>
            <a:r>
              <a:rPr lang="en-US"/>
              <a:t>Exit States for all Jobs on ARGO [2021, 2022]</a:t>
            </a:r>
          </a:p>
        </p:txBody>
      </p:sp>
      <p:graphicFrame>
        <p:nvGraphicFramePr>
          <p:cNvPr id="6" name="Table 5">
            <a:extLst>
              <a:ext uri="{FF2B5EF4-FFF2-40B4-BE49-F238E27FC236}">
                <a16:creationId xmlns:a16="http://schemas.microsoft.com/office/drawing/2014/main" id="{D2217A58-2108-48E5-A8AA-1AB696202688}"/>
              </a:ext>
            </a:extLst>
          </p:cNvPr>
          <p:cNvGraphicFramePr>
            <a:graphicFrameLocks noGrp="1"/>
          </p:cNvGraphicFramePr>
          <p:nvPr>
            <p:extLst>
              <p:ext uri="{D42A27DB-BD31-4B8C-83A1-F6EECF244321}">
                <p14:modId xmlns:p14="http://schemas.microsoft.com/office/powerpoint/2010/main" val="1347479543"/>
              </p:ext>
            </p:extLst>
          </p:nvPr>
        </p:nvGraphicFramePr>
        <p:xfrm>
          <a:off x="8336443" y="2340528"/>
          <a:ext cx="2896416" cy="2298584"/>
        </p:xfrm>
        <a:graphic>
          <a:graphicData uri="http://schemas.openxmlformats.org/drawingml/2006/table">
            <a:tbl>
              <a:tblPr/>
              <a:tblGrid>
                <a:gridCol w="1546630">
                  <a:extLst>
                    <a:ext uri="{9D8B030D-6E8A-4147-A177-3AD203B41FA5}">
                      <a16:colId xmlns:a16="http://schemas.microsoft.com/office/drawing/2014/main" val="3425627807"/>
                    </a:ext>
                  </a:extLst>
                </a:gridCol>
                <a:gridCol w="674893">
                  <a:extLst>
                    <a:ext uri="{9D8B030D-6E8A-4147-A177-3AD203B41FA5}">
                      <a16:colId xmlns:a16="http://schemas.microsoft.com/office/drawing/2014/main" val="4293748138"/>
                    </a:ext>
                  </a:extLst>
                </a:gridCol>
                <a:gridCol w="674893">
                  <a:extLst>
                    <a:ext uri="{9D8B030D-6E8A-4147-A177-3AD203B41FA5}">
                      <a16:colId xmlns:a16="http://schemas.microsoft.com/office/drawing/2014/main" val="684768865"/>
                    </a:ext>
                  </a:extLst>
                </a:gridCol>
              </a:tblGrid>
              <a:tr h="287323">
                <a:tc>
                  <a:txBody>
                    <a:bodyPr/>
                    <a:lstStyle/>
                    <a:p>
                      <a:pPr algn="l" fontAlgn="b"/>
                      <a:r>
                        <a:rPr lang="en-US" sz="1100" b="1" i="0" u="none" strike="noStrike">
                          <a:solidFill>
                            <a:srgbClr val="000000"/>
                          </a:solidFill>
                          <a:effectLst/>
                          <a:latin typeface="Calibri" panose="020F0502020204030204" pitchFamily="34" charset="0"/>
                        </a:rPr>
                        <a:t>State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2022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0103785"/>
                  </a:ext>
                </a:extLst>
              </a:tr>
              <a:tr h="287323">
                <a:tc>
                  <a:txBody>
                    <a:bodyPr/>
                    <a:lstStyle/>
                    <a:p>
                      <a:pPr algn="l" fontAlgn="b"/>
                      <a:r>
                        <a:rPr lang="en-US" sz="1100" b="0" i="0" u="none" strike="noStrike">
                          <a:solidFill>
                            <a:srgbClr val="000000"/>
                          </a:solidFill>
                          <a:effectLst/>
                          <a:latin typeface="Calibri" panose="020F0502020204030204" pitchFamily="34" charset="0"/>
                        </a:rPr>
                        <a:t>CANCELLED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25528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27152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6707047"/>
                  </a:ext>
                </a:extLst>
              </a:tr>
              <a:tr h="287323">
                <a:tc>
                  <a:txBody>
                    <a:bodyPr/>
                    <a:lstStyle/>
                    <a:p>
                      <a:pPr algn="l" fontAlgn="b"/>
                      <a:r>
                        <a:rPr lang="en-US" sz="1100" b="0" i="0" u="none" strike="noStrike">
                          <a:solidFill>
                            <a:srgbClr val="000000"/>
                          </a:solidFill>
                          <a:effectLst/>
                          <a:latin typeface="Calibri" panose="020F0502020204030204" pitchFamily="34" charset="0"/>
                        </a:rPr>
                        <a:t>COMPLETED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262030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233741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5917586"/>
                  </a:ext>
                </a:extLst>
              </a:tr>
              <a:tr h="287323">
                <a:tc>
                  <a:txBody>
                    <a:bodyPr/>
                    <a:lstStyle/>
                    <a:p>
                      <a:pPr algn="l" fontAlgn="b"/>
                      <a:r>
                        <a:rPr lang="en-US" sz="1100" b="0" i="0" u="none" strike="noStrike">
                          <a:solidFill>
                            <a:srgbClr val="000000"/>
                          </a:solidFill>
                          <a:effectLst/>
                          <a:latin typeface="Calibri" panose="020F0502020204030204" pitchFamily="34" charset="0"/>
                        </a:rPr>
                        <a:t>FAILED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93074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79633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0373009"/>
                  </a:ext>
                </a:extLst>
              </a:tr>
              <a:tr h="287323">
                <a:tc>
                  <a:txBody>
                    <a:bodyPr/>
                    <a:lstStyle/>
                    <a:p>
                      <a:pPr algn="l" fontAlgn="b"/>
                      <a:r>
                        <a:rPr lang="en-US" sz="1100" b="0" i="0" u="none" strike="noStrike">
                          <a:solidFill>
                            <a:srgbClr val="000000"/>
                          </a:solidFill>
                          <a:effectLst/>
                          <a:latin typeface="Calibri" panose="020F0502020204030204" pitchFamily="34" charset="0"/>
                        </a:rPr>
                        <a:t>NODE_FAIL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6796635"/>
                  </a:ext>
                </a:extLst>
              </a:tr>
              <a:tr h="287323">
                <a:tc>
                  <a:txBody>
                    <a:bodyPr/>
                    <a:lstStyle/>
                    <a:p>
                      <a:pPr algn="l" fontAlgn="b"/>
                      <a:r>
                        <a:rPr lang="en-US" sz="1100" b="0" i="0" u="none" strike="noStrike">
                          <a:solidFill>
                            <a:srgbClr val="000000"/>
                          </a:solidFill>
                          <a:effectLst/>
                          <a:latin typeface="Calibri" panose="020F0502020204030204" pitchFamily="34" charset="0"/>
                        </a:rPr>
                        <a:t>OUT_OF_MEMORY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3780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878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5333147"/>
                  </a:ext>
                </a:extLst>
              </a:tr>
              <a:tr h="287323">
                <a:tc>
                  <a:txBody>
                    <a:bodyPr/>
                    <a:lstStyle/>
                    <a:p>
                      <a:pPr algn="l" fontAlgn="b"/>
                      <a:r>
                        <a:rPr lang="en-US" sz="1100" b="0" i="0" u="none" strike="noStrike">
                          <a:solidFill>
                            <a:srgbClr val="000000"/>
                          </a:solidFill>
                          <a:effectLst/>
                          <a:latin typeface="Calibri" panose="020F0502020204030204" pitchFamily="34" charset="0"/>
                        </a:rPr>
                        <a:t>TIMEOUT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39604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22624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4269874"/>
                  </a:ext>
                </a:extLst>
              </a:tr>
              <a:tr h="287323">
                <a:tc>
                  <a:txBody>
                    <a:bodyPr/>
                    <a:lstStyle/>
                    <a:p>
                      <a:pPr algn="l" fontAlgn="b"/>
                      <a:r>
                        <a:rPr lang="en-US" sz="1100" b="1" i="0" u="none" strike="noStrike">
                          <a:solidFill>
                            <a:srgbClr val="000000"/>
                          </a:solidFill>
                          <a:effectLst/>
                          <a:latin typeface="Calibri" panose="020F0502020204030204" pitchFamily="34" charset="0"/>
                        </a:rPr>
                        <a:t>Totals</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424030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364032</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3970645"/>
                  </a:ext>
                </a:extLst>
              </a:tr>
            </a:tbl>
          </a:graphicData>
        </a:graphic>
      </p:graphicFrame>
      <p:pic>
        <p:nvPicPr>
          <p:cNvPr id="11" name="Content Placeholder 10">
            <a:extLst>
              <a:ext uri="{FF2B5EF4-FFF2-40B4-BE49-F238E27FC236}">
                <a16:creationId xmlns:a16="http://schemas.microsoft.com/office/drawing/2014/main" id="{8D85E7D4-94DE-4F10-BBF9-44112C6133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7820" y="1704684"/>
            <a:ext cx="7252230" cy="4351338"/>
          </a:xfrm>
        </p:spPr>
      </p:pic>
    </p:spTree>
    <p:extLst>
      <p:ext uri="{BB962C8B-B14F-4D97-AF65-F5344CB8AC3E}">
        <p14:creationId xmlns:p14="http://schemas.microsoft.com/office/powerpoint/2010/main" val="631059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DA5D2-D736-4B70-91AF-62DA242A0B68}"/>
              </a:ext>
            </a:extLst>
          </p:cNvPr>
          <p:cNvSpPr>
            <a:spLocks noGrp="1"/>
          </p:cNvSpPr>
          <p:nvPr>
            <p:ph type="title"/>
          </p:nvPr>
        </p:nvSpPr>
        <p:spPr/>
        <p:txBody>
          <a:bodyPr/>
          <a:lstStyle/>
          <a:p>
            <a:r>
              <a:rPr lang="en-US"/>
              <a:t>Exit States for all Jobs on HOPPER [2021, 2022]</a:t>
            </a:r>
          </a:p>
        </p:txBody>
      </p:sp>
      <p:graphicFrame>
        <p:nvGraphicFramePr>
          <p:cNvPr id="10" name="Table 9">
            <a:extLst>
              <a:ext uri="{FF2B5EF4-FFF2-40B4-BE49-F238E27FC236}">
                <a16:creationId xmlns:a16="http://schemas.microsoft.com/office/drawing/2014/main" id="{749875BE-867C-47C2-B8AC-B169DEF3A657}"/>
              </a:ext>
            </a:extLst>
          </p:cNvPr>
          <p:cNvGraphicFramePr>
            <a:graphicFrameLocks noGrp="1"/>
          </p:cNvGraphicFramePr>
          <p:nvPr>
            <p:extLst>
              <p:ext uri="{D42A27DB-BD31-4B8C-83A1-F6EECF244321}">
                <p14:modId xmlns:p14="http://schemas.microsoft.com/office/powerpoint/2010/main" val="2423910812"/>
              </p:ext>
            </p:extLst>
          </p:nvPr>
        </p:nvGraphicFramePr>
        <p:xfrm>
          <a:off x="7965985" y="2169930"/>
          <a:ext cx="3066635" cy="2316609"/>
        </p:xfrm>
        <a:graphic>
          <a:graphicData uri="http://schemas.openxmlformats.org/drawingml/2006/table">
            <a:tbl>
              <a:tblPr/>
              <a:tblGrid>
                <a:gridCol w="1517177">
                  <a:extLst>
                    <a:ext uri="{9D8B030D-6E8A-4147-A177-3AD203B41FA5}">
                      <a16:colId xmlns:a16="http://schemas.microsoft.com/office/drawing/2014/main" val="2889079413"/>
                    </a:ext>
                  </a:extLst>
                </a:gridCol>
                <a:gridCol w="774729">
                  <a:extLst>
                    <a:ext uri="{9D8B030D-6E8A-4147-A177-3AD203B41FA5}">
                      <a16:colId xmlns:a16="http://schemas.microsoft.com/office/drawing/2014/main" val="913045940"/>
                    </a:ext>
                  </a:extLst>
                </a:gridCol>
                <a:gridCol w="774729">
                  <a:extLst>
                    <a:ext uri="{9D8B030D-6E8A-4147-A177-3AD203B41FA5}">
                      <a16:colId xmlns:a16="http://schemas.microsoft.com/office/drawing/2014/main" val="110211906"/>
                    </a:ext>
                  </a:extLst>
                </a:gridCol>
              </a:tblGrid>
              <a:tr h="257401">
                <a:tc>
                  <a:txBody>
                    <a:bodyPr/>
                    <a:lstStyle/>
                    <a:p>
                      <a:pPr algn="l" fontAlgn="b"/>
                      <a:r>
                        <a:rPr lang="en-US" sz="1100" b="1" i="0" u="none" strike="noStrike">
                          <a:solidFill>
                            <a:srgbClr val="000000"/>
                          </a:solidFill>
                          <a:effectLst/>
                          <a:latin typeface="Calibri" panose="020F0502020204030204" pitchFamily="34" charset="0"/>
                        </a:rPr>
                        <a:t>State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2022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2422384"/>
                  </a:ext>
                </a:extLst>
              </a:tr>
              <a:tr h="257401">
                <a:tc>
                  <a:txBody>
                    <a:bodyPr/>
                    <a:lstStyle/>
                    <a:p>
                      <a:pPr algn="l" fontAlgn="b"/>
                      <a:r>
                        <a:rPr lang="en-US" sz="1100" b="0" i="0" u="none" strike="noStrike">
                          <a:solidFill>
                            <a:srgbClr val="000000"/>
                          </a:solidFill>
                          <a:effectLst/>
                          <a:latin typeface="Calibri" panose="020F0502020204030204" pitchFamily="34" charset="0"/>
                        </a:rPr>
                        <a:t>CANCELLED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16083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309437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04216492"/>
                  </a:ext>
                </a:extLst>
              </a:tr>
              <a:tr h="257401">
                <a:tc>
                  <a:txBody>
                    <a:bodyPr/>
                    <a:lstStyle/>
                    <a:p>
                      <a:pPr algn="l" fontAlgn="b"/>
                      <a:r>
                        <a:rPr lang="en-US" sz="1100" b="0" i="0" u="none" strike="noStrike">
                          <a:solidFill>
                            <a:srgbClr val="000000"/>
                          </a:solidFill>
                          <a:effectLst/>
                          <a:latin typeface="Calibri" panose="020F0502020204030204" pitchFamily="34" charset="0"/>
                        </a:rPr>
                        <a:t>COMPLETED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133811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618112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79410236"/>
                  </a:ext>
                </a:extLst>
              </a:tr>
              <a:tr h="257401">
                <a:tc>
                  <a:txBody>
                    <a:bodyPr/>
                    <a:lstStyle/>
                    <a:p>
                      <a:pPr algn="l" fontAlgn="b"/>
                      <a:r>
                        <a:rPr lang="en-US" sz="1100" b="0" i="0" u="none" strike="noStrike">
                          <a:solidFill>
                            <a:srgbClr val="000000"/>
                          </a:solidFill>
                          <a:effectLst/>
                          <a:latin typeface="Calibri" panose="020F0502020204030204" pitchFamily="34" charset="0"/>
                        </a:rPr>
                        <a:t>FAILED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15341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232339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4040299"/>
                  </a:ext>
                </a:extLst>
              </a:tr>
              <a:tr h="257401">
                <a:tc>
                  <a:txBody>
                    <a:bodyPr/>
                    <a:lstStyle/>
                    <a:p>
                      <a:pPr algn="l" fontAlgn="b"/>
                      <a:r>
                        <a:rPr lang="en-US" sz="1100" b="0" i="0" u="none" strike="noStrike">
                          <a:solidFill>
                            <a:srgbClr val="000000"/>
                          </a:solidFill>
                          <a:effectLst/>
                          <a:latin typeface="Calibri" panose="020F0502020204030204" pitchFamily="34" charset="0"/>
                        </a:rPr>
                        <a:t>NODE_FAIL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2190306"/>
                  </a:ext>
                </a:extLst>
              </a:tr>
              <a:tr h="257401">
                <a:tc>
                  <a:txBody>
                    <a:bodyPr/>
                    <a:lstStyle/>
                    <a:p>
                      <a:pPr algn="l" fontAlgn="b"/>
                      <a:r>
                        <a:rPr lang="en-US" sz="1100" b="0" i="0" u="none" strike="noStrike">
                          <a:solidFill>
                            <a:srgbClr val="000000"/>
                          </a:solidFill>
                          <a:effectLst/>
                          <a:latin typeface="Calibri" panose="020F0502020204030204" pitchFamily="34" charset="0"/>
                        </a:rPr>
                        <a:t>OUT_OF_MEMORY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1561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5905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1274786"/>
                  </a:ext>
                </a:extLst>
              </a:tr>
              <a:tr h="257401">
                <a:tc>
                  <a:txBody>
                    <a:bodyPr/>
                    <a:lstStyle/>
                    <a:p>
                      <a:pPr algn="l" fontAlgn="b"/>
                      <a:r>
                        <a:rPr lang="en-US" sz="1100" b="0" i="0" u="none" strike="noStrike">
                          <a:solidFill>
                            <a:srgbClr val="000000"/>
                          </a:solidFill>
                          <a:effectLst/>
                          <a:latin typeface="Calibri" panose="020F0502020204030204" pitchFamily="34" charset="0"/>
                        </a:rPr>
                        <a:t>PREEMPTED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154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379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801248"/>
                  </a:ext>
                </a:extLst>
              </a:tr>
              <a:tr h="257401">
                <a:tc>
                  <a:txBody>
                    <a:bodyPr/>
                    <a:lstStyle/>
                    <a:p>
                      <a:pPr algn="l" fontAlgn="b"/>
                      <a:r>
                        <a:rPr lang="en-US" sz="1100" b="0" i="0" u="none" strike="noStrike">
                          <a:solidFill>
                            <a:srgbClr val="000000"/>
                          </a:solidFill>
                          <a:effectLst/>
                          <a:latin typeface="Calibri" panose="020F0502020204030204" pitchFamily="34" charset="0"/>
                        </a:rPr>
                        <a:t>TIMEOUT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11166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12773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2086009"/>
                  </a:ext>
                </a:extLst>
              </a:tr>
              <a:tr h="257401">
                <a:tc>
                  <a:txBody>
                    <a:bodyPr/>
                    <a:lstStyle/>
                    <a:p>
                      <a:pPr algn="l" fontAlgn="b"/>
                      <a:r>
                        <a:rPr lang="en-US" sz="1100" b="1" i="0" u="none" strike="noStrike">
                          <a:solidFill>
                            <a:srgbClr val="000000"/>
                          </a:solidFill>
                          <a:effectLst/>
                          <a:latin typeface="Calibri" panose="020F0502020204030204" pitchFamily="34" charset="0"/>
                        </a:rPr>
                        <a:t>Totals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178120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1178987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7662674"/>
                  </a:ext>
                </a:extLst>
              </a:tr>
            </a:tbl>
          </a:graphicData>
        </a:graphic>
      </p:graphicFrame>
      <p:sp>
        <p:nvSpPr>
          <p:cNvPr id="4" name="Content Placeholder 3">
            <a:extLst>
              <a:ext uri="{FF2B5EF4-FFF2-40B4-BE49-F238E27FC236}">
                <a16:creationId xmlns:a16="http://schemas.microsoft.com/office/drawing/2014/main" id="{0EF97D01-78EB-4E7A-87B3-B5D6B5BFBFB2}"/>
              </a:ext>
            </a:extLst>
          </p:cNvPr>
          <p:cNvSpPr>
            <a:spLocks noGrp="1"/>
          </p:cNvSpPr>
          <p:nvPr>
            <p:ph idx="1"/>
          </p:nvPr>
        </p:nvSpPr>
        <p:spPr/>
        <p:txBody>
          <a:bodyPr/>
          <a:lstStyle/>
          <a:p>
            <a:endParaRPr lang="en-US"/>
          </a:p>
        </p:txBody>
      </p:sp>
      <p:pic>
        <p:nvPicPr>
          <p:cNvPr id="7" name="Content Placeholder 7">
            <a:extLst>
              <a:ext uri="{FF2B5EF4-FFF2-40B4-BE49-F238E27FC236}">
                <a16:creationId xmlns:a16="http://schemas.microsoft.com/office/drawing/2014/main" id="{3E17D2F2-93E1-47F6-9708-1FF68B4D93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215" y="1573699"/>
            <a:ext cx="7252230" cy="4351338"/>
          </a:xfrm>
          <a:prstGeom prst="rect">
            <a:avLst/>
          </a:prstGeom>
        </p:spPr>
      </p:pic>
    </p:spTree>
    <p:extLst>
      <p:ext uri="{BB962C8B-B14F-4D97-AF65-F5344CB8AC3E}">
        <p14:creationId xmlns:p14="http://schemas.microsoft.com/office/powerpoint/2010/main" val="1575102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C1E1C-E743-431D-93E2-3C81D93BBBF3}"/>
              </a:ext>
            </a:extLst>
          </p:cNvPr>
          <p:cNvSpPr>
            <a:spLocks noGrp="1"/>
          </p:cNvSpPr>
          <p:nvPr>
            <p:ph type="title"/>
          </p:nvPr>
        </p:nvSpPr>
        <p:spPr/>
        <p:txBody>
          <a:bodyPr/>
          <a:lstStyle/>
          <a:p>
            <a:r>
              <a:rPr lang="en-US"/>
              <a:t>Monthly Usage Stats</a:t>
            </a:r>
          </a:p>
        </p:txBody>
      </p:sp>
      <p:sp>
        <p:nvSpPr>
          <p:cNvPr id="3" name="Content Placeholder 2">
            <a:extLst>
              <a:ext uri="{FF2B5EF4-FFF2-40B4-BE49-F238E27FC236}">
                <a16:creationId xmlns:a16="http://schemas.microsoft.com/office/drawing/2014/main" id="{B4F2E44F-3F58-4315-BEF7-050D5155F49D}"/>
              </a:ext>
            </a:extLst>
          </p:cNvPr>
          <p:cNvSpPr>
            <a:spLocks noGrp="1"/>
          </p:cNvSpPr>
          <p:nvPr>
            <p:ph idx="1"/>
          </p:nvPr>
        </p:nvSpPr>
        <p:spPr/>
        <p:txBody>
          <a:bodyPr>
            <a:normAutofit/>
          </a:bodyPr>
          <a:lstStyle/>
          <a:p>
            <a:r>
              <a:rPr lang="en-US"/>
              <a:t>The following figures display the number of active users submitting jobs on ARGO and Hopper for the different months between 2020 -2022. On HOPPER, for 2021 and 2022, we can see a pattern emerging for the number of unique users submitting jobs with a peak around October/November.</a:t>
            </a:r>
          </a:p>
          <a:p>
            <a:pPr lvl="1"/>
            <a:endParaRPr lang="en-US"/>
          </a:p>
          <a:p>
            <a:pPr marL="0" indent="0">
              <a:buNone/>
            </a:pPr>
            <a:endParaRPr lang="en-US"/>
          </a:p>
          <a:p>
            <a:endParaRPr lang="en-US"/>
          </a:p>
        </p:txBody>
      </p:sp>
    </p:spTree>
    <p:extLst>
      <p:ext uri="{BB962C8B-B14F-4D97-AF65-F5344CB8AC3E}">
        <p14:creationId xmlns:p14="http://schemas.microsoft.com/office/powerpoint/2010/main" val="3838689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3886F-998B-4462-AF79-B8200AEB4359}"/>
              </a:ext>
            </a:extLst>
          </p:cNvPr>
          <p:cNvSpPr>
            <a:spLocks noGrp="1"/>
          </p:cNvSpPr>
          <p:nvPr>
            <p:ph type="title"/>
          </p:nvPr>
        </p:nvSpPr>
        <p:spPr/>
        <p:txBody>
          <a:bodyPr/>
          <a:lstStyle/>
          <a:p>
            <a:r>
              <a:rPr lang="en-US"/>
              <a:t>ARGO Active Users Monthly 2020-2021</a:t>
            </a:r>
          </a:p>
        </p:txBody>
      </p:sp>
      <p:pic>
        <p:nvPicPr>
          <p:cNvPr id="5" name="Content Placeholder 4">
            <a:extLst>
              <a:ext uri="{FF2B5EF4-FFF2-40B4-BE49-F238E27FC236}">
                <a16:creationId xmlns:a16="http://schemas.microsoft.com/office/drawing/2014/main" id="{80236DAC-AC12-4BC9-B8F3-94C2335C21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4639" y="1825625"/>
            <a:ext cx="7678827" cy="4607296"/>
          </a:xfrm>
        </p:spPr>
      </p:pic>
      <p:graphicFrame>
        <p:nvGraphicFramePr>
          <p:cNvPr id="6" name="Table 5">
            <a:extLst>
              <a:ext uri="{FF2B5EF4-FFF2-40B4-BE49-F238E27FC236}">
                <a16:creationId xmlns:a16="http://schemas.microsoft.com/office/drawing/2014/main" id="{DD04ABA9-EE82-47B6-B13D-6D3D6870FB9D}"/>
              </a:ext>
            </a:extLst>
          </p:cNvPr>
          <p:cNvGraphicFramePr>
            <a:graphicFrameLocks noGrp="1"/>
          </p:cNvGraphicFramePr>
          <p:nvPr>
            <p:extLst>
              <p:ext uri="{D42A27DB-BD31-4B8C-83A1-F6EECF244321}">
                <p14:modId xmlns:p14="http://schemas.microsoft.com/office/powerpoint/2010/main" val="2152123232"/>
              </p:ext>
            </p:extLst>
          </p:nvPr>
        </p:nvGraphicFramePr>
        <p:xfrm>
          <a:off x="8782755" y="2240279"/>
          <a:ext cx="2824604" cy="3663803"/>
        </p:xfrm>
        <a:graphic>
          <a:graphicData uri="http://schemas.openxmlformats.org/drawingml/2006/table">
            <a:tbl>
              <a:tblPr/>
              <a:tblGrid>
                <a:gridCol w="706151">
                  <a:extLst>
                    <a:ext uri="{9D8B030D-6E8A-4147-A177-3AD203B41FA5}">
                      <a16:colId xmlns:a16="http://schemas.microsoft.com/office/drawing/2014/main" val="1137780982"/>
                    </a:ext>
                  </a:extLst>
                </a:gridCol>
                <a:gridCol w="706151">
                  <a:extLst>
                    <a:ext uri="{9D8B030D-6E8A-4147-A177-3AD203B41FA5}">
                      <a16:colId xmlns:a16="http://schemas.microsoft.com/office/drawing/2014/main" val="206570071"/>
                    </a:ext>
                  </a:extLst>
                </a:gridCol>
                <a:gridCol w="706151">
                  <a:extLst>
                    <a:ext uri="{9D8B030D-6E8A-4147-A177-3AD203B41FA5}">
                      <a16:colId xmlns:a16="http://schemas.microsoft.com/office/drawing/2014/main" val="3438908872"/>
                    </a:ext>
                  </a:extLst>
                </a:gridCol>
                <a:gridCol w="706151">
                  <a:extLst>
                    <a:ext uri="{9D8B030D-6E8A-4147-A177-3AD203B41FA5}">
                      <a16:colId xmlns:a16="http://schemas.microsoft.com/office/drawing/2014/main" val="2938573037"/>
                    </a:ext>
                  </a:extLst>
                </a:gridCol>
              </a:tblGrid>
              <a:tr h="281831">
                <a:tc>
                  <a:txBody>
                    <a:bodyPr/>
                    <a:lstStyle/>
                    <a:p>
                      <a:pPr algn="l" fontAlgn="b"/>
                      <a:r>
                        <a:rPr lang="en-US" sz="1400" b="1" i="0" u="none" strike="noStrike">
                          <a:solidFill>
                            <a:srgbClr val="000000"/>
                          </a:solidFill>
                          <a:effectLst/>
                          <a:latin typeface="Calibri" panose="020F0502020204030204" pitchFamily="34" charset="0"/>
                        </a:rPr>
                        <a:t>Month</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1" i="0" u="none" strike="noStrike">
                          <a:solidFill>
                            <a:srgbClr val="000000"/>
                          </a:solidFill>
                          <a:effectLst/>
                          <a:latin typeface="Calibri" panose="020F0502020204030204" pitchFamily="34" charset="0"/>
                        </a:rPr>
                        <a:t>2020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1" i="0" u="none" strike="noStrike">
                          <a:solidFill>
                            <a:srgbClr val="000000"/>
                          </a:solidFill>
                          <a:effectLst/>
                          <a:latin typeface="Calibri" panose="020F0502020204030204" pitchFamily="34" charset="0"/>
                        </a:rPr>
                        <a:t>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1" i="0" u="none" strike="noStrike">
                          <a:solidFill>
                            <a:srgbClr val="000000"/>
                          </a:solidFill>
                          <a:effectLst/>
                          <a:latin typeface="Calibri" panose="020F0502020204030204" pitchFamily="34" charset="0"/>
                        </a:rPr>
                        <a:t>2022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570709"/>
                  </a:ext>
                </a:extLst>
              </a:tr>
              <a:tr h="281831">
                <a:tc>
                  <a:txBody>
                    <a:bodyPr/>
                    <a:lstStyle/>
                    <a:p>
                      <a:pPr algn="r" fontAlgn="b"/>
                      <a:r>
                        <a:rPr lang="en-US" sz="14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48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70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57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4311145"/>
                  </a:ext>
                </a:extLst>
              </a:tr>
              <a:tr h="281831">
                <a:tc>
                  <a:txBody>
                    <a:bodyPr/>
                    <a:lstStyle/>
                    <a:p>
                      <a:pPr algn="r" fontAlgn="b"/>
                      <a:r>
                        <a:rPr lang="en-US" sz="14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57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77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56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6334326"/>
                  </a:ext>
                </a:extLst>
              </a:tr>
              <a:tr h="281831">
                <a:tc>
                  <a:txBody>
                    <a:bodyPr/>
                    <a:lstStyle/>
                    <a:p>
                      <a:pPr algn="r" fontAlgn="b"/>
                      <a:r>
                        <a:rPr lang="en-US" sz="1400" b="0" i="0" u="none" strike="noStrike">
                          <a:solidFill>
                            <a:srgbClr val="000000"/>
                          </a:solidFill>
                          <a:effectLst/>
                          <a:latin typeface="Calibri" panose="020F0502020204030204" pitchFamily="34" charset="0"/>
                        </a:rPr>
                        <a:t>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71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87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50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3660501"/>
                  </a:ext>
                </a:extLst>
              </a:tr>
              <a:tr h="281831">
                <a:tc>
                  <a:txBody>
                    <a:bodyPr/>
                    <a:lstStyle/>
                    <a:p>
                      <a:pPr algn="r" fontAlgn="b"/>
                      <a:r>
                        <a:rPr lang="en-US" sz="14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83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71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34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6272356"/>
                  </a:ext>
                </a:extLst>
              </a:tr>
              <a:tr h="281831">
                <a:tc>
                  <a:txBody>
                    <a:bodyPr/>
                    <a:lstStyle/>
                    <a:p>
                      <a:pPr algn="r" fontAlgn="b"/>
                      <a:r>
                        <a:rPr lang="en-US" sz="1400" b="0" i="0" u="none" strike="noStrike">
                          <a:solidFill>
                            <a:srgbClr val="000000"/>
                          </a:solidFill>
                          <a:effectLst/>
                          <a:latin typeface="Calibri" panose="020F0502020204030204" pitchFamily="34" charset="0"/>
                        </a:rPr>
                        <a:t>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79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85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37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0464016"/>
                  </a:ext>
                </a:extLst>
              </a:tr>
              <a:tr h="281831">
                <a:tc>
                  <a:txBody>
                    <a:bodyPr/>
                    <a:lstStyle/>
                    <a:p>
                      <a:pPr algn="r" fontAlgn="b"/>
                      <a:r>
                        <a:rPr lang="en-US" sz="1400" b="0" i="0" u="none" strike="noStrike">
                          <a:solidFill>
                            <a:srgbClr val="000000"/>
                          </a:solidFill>
                          <a:effectLst/>
                          <a:latin typeface="Calibri" panose="020F0502020204030204" pitchFamily="34" charset="0"/>
                        </a:rPr>
                        <a:t>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72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72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43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1093317"/>
                  </a:ext>
                </a:extLst>
              </a:tr>
              <a:tr h="281831">
                <a:tc>
                  <a:txBody>
                    <a:bodyPr/>
                    <a:lstStyle/>
                    <a:p>
                      <a:pPr algn="r" fontAlgn="b"/>
                      <a:r>
                        <a:rPr lang="en-US" sz="1400" b="0" i="0" u="none" strike="noStrike">
                          <a:solidFill>
                            <a:srgbClr val="000000"/>
                          </a:solidFill>
                          <a:effectLst/>
                          <a:latin typeface="Calibri" panose="020F0502020204030204" pitchFamily="34" charset="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78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71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45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054406"/>
                  </a:ext>
                </a:extLst>
              </a:tr>
              <a:tr h="281831">
                <a:tc>
                  <a:txBody>
                    <a:bodyPr/>
                    <a:lstStyle/>
                    <a:p>
                      <a:pPr algn="r" fontAlgn="b"/>
                      <a:r>
                        <a:rPr lang="en-US" sz="1400" b="0" i="0" u="none" strike="noStrike">
                          <a:solidFill>
                            <a:srgbClr val="000000"/>
                          </a:solidFill>
                          <a:effectLst/>
                          <a:latin typeface="Calibri" panose="020F0502020204030204" pitchFamily="34" charset="0"/>
                        </a:rPr>
                        <a:t>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64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58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38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8906534"/>
                  </a:ext>
                </a:extLst>
              </a:tr>
              <a:tr h="281831">
                <a:tc>
                  <a:txBody>
                    <a:bodyPr/>
                    <a:lstStyle/>
                    <a:p>
                      <a:pPr algn="r" fontAlgn="b"/>
                      <a:r>
                        <a:rPr lang="en-US" sz="1400" b="0" i="0" u="none" strike="noStrike">
                          <a:solidFill>
                            <a:srgbClr val="000000"/>
                          </a:solidFill>
                          <a:effectLst/>
                          <a:latin typeface="Calibri" panose="020F0502020204030204" pitchFamily="34" charset="0"/>
                        </a:rPr>
                        <a:t>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63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87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33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3857224"/>
                  </a:ext>
                </a:extLst>
              </a:tr>
              <a:tr h="281831">
                <a:tc>
                  <a:txBody>
                    <a:bodyPr/>
                    <a:lstStyle/>
                    <a:p>
                      <a:pPr algn="r" fontAlgn="b"/>
                      <a:r>
                        <a:rPr lang="en-US" sz="1400" b="0" i="0" u="none" strike="noStrike">
                          <a:solidFill>
                            <a:srgbClr val="000000"/>
                          </a:solidFill>
                          <a:effectLst/>
                          <a:latin typeface="Calibri" panose="020F0502020204030204" pitchFamily="34" charset="0"/>
                        </a:rPr>
                        <a:t>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78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67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32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7372048"/>
                  </a:ext>
                </a:extLst>
              </a:tr>
              <a:tr h="281831">
                <a:tc>
                  <a:txBody>
                    <a:bodyPr/>
                    <a:lstStyle/>
                    <a:p>
                      <a:pPr algn="r" fontAlgn="b"/>
                      <a:r>
                        <a:rPr lang="en-US" sz="1400" b="0" i="0" u="none" strike="noStrike">
                          <a:solidFill>
                            <a:srgbClr val="000000"/>
                          </a:solidFill>
                          <a:effectLst/>
                          <a:latin typeface="Calibri" panose="020F0502020204030204" pitchFamily="34" charset="0"/>
                        </a:rPr>
                        <a:t>11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70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72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24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5058663"/>
                  </a:ext>
                </a:extLst>
              </a:tr>
              <a:tr h="281831">
                <a:tc>
                  <a:txBody>
                    <a:bodyPr/>
                    <a:lstStyle/>
                    <a:p>
                      <a:pPr algn="r" fontAlgn="b"/>
                      <a:r>
                        <a:rPr lang="en-US" sz="1400" b="0" i="0" u="none" strike="noStrike">
                          <a:solidFill>
                            <a:srgbClr val="000000"/>
                          </a:solidFill>
                          <a:effectLst/>
                          <a:latin typeface="Calibri" panose="020F0502020204030204" pitchFamily="34" charset="0"/>
                        </a:rPr>
                        <a:t>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71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55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4051109"/>
                  </a:ext>
                </a:extLst>
              </a:tr>
            </a:tbl>
          </a:graphicData>
        </a:graphic>
      </p:graphicFrame>
    </p:spTree>
    <p:extLst>
      <p:ext uri="{BB962C8B-B14F-4D97-AF65-F5344CB8AC3E}">
        <p14:creationId xmlns:p14="http://schemas.microsoft.com/office/powerpoint/2010/main" val="2232154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815E5-C495-43AB-9D77-10BA0F33E37D}"/>
              </a:ext>
            </a:extLst>
          </p:cNvPr>
          <p:cNvSpPr>
            <a:spLocks noGrp="1"/>
          </p:cNvSpPr>
          <p:nvPr>
            <p:ph type="title"/>
          </p:nvPr>
        </p:nvSpPr>
        <p:spPr/>
        <p:txBody>
          <a:bodyPr/>
          <a:lstStyle/>
          <a:p>
            <a:r>
              <a:rPr lang="en-US"/>
              <a:t>HOPPER Active Users Monthly 2021-2022</a:t>
            </a:r>
          </a:p>
        </p:txBody>
      </p:sp>
      <p:pic>
        <p:nvPicPr>
          <p:cNvPr id="5" name="Content Placeholder 4">
            <a:extLst>
              <a:ext uri="{FF2B5EF4-FFF2-40B4-BE49-F238E27FC236}">
                <a16:creationId xmlns:a16="http://schemas.microsoft.com/office/drawing/2014/main" id="{FD62C6B4-2A14-4E16-8C22-01CA3DCBD2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7252230" cy="4351338"/>
          </a:xfrm>
        </p:spPr>
      </p:pic>
      <p:graphicFrame>
        <p:nvGraphicFramePr>
          <p:cNvPr id="6" name="Table 5">
            <a:extLst>
              <a:ext uri="{FF2B5EF4-FFF2-40B4-BE49-F238E27FC236}">
                <a16:creationId xmlns:a16="http://schemas.microsoft.com/office/drawing/2014/main" id="{867C935A-D0FA-4477-AEC6-798AA3DA38F3}"/>
              </a:ext>
            </a:extLst>
          </p:cNvPr>
          <p:cNvGraphicFramePr>
            <a:graphicFrameLocks noGrp="1"/>
          </p:cNvGraphicFramePr>
          <p:nvPr>
            <p:extLst>
              <p:ext uri="{D42A27DB-BD31-4B8C-83A1-F6EECF244321}">
                <p14:modId xmlns:p14="http://schemas.microsoft.com/office/powerpoint/2010/main" val="2318787179"/>
              </p:ext>
            </p:extLst>
          </p:nvPr>
        </p:nvGraphicFramePr>
        <p:xfrm>
          <a:off x="8906932" y="2240280"/>
          <a:ext cx="2446866" cy="3020342"/>
        </p:xfrm>
        <a:graphic>
          <a:graphicData uri="http://schemas.openxmlformats.org/drawingml/2006/table">
            <a:tbl>
              <a:tblPr/>
              <a:tblGrid>
                <a:gridCol w="815622">
                  <a:extLst>
                    <a:ext uri="{9D8B030D-6E8A-4147-A177-3AD203B41FA5}">
                      <a16:colId xmlns:a16="http://schemas.microsoft.com/office/drawing/2014/main" val="95498002"/>
                    </a:ext>
                  </a:extLst>
                </a:gridCol>
                <a:gridCol w="815622">
                  <a:extLst>
                    <a:ext uri="{9D8B030D-6E8A-4147-A177-3AD203B41FA5}">
                      <a16:colId xmlns:a16="http://schemas.microsoft.com/office/drawing/2014/main" val="905641012"/>
                    </a:ext>
                  </a:extLst>
                </a:gridCol>
                <a:gridCol w="815622">
                  <a:extLst>
                    <a:ext uri="{9D8B030D-6E8A-4147-A177-3AD203B41FA5}">
                      <a16:colId xmlns:a16="http://schemas.microsoft.com/office/drawing/2014/main" val="1161099080"/>
                    </a:ext>
                  </a:extLst>
                </a:gridCol>
              </a:tblGrid>
              <a:tr h="232334">
                <a:tc>
                  <a:txBody>
                    <a:bodyPr/>
                    <a:lstStyle/>
                    <a:p>
                      <a:pPr algn="l" fontAlgn="b"/>
                      <a:r>
                        <a:rPr lang="en-US" sz="1400" b="1" i="0" u="none" strike="noStrike">
                          <a:solidFill>
                            <a:srgbClr val="000000"/>
                          </a:solidFill>
                          <a:effectLst/>
                          <a:latin typeface="Calibri" panose="020F0502020204030204" pitchFamily="34" charset="0"/>
                        </a:rPr>
                        <a:t>Month</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1" i="0" u="none" strike="noStrike">
                          <a:solidFill>
                            <a:srgbClr val="000000"/>
                          </a:solidFill>
                          <a:effectLst/>
                          <a:latin typeface="Calibri" panose="020F0502020204030204" pitchFamily="34" charset="0"/>
                        </a:rPr>
                        <a:t>2021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1" i="0" u="none" strike="noStrike">
                          <a:solidFill>
                            <a:srgbClr val="000000"/>
                          </a:solidFill>
                          <a:effectLst/>
                          <a:latin typeface="Calibri" panose="020F0502020204030204" pitchFamily="34" charset="0"/>
                        </a:rPr>
                        <a:t>2022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6141333"/>
                  </a:ext>
                </a:extLst>
              </a:tr>
              <a:tr h="232334">
                <a:tc>
                  <a:txBody>
                    <a:bodyPr/>
                    <a:lstStyle/>
                    <a:p>
                      <a:pPr algn="r" fontAlgn="b"/>
                      <a:r>
                        <a:rPr lang="en-US" sz="1400" b="0" i="0" u="none" strike="noStrike">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58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941144"/>
                  </a:ext>
                </a:extLst>
              </a:tr>
              <a:tr h="232334">
                <a:tc>
                  <a:txBody>
                    <a:bodyPr/>
                    <a:lstStyle/>
                    <a:p>
                      <a:pPr algn="r" fontAlgn="b"/>
                      <a:r>
                        <a:rPr lang="en-US" sz="14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96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9380283"/>
                  </a:ext>
                </a:extLst>
              </a:tr>
              <a:tr h="232334">
                <a:tc>
                  <a:txBody>
                    <a:bodyPr/>
                    <a:lstStyle/>
                    <a:p>
                      <a:pPr algn="r" fontAlgn="b"/>
                      <a:r>
                        <a:rPr lang="en-US" sz="1400" b="0" i="0" u="none" strike="noStrike">
                          <a:solidFill>
                            <a:srgbClr val="000000"/>
                          </a:solidFill>
                          <a:effectLst/>
                          <a:latin typeface="Calibri" panose="020F0502020204030204" pitchFamily="34" charset="0"/>
                        </a:rPr>
                        <a:t>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98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8704473"/>
                  </a:ext>
                </a:extLst>
              </a:tr>
              <a:tr h="232334">
                <a:tc>
                  <a:txBody>
                    <a:bodyPr/>
                    <a:lstStyle/>
                    <a:p>
                      <a:pPr algn="r" fontAlgn="b"/>
                      <a:r>
                        <a:rPr lang="en-US" sz="1400" b="0" i="0" u="none" strike="noStrike">
                          <a:solidFill>
                            <a:srgbClr val="000000"/>
                          </a:solidFill>
                          <a:effectLst/>
                          <a:latin typeface="Calibri" panose="020F050202020403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2096702"/>
                  </a:ext>
                </a:extLst>
              </a:tr>
              <a:tr h="232334">
                <a:tc>
                  <a:txBody>
                    <a:bodyPr/>
                    <a:lstStyle/>
                    <a:p>
                      <a:pPr algn="r" fontAlgn="b"/>
                      <a:r>
                        <a:rPr lang="en-US" sz="1400" b="0" i="0" u="none" strike="noStrike">
                          <a:solidFill>
                            <a:srgbClr val="000000"/>
                          </a:solidFill>
                          <a:effectLst/>
                          <a:latin typeface="Calibri" panose="020F0502020204030204" pitchFamily="34" charset="0"/>
                        </a:rPr>
                        <a:t>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33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105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8939557"/>
                  </a:ext>
                </a:extLst>
              </a:tr>
              <a:tr h="232334">
                <a:tc>
                  <a:txBody>
                    <a:bodyPr/>
                    <a:lstStyle/>
                    <a:p>
                      <a:pPr algn="r" fontAlgn="b"/>
                      <a:r>
                        <a:rPr lang="en-US" sz="1400" b="0" i="0" u="none" strike="noStrike">
                          <a:solidFill>
                            <a:srgbClr val="000000"/>
                          </a:solidFill>
                          <a:effectLst/>
                          <a:latin typeface="Calibri" panose="020F0502020204030204" pitchFamily="34" charset="0"/>
                        </a:rPr>
                        <a:t>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39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6178731"/>
                  </a:ext>
                </a:extLst>
              </a:tr>
              <a:tr h="232334">
                <a:tc>
                  <a:txBody>
                    <a:bodyPr/>
                    <a:lstStyle/>
                    <a:p>
                      <a:pPr algn="r" fontAlgn="b"/>
                      <a:r>
                        <a:rPr lang="en-US" sz="1400" b="0" i="0" u="none" strike="noStrike">
                          <a:solidFill>
                            <a:srgbClr val="000000"/>
                          </a:solidFill>
                          <a:effectLst/>
                          <a:latin typeface="Calibri" panose="020F0502020204030204" pitchFamily="34" charset="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50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8693784"/>
                  </a:ext>
                </a:extLst>
              </a:tr>
              <a:tr h="232334">
                <a:tc>
                  <a:txBody>
                    <a:bodyPr/>
                    <a:lstStyle/>
                    <a:p>
                      <a:pPr algn="r" fontAlgn="b"/>
                      <a:r>
                        <a:rPr lang="en-US" sz="1400" b="0" i="0" u="none" strike="noStrike">
                          <a:solidFill>
                            <a:srgbClr val="000000"/>
                          </a:solidFill>
                          <a:effectLst/>
                          <a:latin typeface="Calibri" panose="020F0502020204030204" pitchFamily="34" charset="0"/>
                        </a:rPr>
                        <a:t>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68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141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6706700"/>
                  </a:ext>
                </a:extLst>
              </a:tr>
              <a:tr h="232334">
                <a:tc>
                  <a:txBody>
                    <a:bodyPr/>
                    <a:lstStyle/>
                    <a:p>
                      <a:pPr algn="r" fontAlgn="b"/>
                      <a:r>
                        <a:rPr lang="en-US" sz="1400" b="0" i="0" u="none" strike="noStrike">
                          <a:solidFill>
                            <a:srgbClr val="000000"/>
                          </a:solidFill>
                          <a:effectLst/>
                          <a:latin typeface="Calibri" panose="020F0502020204030204" pitchFamily="34" charset="0"/>
                        </a:rPr>
                        <a:t>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67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158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4397167"/>
                  </a:ext>
                </a:extLst>
              </a:tr>
              <a:tr h="232334">
                <a:tc>
                  <a:txBody>
                    <a:bodyPr/>
                    <a:lstStyle/>
                    <a:p>
                      <a:pPr algn="r" fontAlgn="b"/>
                      <a:r>
                        <a:rPr lang="en-US" sz="1400" b="0" i="0" u="none" strike="noStrike">
                          <a:solidFill>
                            <a:srgbClr val="000000"/>
                          </a:solidFill>
                          <a:effectLst/>
                          <a:latin typeface="Calibri" panose="020F0502020204030204" pitchFamily="34" charset="0"/>
                        </a:rPr>
                        <a:t>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78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181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7216109"/>
                  </a:ext>
                </a:extLst>
              </a:tr>
              <a:tr h="232334">
                <a:tc>
                  <a:txBody>
                    <a:bodyPr/>
                    <a:lstStyle/>
                    <a:p>
                      <a:pPr algn="r" fontAlgn="b"/>
                      <a:r>
                        <a:rPr lang="en-US" sz="1400" b="0" i="0" u="none" strike="noStrike">
                          <a:solidFill>
                            <a:srgbClr val="000000"/>
                          </a:solidFill>
                          <a:effectLst/>
                          <a:latin typeface="Calibri" panose="020F0502020204030204" pitchFamily="34" charset="0"/>
                        </a:rPr>
                        <a:t>11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71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183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9710194"/>
                  </a:ext>
                </a:extLst>
              </a:tr>
              <a:tr h="232334">
                <a:tc>
                  <a:txBody>
                    <a:bodyPr/>
                    <a:lstStyle/>
                    <a:p>
                      <a:pPr algn="r" fontAlgn="b"/>
                      <a:r>
                        <a:rPr lang="en-US" sz="1400" b="0" i="0" u="none" strike="noStrike">
                          <a:solidFill>
                            <a:srgbClr val="000000"/>
                          </a:solidFill>
                          <a:effectLst/>
                          <a:latin typeface="Calibri" panose="020F0502020204030204" pitchFamily="34" charset="0"/>
                        </a:rPr>
                        <a:t>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59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Calibri" panose="020F0502020204030204" pitchFamily="34" charset="0"/>
                        </a:rPr>
                        <a:t>145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2855541"/>
                  </a:ext>
                </a:extLst>
              </a:tr>
            </a:tbl>
          </a:graphicData>
        </a:graphic>
      </p:graphicFrame>
    </p:spTree>
    <p:extLst>
      <p:ext uri="{BB962C8B-B14F-4D97-AF65-F5344CB8AC3E}">
        <p14:creationId xmlns:p14="http://schemas.microsoft.com/office/powerpoint/2010/main" val="1449181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EAB1B-52F7-46F4-BABF-6908AAD9D69A}"/>
              </a:ext>
            </a:extLst>
          </p:cNvPr>
          <p:cNvSpPr>
            <a:spLocks noGrp="1"/>
          </p:cNvSpPr>
          <p:nvPr>
            <p:ph type="title"/>
          </p:nvPr>
        </p:nvSpPr>
        <p:spPr/>
        <p:txBody>
          <a:bodyPr/>
          <a:lstStyle/>
          <a:p>
            <a:r>
              <a:rPr lang="en-US"/>
              <a:t>ARGO</a:t>
            </a:r>
          </a:p>
        </p:txBody>
      </p:sp>
      <p:sp>
        <p:nvSpPr>
          <p:cNvPr id="3" name="Text Placeholder 2">
            <a:extLst>
              <a:ext uri="{FF2B5EF4-FFF2-40B4-BE49-F238E27FC236}">
                <a16:creationId xmlns:a16="http://schemas.microsoft.com/office/drawing/2014/main" id="{9730BEAD-039F-459A-8E7F-7D7DDADFDAA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45599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AD80D-EDB1-4025-A44E-53CF0FFBB3CC}"/>
              </a:ext>
            </a:extLst>
          </p:cNvPr>
          <p:cNvSpPr>
            <a:spLocks noGrp="1"/>
          </p:cNvSpPr>
          <p:nvPr>
            <p:ph type="title"/>
          </p:nvPr>
        </p:nvSpPr>
        <p:spPr/>
        <p:txBody>
          <a:bodyPr/>
          <a:lstStyle/>
          <a:p>
            <a:r>
              <a:rPr lang="en-US"/>
              <a:t>GPU Usage by School/College</a:t>
            </a:r>
          </a:p>
        </p:txBody>
      </p:sp>
      <p:sp>
        <p:nvSpPr>
          <p:cNvPr id="3" name="Content Placeholder 2">
            <a:extLst>
              <a:ext uri="{FF2B5EF4-FFF2-40B4-BE49-F238E27FC236}">
                <a16:creationId xmlns:a16="http://schemas.microsoft.com/office/drawing/2014/main" id="{36810196-00F4-4D4A-B57F-2629350BB735}"/>
              </a:ext>
            </a:extLst>
          </p:cNvPr>
          <p:cNvSpPr>
            <a:spLocks noGrp="1"/>
          </p:cNvSpPr>
          <p:nvPr>
            <p:ph idx="1"/>
          </p:nvPr>
        </p:nvSpPr>
        <p:spPr/>
        <p:txBody>
          <a:bodyPr/>
          <a:lstStyle/>
          <a:p>
            <a:r>
              <a:rPr lang="en-US"/>
              <a:t>The next figures and tables break down the GPU usage by the Colleges/schools over the three years. </a:t>
            </a:r>
          </a:p>
          <a:p>
            <a:r>
              <a:rPr lang="en-US"/>
              <a:t>Again, it is clear that most </a:t>
            </a:r>
            <a:r>
              <a:rPr lang="en-US" err="1"/>
              <a:t>gpu</a:t>
            </a:r>
            <a:r>
              <a:rPr lang="en-US"/>
              <a:t> jobs were run by researchers from the CEC and COS.</a:t>
            </a:r>
          </a:p>
          <a:p>
            <a:endParaRPr lang="en-US"/>
          </a:p>
        </p:txBody>
      </p:sp>
    </p:spTree>
    <p:extLst>
      <p:ext uri="{BB962C8B-B14F-4D97-AF65-F5344CB8AC3E}">
        <p14:creationId xmlns:p14="http://schemas.microsoft.com/office/powerpoint/2010/main" val="249097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3EBDA-7BD5-435A-97C0-E7105AFD0D08}"/>
              </a:ext>
            </a:extLst>
          </p:cNvPr>
          <p:cNvSpPr>
            <a:spLocks noGrp="1"/>
          </p:cNvSpPr>
          <p:nvPr>
            <p:ph type="title"/>
          </p:nvPr>
        </p:nvSpPr>
        <p:spPr/>
        <p:txBody>
          <a:bodyPr/>
          <a:lstStyle/>
          <a:p>
            <a:r>
              <a:rPr lang="en-US"/>
              <a:t>GPU Usage by School/College</a:t>
            </a:r>
          </a:p>
        </p:txBody>
      </p:sp>
      <p:graphicFrame>
        <p:nvGraphicFramePr>
          <p:cNvPr id="6" name="Table 5">
            <a:extLst>
              <a:ext uri="{FF2B5EF4-FFF2-40B4-BE49-F238E27FC236}">
                <a16:creationId xmlns:a16="http://schemas.microsoft.com/office/drawing/2014/main" id="{46D77897-ED1D-4C27-8E07-F51406A41942}"/>
              </a:ext>
            </a:extLst>
          </p:cNvPr>
          <p:cNvGraphicFramePr>
            <a:graphicFrameLocks noGrp="1"/>
          </p:cNvGraphicFramePr>
          <p:nvPr>
            <p:extLst>
              <p:ext uri="{D42A27DB-BD31-4B8C-83A1-F6EECF244321}">
                <p14:modId xmlns:p14="http://schemas.microsoft.com/office/powerpoint/2010/main" val="3303624602"/>
              </p:ext>
            </p:extLst>
          </p:nvPr>
        </p:nvGraphicFramePr>
        <p:xfrm>
          <a:off x="1046700" y="1976873"/>
          <a:ext cx="2745546" cy="1590678"/>
        </p:xfrm>
        <a:graphic>
          <a:graphicData uri="http://schemas.openxmlformats.org/drawingml/2006/table">
            <a:tbl>
              <a:tblPr firstRow="1" firstCol="1" bandRow="1"/>
              <a:tblGrid>
                <a:gridCol w="782215">
                  <a:extLst>
                    <a:ext uri="{9D8B030D-6E8A-4147-A177-3AD203B41FA5}">
                      <a16:colId xmlns:a16="http://schemas.microsoft.com/office/drawing/2014/main" val="69405617"/>
                    </a:ext>
                  </a:extLst>
                </a:gridCol>
                <a:gridCol w="1963331">
                  <a:extLst>
                    <a:ext uri="{9D8B030D-6E8A-4147-A177-3AD203B41FA5}">
                      <a16:colId xmlns:a16="http://schemas.microsoft.com/office/drawing/2014/main" val="869635300"/>
                    </a:ext>
                  </a:extLst>
                </a:gridCol>
              </a:tblGrid>
              <a:tr h="265113">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Argo 2020 GPU Submits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9078477"/>
                  </a:ext>
                </a:extLst>
              </a:tr>
              <a:tr h="265113">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38302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5475007"/>
                  </a:ext>
                </a:extLst>
              </a:tr>
              <a:tr h="265113">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107410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0607311"/>
                  </a:ext>
                </a:extLst>
              </a:tr>
              <a:tr h="265113">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ORC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0830000"/>
                  </a:ext>
                </a:extLst>
              </a:tr>
              <a:tr h="265113">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SOM</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2431491"/>
                  </a:ext>
                </a:extLst>
              </a:tr>
              <a:tr h="265113">
                <a:tc>
                  <a:txBody>
                    <a:bodyPr/>
                    <a:lstStyle/>
                    <a:p>
                      <a:pPr marL="0" marR="0" algn="l">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145792</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2966002"/>
                  </a:ext>
                </a:extLst>
              </a:tr>
            </a:tbl>
          </a:graphicData>
        </a:graphic>
      </p:graphicFrame>
      <p:sp>
        <p:nvSpPr>
          <p:cNvPr id="7" name="Rectangle 4">
            <a:extLst>
              <a:ext uri="{FF2B5EF4-FFF2-40B4-BE49-F238E27FC236}">
                <a16:creationId xmlns:a16="http://schemas.microsoft.com/office/drawing/2014/main" id="{DFB6EBDC-09C0-427F-88A4-22FF527025F2}"/>
              </a:ext>
            </a:extLst>
          </p:cNvPr>
          <p:cNvSpPr>
            <a:spLocks noChangeArrowheads="1"/>
          </p:cNvSpPr>
          <p:nvPr/>
        </p:nvSpPr>
        <p:spPr bwMode="auto">
          <a:xfrm>
            <a:off x="4697413" y="32623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8195" name="Picture 15">
            <a:extLst>
              <a:ext uri="{FF2B5EF4-FFF2-40B4-BE49-F238E27FC236}">
                <a16:creationId xmlns:a16="http://schemas.microsoft.com/office/drawing/2014/main" id="{8933E709-2245-4AC0-8BCD-281247D711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528" y="3853737"/>
            <a:ext cx="3349347" cy="223667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Table 9">
            <a:extLst>
              <a:ext uri="{FF2B5EF4-FFF2-40B4-BE49-F238E27FC236}">
                <a16:creationId xmlns:a16="http://schemas.microsoft.com/office/drawing/2014/main" id="{C7AADDB1-A17E-4188-AAE0-9974D08D5F74}"/>
              </a:ext>
            </a:extLst>
          </p:cNvPr>
          <p:cNvGraphicFramePr>
            <a:graphicFrameLocks noGrp="1"/>
          </p:cNvGraphicFramePr>
          <p:nvPr>
            <p:extLst>
              <p:ext uri="{D42A27DB-BD31-4B8C-83A1-F6EECF244321}">
                <p14:modId xmlns:p14="http://schemas.microsoft.com/office/powerpoint/2010/main" val="1731047020"/>
              </p:ext>
            </p:extLst>
          </p:nvPr>
        </p:nvGraphicFramePr>
        <p:xfrm>
          <a:off x="4857226" y="1976873"/>
          <a:ext cx="2872826" cy="1566579"/>
        </p:xfrm>
        <a:graphic>
          <a:graphicData uri="http://schemas.openxmlformats.org/drawingml/2006/table">
            <a:tbl>
              <a:tblPr firstRow="1" firstCol="1" bandRow="1"/>
              <a:tblGrid>
                <a:gridCol w="748417">
                  <a:extLst>
                    <a:ext uri="{9D8B030D-6E8A-4147-A177-3AD203B41FA5}">
                      <a16:colId xmlns:a16="http://schemas.microsoft.com/office/drawing/2014/main" val="32073738"/>
                    </a:ext>
                  </a:extLst>
                </a:gridCol>
                <a:gridCol w="2124409">
                  <a:extLst>
                    <a:ext uri="{9D8B030D-6E8A-4147-A177-3AD203B41FA5}">
                      <a16:colId xmlns:a16="http://schemas.microsoft.com/office/drawing/2014/main" val="336692023"/>
                    </a:ext>
                  </a:extLst>
                </a:gridCol>
              </a:tblGrid>
              <a:tr h="223797">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Argo 2021 GPU  Submits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6037371"/>
                  </a:ext>
                </a:extLst>
              </a:tr>
              <a:tr h="223797">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28562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5483135"/>
                  </a:ext>
                </a:extLst>
              </a:tr>
              <a:tr h="223797">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CHSS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1184945"/>
                  </a:ext>
                </a:extLst>
              </a:tr>
              <a:tr h="223797">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87511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8166211"/>
                  </a:ext>
                </a:extLst>
              </a:tr>
              <a:tr h="223797">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ORC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2791116"/>
                  </a:ext>
                </a:extLst>
              </a:tr>
              <a:tr h="223797">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SOM</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1230584"/>
                  </a:ext>
                </a:extLst>
              </a:tr>
              <a:tr h="223797">
                <a:tc>
                  <a:txBody>
                    <a:bodyPr/>
                    <a:lstStyle/>
                    <a:p>
                      <a:pPr marL="0" marR="0" algn="r">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116147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2253063"/>
                  </a:ext>
                </a:extLst>
              </a:tr>
            </a:tbl>
          </a:graphicData>
        </a:graphic>
      </p:graphicFrame>
      <p:pic>
        <p:nvPicPr>
          <p:cNvPr id="8199" name="Picture 16">
            <a:extLst>
              <a:ext uri="{FF2B5EF4-FFF2-40B4-BE49-F238E27FC236}">
                <a16:creationId xmlns:a16="http://schemas.microsoft.com/office/drawing/2014/main" id="{7583F798-7F43-4BE0-AF48-9380C9A5E0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1788" y="3810953"/>
            <a:ext cx="3548423" cy="23643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Table 11">
            <a:extLst>
              <a:ext uri="{FF2B5EF4-FFF2-40B4-BE49-F238E27FC236}">
                <a16:creationId xmlns:a16="http://schemas.microsoft.com/office/drawing/2014/main" id="{9809573C-E263-46A1-B175-E7C40E0A896F}"/>
              </a:ext>
            </a:extLst>
          </p:cNvPr>
          <p:cNvGraphicFramePr>
            <a:graphicFrameLocks noGrp="1"/>
          </p:cNvGraphicFramePr>
          <p:nvPr>
            <p:extLst>
              <p:ext uri="{D42A27DB-BD31-4B8C-83A1-F6EECF244321}">
                <p14:modId xmlns:p14="http://schemas.microsoft.com/office/powerpoint/2010/main" val="1762831178"/>
              </p:ext>
            </p:extLst>
          </p:nvPr>
        </p:nvGraphicFramePr>
        <p:xfrm>
          <a:off x="8895904" y="2025015"/>
          <a:ext cx="2580749" cy="1114952"/>
        </p:xfrm>
        <a:graphic>
          <a:graphicData uri="http://schemas.openxmlformats.org/drawingml/2006/table">
            <a:tbl>
              <a:tblPr firstRow="1" firstCol="1" bandRow="1"/>
              <a:tblGrid>
                <a:gridCol w="706853">
                  <a:extLst>
                    <a:ext uri="{9D8B030D-6E8A-4147-A177-3AD203B41FA5}">
                      <a16:colId xmlns:a16="http://schemas.microsoft.com/office/drawing/2014/main" val="752254012"/>
                    </a:ext>
                  </a:extLst>
                </a:gridCol>
                <a:gridCol w="1873896">
                  <a:extLst>
                    <a:ext uri="{9D8B030D-6E8A-4147-A177-3AD203B41FA5}">
                      <a16:colId xmlns:a16="http://schemas.microsoft.com/office/drawing/2014/main" val="2860437139"/>
                    </a:ext>
                  </a:extLst>
                </a:gridCol>
              </a:tblGrid>
              <a:tr h="211700">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Argo 2022 GPU Submits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2604383"/>
                  </a:ext>
                </a:extLst>
              </a:tr>
              <a:tr h="225813">
                <a:tc>
                  <a:txBody>
                    <a:bodyPr/>
                    <a:lstStyle/>
                    <a:p>
                      <a:pPr algn="l" fontAlgn="b"/>
                      <a:r>
                        <a:rPr lang="en-US" sz="1100" b="0" i="0" u="none" strike="noStrike">
                          <a:solidFill>
                            <a:srgbClr val="000000"/>
                          </a:solidFill>
                          <a:effectLst/>
                          <a:latin typeface="Calibri" panose="020F0502020204030204" pitchFamily="34" charset="0"/>
                        </a:rPr>
                        <a:t>CEC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12404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1038794"/>
                  </a:ext>
                </a:extLst>
              </a:tr>
              <a:tr h="225813">
                <a:tc>
                  <a:txBody>
                    <a:bodyPr/>
                    <a:lstStyle/>
                    <a:p>
                      <a:pPr algn="l" fontAlgn="b"/>
                      <a:r>
                        <a:rPr lang="en-US" sz="1100" b="0" i="0" u="none" strike="noStrike">
                          <a:solidFill>
                            <a:srgbClr val="000000"/>
                          </a:solidFill>
                          <a:effectLst/>
                          <a:latin typeface="Calibri" panose="020F0502020204030204" pitchFamily="34" charset="0"/>
                        </a:rPr>
                        <a:t>COS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3091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7133920"/>
                  </a:ext>
                </a:extLst>
              </a:tr>
              <a:tr h="225813">
                <a:tc>
                  <a:txBody>
                    <a:bodyPr/>
                    <a:lstStyle/>
                    <a:p>
                      <a:pPr algn="l" fontAlgn="b"/>
                      <a:r>
                        <a:rPr lang="en-US" sz="1100" b="0" i="0" u="none" strike="noStrike">
                          <a:solidFill>
                            <a:srgbClr val="000000"/>
                          </a:solidFill>
                          <a:effectLst/>
                          <a:latin typeface="Calibri" panose="020F0502020204030204" pitchFamily="34" charset="0"/>
                        </a:rPr>
                        <a:t>ORC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68</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1592879"/>
                  </a:ext>
                </a:extLst>
              </a:tr>
              <a:tr h="225813">
                <a:tc>
                  <a:txBody>
                    <a:bodyPr/>
                    <a:lstStyle/>
                    <a:p>
                      <a:pPr algn="l" fontAlgn="b"/>
                      <a:r>
                        <a:rPr lang="en-US" sz="1100" b="0" i="0" u="none" strike="noStrike">
                          <a:solidFill>
                            <a:srgbClr val="000000"/>
                          </a:solidFill>
                          <a:effectLst/>
                          <a:latin typeface="Calibri" panose="020F0502020204030204" pitchFamily="34" charset="0"/>
                        </a:rPr>
                        <a:t>TOTAL</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15563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416374"/>
                  </a:ext>
                </a:extLst>
              </a:tr>
            </a:tbl>
          </a:graphicData>
        </a:graphic>
      </p:graphicFrame>
      <p:pic>
        <p:nvPicPr>
          <p:cNvPr id="8" name="Picture 7">
            <a:extLst>
              <a:ext uri="{FF2B5EF4-FFF2-40B4-BE49-F238E27FC236}">
                <a16:creationId xmlns:a16="http://schemas.microsoft.com/office/drawing/2014/main" id="{B6EC356A-1C5A-4024-B796-405BE50021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0959" y="3726065"/>
            <a:ext cx="3546513" cy="2364342"/>
          </a:xfrm>
          <a:prstGeom prst="rect">
            <a:avLst/>
          </a:prstGeom>
        </p:spPr>
      </p:pic>
    </p:spTree>
    <p:extLst>
      <p:ext uri="{BB962C8B-B14F-4D97-AF65-F5344CB8AC3E}">
        <p14:creationId xmlns:p14="http://schemas.microsoft.com/office/powerpoint/2010/main" val="857624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ADCCB-40A1-4B0A-8283-61E0E31F0CE5}"/>
              </a:ext>
            </a:extLst>
          </p:cNvPr>
          <p:cNvSpPr>
            <a:spLocks noGrp="1"/>
          </p:cNvSpPr>
          <p:nvPr>
            <p:ph type="title"/>
          </p:nvPr>
        </p:nvSpPr>
        <p:spPr/>
        <p:txBody>
          <a:bodyPr/>
          <a:lstStyle/>
          <a:p>
            <a:r>
              <a:rPr lang="en-US"/>
              <a:t>ARGO GPU Usage by department </a:t>
            </a:r>
          </a:p>
        </p:txBody>
      </p:sp>
      <p:sp>
        <p:nvSpPr>
          <p:cNvPr id="3" name="Content Placeholder 2">
            <a:extLst>
              <a:ext uri="{FF2B5EF4-FFF2-40B4-BE49-F238E27FC236}">
                <a16:creationId xmlns:a16="http://schemas.microsoft.com/office/drawing/2014/main" id="{3933E91F-0A74-4F77-A4CB-9B70FE267BF4}"/>
              </a:ext>
            </a:extLst>
          </p:cNvPr>
          <p:cNvSpPr>
            <a:spLocks noGrp="1"/>
          </p:cNvSpPr>
          <p:nvPr>
            <p:ph idx="1"/>
          </p:nvPr>
        </p:nvSpPr>
        <p:spPr/>
        <p:txBody>
          <a:bodyPr/>
          <a:lstStyle/>
          <a:p>
            <a:r>
              <a:rPr lang="en-US"/>
              <a:t>The next tables show the accounting information for ARGO over the 3 years for </a:t>
            </a:r>
            <a:r>
              <a:rPr lang="en-US" b="1"/>
              <a:t>GPU jobs </a:t>
            </a:r>
            <a:r>
              <a:rPr lang="en-US"/>
              <a:t>submitted from the different departments. </a:t>
            </a:r>
          </a:p>
          <a:p>
            <a:r>
              <a:rPr lang="en-US"/>
              <a:t>The tables give yearly totals for how many jobs each department submitted (No. of Submits), how many hours they ran for (Runtime counted hours),  how many CPUS and GPUS they used, and how much memory they used (in GB) over each year.  </a:t>
            </a:r>
          </a:p>
          <a:p>
            <a:endParaRPr lang="en-US"/>
          </a:p>
          <a:p>
            <a:endParaRPr lang="en-US"/>
          </a:p>
        </p:txBody>
      </p:sp>
    </p:spTree>
    <p:extLst>
      <p:ext uri="{BB962C8B-B14F-4D97-AF65-F5344CB8AC3E}">
        <p14:creationId xmlns:p14="http://schemas.microsoft.com/office/powerpoint/2010/main" val="3883666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823EB-BFEE-4752-9A61-D5D2F09AA2AC}"/>
              </a:ext>
            </a:extLst>
          </p:cNvPr>
          <p:cNvSpPr>
            <a:spLocks noGrp="1"/>
          </p:cNvSpPr>
          <p:nvPr>
            <p:ph type="title"/>
          </p:nvPr>
        </p:nvSpPr>
        <p:spPr/>
        <p:txBody>
          <a:bodyPr/>
          <a:lstStyle/>
          <a:p>
            <a:r>
              <a:rPr lang="en-US"/>
              <a:t>GPU Usage by department: ARGO 2020</a:t>
            </a:r>
          </a:p>
        </p:txBody>
      </p:sp>
      <p:graphicFrame>
        <p:nvGraphicFramePr>
          <p:cNvPr id="5" name="Table 4">
            <a:extLst>
              <a:ext uri="{FF2B5EF4-FFF2-40B4-BE49-F238E27FC236}">
                <a16:creationId xmlns:a16="http://schemas.microsoft.com/office/drawing/2014/main" id="{2E77E8F8-9963-4EFB-B47D-F56E66841678}"/>
              </a:ext>
            </a:extLst>
          </p:cNvPr>
          <p:cNvGraphicFramePr>
            <a:graphicFrameLocks noGrp="1"/>
          </p:cNvGraphicFramePr>
          <p:nvPr>
            <p:extLst>
              <p:ext uri="{D42A27DB-BD31-4B8C-83A1-F6EECF244321}">
                <p14:modId xmlns:p14="http://schemas.microsoft.com/office/powerpoint/2010/main" val="377463179"/>
              </p:ext>
            </p:extLst>
          </p:nvPr>
        </p:nvGraphicFramePr>
        <p:xfrm>
          <a:off x="838200" y="1543808"/>
          <a:ext cx="10302381" cy="4849267"/>
        </p:xfrm>
        <a:graphic>
          <a:graphicData uri="http://schemas.openxmlformats.org/drawingml/2006/table">
            <a:tbl>
              <a:tblPr firstRow="1" firstCol="1" bandRow="1"/>
              <a:tblGrid>
                <a:gridCol w="3691857">
                  <a:extLst>
                    <a:ext uri="{9D8B030D-6E8A-4147-A177-3AD203B41FA5}">
                      <a16:colId xmlns:a16="http://schemas.microsoft.com/office/drawing/2014/main" val="3803252538"/>
                    </a:ext>
                  </a:extLst>
                </a:gridCol>
                <a:gridCol w="1182848">
                  <a:extLst>
                    <a:ext uri="{9D8B030D-6E8A-4147-A177-3AD203B41FA5}">
                      <a16:colId xmlns:a16="http://schemas.microsoft.com/office/drawing/2014/main" val="1775328678"/>
                    </a:ext>
                  </a:extLst>
                </a:gridCol>
                <a:gridCol w="1753299">
                  <a:extLst>
                    <a:ext uri="{9D8B030D-6E8A-4147-A177-3AD203B41FA5}">
                      <a16:colId xmlns:a16="http://schemas.microsoft.com/office/drawing/2014/main" val="4075103601"/>
                    </a:ext>
                  </a:extLst>
                </a:gridCol>
                <a:gridCol w="1300293">
                  <a:extLst>
                    <a:ext uri="{9D8B030D-6E8A-4147-A177-3AD203B41FA5}">
                      <a16:colId xmlns:a16="http://schemas.microsoft.com/office/drawing/2014/main" val="2025121180"/>
                    </a:ext>
                  </a:extLst>
                </a:gridCol>
                <a:gridCol w="1124125">
                  <a:extLst>
                    <a:ext uri="{9D8B030D-6E8A-4147-A177-3AD203B41FA5}">
                      <a16:colId xmlns:a16="http://schemas.microsoft.com/office/drawing/2014/main" val="2171998480"/>
                    </a:ext>
                  </a:extLst>
                </a:gridCol>
                <a:gridCol w="1249959">
                  <a:extLst>
                    <a:ext uri="{9D8B030D-6E8A-4147-A177-3AD203B41FA5}">
                      <a16:colId xmlns:a16="http://schemas.microsoft.com/office/drawing/2014/main" val="2455743264"/>
                    </a:ext>
                  </a:extLst>
                </a:gridCol>
              </a:tblGrid>
              <a:tr h="382091">
                <a:tc>
                  <a:txBody>
                    <a:bodyPr/>
                    <a:lstStyle/>
                    <a:p>
                      <a:pPr marL="0" marR="0" algn="ct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All Jobs Submitted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Cumulative </a:t>
                      </a:r>
                      <a:r>
                        <a:rPr lang="en-US" sz="1100" b="1"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RunTime</a:t>
                      </a: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US" sz="1100" b="1"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Hrs</a:t>
                      </a: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 of CPUS used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 of GPUS used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Total Memory used in GB</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9223020"/>
                  </a:ext>
                </a:extLst>
              </a:tr>
              <a:tr h="199171">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Data Analytics and Engineering</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473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1657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473</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605</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18362</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5579405"/>
                  </a:ext>
                </a:extLst>
              </a:tr>
              <a:tr h="199171">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Biology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104271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8613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104271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105282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6290878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801328"/>
                  </a:ext>
                </a:extLst>
              </a:tr>
              <a:tr h="199171">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Chemistry and Biochemistry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381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414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413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381</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2222</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776420"/>
                  </a:ext>
                </a:extLst>
              </a:tr>
              <a:tr h="382091">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Computational and Data Sciences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2323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50435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14586</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2878</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451588</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5082051"/>
                  </a:ext>
                </a:extLst>
              </a:tr>
              <a:tr h="382091">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Department of Computer Science</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19482</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78594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48991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23370</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41966418</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393136"/>
                  </a:ext>
                </a:extLst>
              </a:tr>
              <a:tr h="382091">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Department of Electrical and Computer Engineering</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7059</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9408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7843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7065</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23105123</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8022365"/>
                  </a:ext>
                </a:extLst>
              </a:tr>
              <a:tr h="382091">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Department of Information Sciences and Technology</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115</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260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160</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137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2104358</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1094436"/>
                  </a:ext>
                </a:extLst>
              </a:tr>
              <a:tr h="199171">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Department of Mathematical Sciences</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154</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154</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266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1147</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6209546"/>
                  </a:ext>
                </a:extLst>
              </a:tr>
              <a:tr h="199171">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Department of Mechanical Engineering</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23</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134</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509</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1920474"/>
                  </a:ext>
                </a:extLst>
              </a:tr>
              <a:tr h="199171">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Department of Physics and Astronomy</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70</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1126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8920531"/>
                  </a:ext>
                </a:extLst>
              </a:tr>
              <a:tr h="382091">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Department of Systems Engineering and Operations Research</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10961</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7944</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10961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11051</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8711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2671127"/>
                  </a:ext>
                </a:extLst>
              </a:tr>
              <a:tr h="199171">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Office of Research Computing</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79</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25</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133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89</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1421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9473224"/>
                  </a:ext>
                </a:extLst>
              </a:tr>
              <a:tr h="199171">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School of Business</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1</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0</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1</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858054"/>
                  </a:ext>
                </a:extLst>
              </a:tr>
              <a:tr h="199171">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School of Systems Biology</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211</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157</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3867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693</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275338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7484531"/>
                  </a:ext>
                </a:extLst>
              </a:tr>
              <a:tr h="382091">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Department of Civil, Environmental, and Infrastructure Engineering</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189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a:ea typeface="Times New Roman" panose="02020603050405020304" pitchFamily="18" charset="0"/>
                          <a:cs typeface="Calibri"/>
                        </a:rPr>
                        <a:t>325</a:t>
                      </a:r>
                      <a:endParaRPr lang="en-US" sz="1100">
                        <a:effectLst/>
                        <a:latin typeface="Calibri"/>
                        <a:ea typeface="Calibri" panose="020F0502020204030204" pitchFamily="34" charset="0"/>
                        <a:cs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227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214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6188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5359456"/>
                  </a:ext>
                </a:extLst>
              </a:tr>
              <a:tr h="382091">
                <a:tc>
                  <a:txBody>
                    <a:bodyPr/>
                    <a:lstStyle/>
                    <a:p>
                      <a:pPr marL="0" marR="0" algn="ctr">
                        <a:lnSpc>
                          <a:spcPct val="107000"/>
                        </a:lnSpc>
                        <a:spcBef>
                          <a:spcPts val="0"/>
                        </a:spcBef>
                        <a:spcAft>
                          <a:spcPts val="0"/>
                        </a:spcAft>
                      </a:pPr>
                      <a:r>
                        <a:rPr lang="en-US" sz="1100" b="1">
                          <a:effectLst/>
                          <a:latin typeface="Calibri" panose="020F0502020204030204" pitchFamily="34" charset="0"/>
                          <a:ea typeface="Calibri" panose="020F0502020204030204" pitchFamily="34" charset="0"/>
                          <a:cs typeface="Arial" panose="020B0604020202020204" pitchFamily="34" charset="0"/>
                        </a:rPr>
                        <a:t>TOTALS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145792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158077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192284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152121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Calibri" panose="020F0502020204030204" pitchFamily="34" charset="0"/>
                        </a:rPr>
                        <a:t>74233391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0752506"/>
                  </a:ext>
                </a:extLst>
              </a:tr>
            </a:tbl>
          </a:graphicData>
        </a:graphic>
      </p:graphicFrame>
    </p:spTree>
    <p:extLst>
      <p:ext uri="{BB962C8B-B14F-4D97-AF65-F5344CB8AC3E}">
        <p14:creationId xmlns:p14="http://schemas.microsoft.com/office/powerpoint/2010/main" val="14776308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D0B2E-6476-4CB9-AC8C-77960F3EF0D1}"/>
              </a:ext>
            </a:extLst>
          </p:cNvPr>
          <p:cNvSpPr>
            <a:spLocks noGrp="1"/>
          </p:cNvSpPr>
          <p:nvPr>
            <p:ph type="title"/>
          </p:nvPr>
        </p:nvSpPr>
        <p:spPr/>
        <p:txBody>
          <a:bodyPr/>
          <a:lstStyle/>
          <a:p>
            <a:r>
              <a:rPr lang="en-US"/>
              <a:t>GPU Usage by department: ARGO 2021</a:t>
            </a:r>
          </a:p>
        </p:txBody>
      </p:sp>
      <p:graphicFrame>
        <p:nvGraphicFramePr>
          <p:cNvPr id="5" name="Table 4">
            <a:extLst>
              <a:ext uri="{FF2B5EF4-FFF2-40B4-BE49-F238E27FC236}">
                <a16:creationId xmlns:a16="http://schemas.microsoft.com/office/drawing/2014/main" id="{F07FE7DC-EAD7-42C2-AFC5-A6B31A0955D7}"/>
              </a:ext>
            </a:extLst>
          </p:cNvPr>
          <p:cNvGraphicFramePr>
            <a:graphicFrameLocks noGrp="1"/>
          </p:cNvGraphicFramePr>
          <p:nvPr>
            <p:extLst>
              <p:ext uri="{D42A27DB-BD31-4B8C-83A1-F6EECF244321}">
                <p14:modId xmlns:p14="http://schemas.microsoft.com/office/powerpoint/2010/main" val="3727567711"/>
              </p:ext>
            </p:extLst>
          </p:nvPr>
        </p:nvGraphicFramePr>
        <p:xfrm>
          <a:off x="924187" y="1397982"/>
          <a:ext cx="10343626" cy="5218316"/>
        </p:xfrm>
        <a:graphic>
          <a:graphicData uri="http://schemas.openxmlformats.org/drawingml/2006/table">
            <a:tbl>
              <a:tblPr firstRow="1" firstCol="1" bandRow="1"/>
              <a:tblGrid>
                <a:gridCol w="4193361">
                  <a:extLst>
                    <a:ext uri="{9D8B030D-6E8A-4147-A177-3AD203B41FA5}">
                      <a16:colId xmlns:a16="http://schemas.microsoft.com/office/drawing/2014/main" val="2939180091"/>
                    </a:ext>
                  </a:extLst>
                </a:gridCol>
                <a:gridCol w="987769">
                  <a:extLst>
                    <a:ext uri="{9D8B030D-6E8A-4147-A177-3AD203B41FA5}">
                      <a16:colId xmlns:a16="http://schemas.microsoft.com/office/drawing/2014/main" val="439072858"/>
                    </a:ext>
                  </a:extLst>
                </a:gridCol>
                <a:gridCol w="1341876">
                  <a:extLst>
                    <a:ext uri="{9D8B030D-6E8A-4147-A177-3AD203B41FA5}">
                      <a16:colId xmlns:a16="http://schemas.microsoft.com/office/drawing/2014/main" val="2656523491"/>
                    </a:ext>
                  </a:extLst>
                </a:gridCol>
                <a:gridCol w="1211416">
                  <a:extLst>
                    <a:ext uri="{9D8B030D-6E8A-4147-A177-3AD203B41FA5}">
                      <a16:colId xmlns:a16="http://schemas.microsoft.com/office/drawing/2014/main" val="2083456727"/>
                    </a:ext>
                  </a:extLst>
                </a:gridCol>
                <a:gridCol w="1214523">
                  <a:extLst>
                    <a:ext uri="{9D8B030D-6E8A-4147-A177-3AD203B41FA5}">
                      <a16:colId xmlns:a16="http://schemas.microsoft.com/office/drawing/2014/main" val="1582869879"/>
                    </a:ext>
                  </a:extLst>
                </a:gridCol>
                <a:gridCol w="1394681">
                  <a:extLst>
                    <a:ext uri="{9D8B030D-6E8A-4147-A177-3AD203B41FA5}">
                      <a16:colId xmlns:a16="http://schemas.microsoft.com/office/drawing/2014/main" val="3432325749"/>
                    </a:ext>
                  </a:extLst>
                </a:gridCol>
              </a:tblGrid>
              <a:tr h="389348">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All Jobs Submitted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Cumulative </a:t>
                      </a:r>
                      <a:r>
                        <a:rPr lang="en-US" sz="1100" b="1"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RunTime</a:t>
                      </a: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US" sz="1100" b="1"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Hrs</a:t>
                      </a: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 of CPUS used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 of GPUS used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Total Memory used in GB</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0053226"/>
                  </a:ext>
                </a:extLst>
              </a:tr>
              <a:tr h="18385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Data Analytics and Engineering</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18</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93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92</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50</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1216</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71491124"/>
                  </a:ext>
                </a:extLst>
              </a:tr>
              <a:tr h="18385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Biology</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74616</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10326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75351</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74536</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4855065</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3277343"/>
                  </a:ext>
                </a:extLst>
              </a:tr>
              <a:tr h="35270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Chemistry and Biochemistry</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41</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151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43</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82</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477</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5830623"/>
                  </a:ext>
                </a:extLst>
              </a:tr>
              <a:tr h="35270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Computational and Data Sciences</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5069</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27789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37841</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4649</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80282</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4018503"/>
                  </a:ext>
                </a:extLst>
              </a:tr>
              <a:tr h="18385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Computer Science</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20540</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82341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56438</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24740</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2478570</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7189157"/>
                  </a:ext>
                </a:extLst>
              </a:tr>
              <a:tr h="35270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Electrical and Computer Engineering</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1269</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4332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5050</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1213</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302686</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3417124"/>
                  </a:ext>
                </a:extLst>
              </a:tr>
              <a:tr h="35270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Environmental Science and Policy</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27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24</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300</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3295357"/>
                  </a:ext>
                </a:extLst>
              </a:tr>
              <a:tr h="35270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Geography and Geoinformation Science</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27</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8151866"/>
                  </a:ext>
                </a:extLst>
              </a:tr>
              <a:tr h="18385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History and Art History</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26</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525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26</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57</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2068</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8917871"/>
                  </a:ext>
                </a:extLst>
              </a:tr>
              <a:tr h="35270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Information Sciences and Technology</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6566</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2180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8134</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6518</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220816</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939866"/>
                  </a:ext>
                </a:extLst>
              </a:tr>
              <a:tr h="18385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Mathematical Sciences</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7483</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9491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7491</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7639</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33428</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31809072"/>
                  </a:ext>
                </a:extLst>
              </a:tr>
              <a:tr h="18385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Mechanical Engineering</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15</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239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150</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15</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1611</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1765627"/>
                  </a:ext>
                </a:extLst>
              </a:tr>
              <a:tr h="35270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Systems Engineering and Operations Research</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25</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35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64</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15</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462</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8878294"/>
                  </a:ext>
                </a:extLst>
              </a:tr>
              <a:tr h="18385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Office of Research Computing</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31</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368</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37</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1280</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0026805"/>
                  </a:ext>
                </a:extLst>
              </a:tr>
              <a:tr h="18385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School of Business</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42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56</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13</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234</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2247823"/>
                  </a:ext>
                </a:extLst>
              </a:tr>
              <a:tr h="18385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School of Systems Biology</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287</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7252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5922</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800</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11844</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0106712"/>
                  </a:ext>
                </a:extLst>
              </a:tr>
              <a:tr h="352701">
                <a:tc>
                  <a:txBody>
                    <a:bodyPr/>
                    <a:lstStyle/>
                    <a:p>
                      <a:pPr marL="0" marR="0">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Civil, Environmental, and Infrastructure Engineering</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129</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000" b="0" i="0" u="none" strike="noStrike">
                          <a:solidFill>
                            <a:srgbClr val="000000"/>
                          </a:solidFill>
                          <a:effectLst/>
                          <a:latin typeface="Calibri" panose="020F0502020204030204" pitchFamily="34" charset="0"/>
                        </a:rPr>
                        <a:t>420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129</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128</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4720</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8527576"/>
                  </a:ext>
                </a:extLst>
              </a:tr>
              <a:tr h="352701">
                <a:tc>
                  <a:txBody>
                    <a:bodyPr/>
                    <a:lstStyle/>
                    <a:p>
                      <a:pPr marL="0" marR="0">
                        <a:lnSpc>
                          <a:spcPct val="107000"/>
                        </a:lnSpc>
                        <a:spcBef>
                          <a:spcPts val="0"/>
                        </a:spcBef>
                        <a:spcAft>
                          <a:spcPts val="0"/>
                        </a:spcAft>
                      </a:pPr>
                      <a:r>
                        <a:rPr lang="en-US" sz="1000" b="1">
                          <a:effectLst/>
                          <a:latin typeface="Calibri" panose="020F0502020204030204" pitchFamily="34" charset="0"/>
                          <a:ea typeface="Calibri" panose="020F0502020204030204" pitchFamily="34" charset="0"/>
                          <a:cs typeface="Arial" panose="020B0604020202020204" pitchFamily="34" charset="0"/>
                        </a:rPr>
                        <a:t>TOTALS</a:t>
                      </a:r>
                    </a:p>
                  </a:txBody>
                  <a:tcPr marL="62125" marR="6212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116147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145247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197193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120505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7995086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3039609"/>
                  </a:ext>
                </a:extLst>
              </a:tr>
            </a:tbl>
          </a:graphicData>
        </a:graphic>
      </p:graphicFrame>
    </p:spTree>
    <p:extLst>
      <p:ext uri="{BB962C8B-B14F-4D97-AF65-F5344CB8AC3E}">
        <p14:creationId xmlns:p14="http://schemas.microsoft.com/office/powerpoint/2010/main" val="752781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54704-A510-470B-B82A-C5E07ACB8680}"/>
              </a:ext>
            </a:extLst>
          </p:cNvPr>
          <p:cNvSpPr>
            <a:spLocks noGrp="1"/>
          </p:cNvSpPr>
          <p:nvPr>
            <p:ph type="title"/>
          </p:nvPr>
        </p:nvSpPr>
        <p:spPr/>
        <p:txBody>
          <a:bodyPr/>
          <a:lstStyle/>
          <a:p>
            <a:r>
              <a:rPr lang="en-US"/>
              <a:t>GPU Usage by department: ARGO 2022</a:t>
            </a:r>
          </a:p>
        </p:txBody>
      </p:sp>
      <p:graphicFrame>
        <p:nvGraphicFramePr>
          <p:cNvPr id="3" name="Table 2">
            <a:extLst>
              <a:ext uri="{FF2B5EF4-FFF2-40B4-BE49-F238E27FC236}">
                <a16:creationId xmlns:a16="http://schemas.microsoft.com/office/drawing/2014/main" id="{0BA1E8E7-F350-403C-93A1-FFD7D50FB46C}"/>
              </a:ext>
            </a:extLst>
          </p:cNvPr>
          <p:cNvGraphicFramePr>
            <a:graphicFrameLocks noGrp="1"/>
          </p:cNvGraphicFramePr>
          <p:nvPr>
            <p:extLst>
              <p:ext uri="{D42A27DB-BD31-4B8C-83A1-F6EECF244321}">
                <p14:modId xmlns:p14="http://schemas.microsoft.com/office/powerpoint/2010/main" val="1967456440"/>
              </p:ext>
            </p:extLst>
          </p:nvPr>
        </p:nvGraphicFramePr>
        <p:xfrm>
          <a:off x="634481" y="1884784"/>
          <a:ext cx="10610167" cy="3269472"/>
        </p:xfrm>
        <a:graphic>
          <a:graphicData uri="http://schemas.openxmlformats.org/drawingml/2006/table">
            <a:tbl>
              <a:tblPr/>
              <a:tblGrid>
                <a:gridCol w="3356751">
                  <a:extLst>
                    <a:ext uri="{9D8B030D-6E8A-4147-A177-3AD203B41FA5}">
                      <a16:colId xmlns:a16="http://schemas.microsoft.com/office/drawing/2014/main" val="3869592687"/>
                    </a:ext>
                  </a:extLst>
                </a:gridCol>
                <a:gridCol w="1152973">
                  <a:extLst>
                    <a:ext uri="{9D8B030D-6E8A-4147-A177-3AD203B41FA5}">
                      <a16:colId xmlns:a16="http://schemas.microsoft.com/office/drawing/2014/main" val="365881424"/>
                    </a:ext>
                  </a:extLst>
                </a:gridCol>
                <a:gridCol w="1169836">
                  <a:extLst>
                    <a:ext uri="{9D8B030D-6E8A-4147-A177-3AD203B41FA5}">
                      <a16:colId xmlns:a16="http://schemas.microsoft.com/office/drawing/2014/main" val="116799021"/>
                    </a:ext>
                  </a:extLst>
                </a:gridCol>
                <a:gridCol w="1260737">
                  <a:extLst>
                    <a:ext uri="{9D8B030D-6E8A-4147-A177-3AD203B41FA5}">
                      <a16:colId xmlns:a16="http://schemas.microsoft.com/office/drawing/2014/main" val="2716155186"/>
                    </a:ext>
                  </a:extLst>
                </a:gridCol>
                <a:gridCol w="1173360">
                  <a:extLst>
                    <a:ext uri="{9D8B030D-6E8A-4147-A177-3AD203B41FA5}">
                      <a16:colId xmlns:a16="http://schemas.microsoft.com/office/drawing/2014/main" val="3515574644"/>
                    </a:ext>
                  </a:extLst>
                </a:gridCol>
                <a:gridCol w="1198324">
                  <a:extLst>
                    <a:ext uri="{9D8B030D-6E8A-4147-A177-3AD203B41FA5}">
                      <a16:colId xmlns:a16="http://schemas.microsoft.com/office/drawing/2014/main" val="1588245837"/>
                    </a:ext>
                  </a:extLst>
                </a:gridCol>
                <a:gridCol w="1298186">
                  <a:extLst>
                    <a:ext uri="{9D8B030D-6E8A-4147-A177-3AD203B41FA5}">
                      <a16:colId xmlns:a16="http://schemas.microsoft.com/office/drawing/2014/main" val="874786482"/>
                    </a:ext>
                  </a:extLst>
                </a:gridCol>
              </a:tblGrid>
              <a:tr h="241430">
                <a:tc>
                  <a:txBody>
                    <a:bodyPr/>
                    <a:lstStyle/>
                    <a:p>
                      <a:pPr algn="l" fontAlgn="b"/>
                      <a:r>
                        <a:rPr lang="en-US" sz="1200" b="1" i="0" u="none" strike="noStrike">
                          <a:solidFill>
                            <a:srgbClr val="000000"/>
                          </a:solidFill>
                          <a:effectLst/>
                          <a:latin typeface="Calibri" panose="020F0502020204030204" pitchFamily="34" charset="0"/>
                        </a:rPr>
                        <a:t>Department</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1" i="0" u="none" strike="noStrike">
                          <a:solidFill>
                            <a:srgbClr val="000000"/>
                          </a:solidFill>
                          <a:effectLst/>
                          <a:latin typeface="Calibri" panose="020F0502020204030204" pitchFamily="34" charset="0"/>
                        </a:rPr>
                        <a:t>All Jobs Submitted</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1" i="0" u="none" strike="noStrike">
                          <a:solidFill>
                            <a:srgbClr val="000000"/>
                          </a:solidFill>
                          <a:effectLst/>
                          <a:latin typeface="Calibri" panose="020F0502020204030204" pitchFamily="34" charset="0"/>
                        </a:rPr>
                        <a:t>CoreHours</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1" i="0" u="none" strike="noStrike">
                          <a:solidFill>
                            <a:srgbClr val="000000"/>
                          </a:solidFill>
                          <a:effectLst/>
                          <a:latin typeface="Calibri" panose="020F0502020204030204" pitchFamily="34" charset="0"/>
                        </a:rPr>
                        <a:t>GPUHours</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1" i="0" u="none" strike="noStrike">
                          <a:solidFill>
                            <a:srgbClr val="000000"/>
                          </a:solidFill>
                          <a:effectLst/>
                          <a:latin typeface="Calibri" panose="020F0502020204030204" pitchFamily="34" charset="0"/>
                        </a:rPr>
                        <a:t>No. of CPUS used</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1" i="0" u="none" strike="noStrike">
                          <a:solidFill>
                            <a:srgbClr val="000000"/>
                          </a:solidFill>
                          <a:effectLst/>
                          <a:latin typeface="Calibri" panose="020F0502020204030204" pitchFamily="34" charset="0"/>
                        </a:rPr>
                        <a:t>No. of GPUS used</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1" i="0" u="none" strike="noStrike">
                          <a:solidFill>
                            <a:srgbClr val="000000"/>
                          </a:solidFill>
                          <a:effectLst/>
                          <a:latin typeface="Calibri" panose="020F0502020204030204" pitchFamily="34" charset="0"/>
                        </a:rPr>
                        <a:t>Total Memory in GB</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7453614"/>
                  </a:ext>
                </a:extLst>
              </a:tr>
              <a:tr h="241430">
                <a:tc>
                  <a:txBody>
                    <a:bodyPr/>
                    <a:lstStyle/>
                    <a:p>
                      <a:pPr algn="l" fontAlgn="b"/>
                      <a:r>
                        <a:rPr lang="en-US" sz="1200" b="0" i="0" u="none" strike="noStrike">
                          <a:solidFill>
                            <a:srgbClr val="000000"/>
                          </a:solidFill>
                          <a:effectLst/>
                          <a:latin typeface="Calibri" panose="020F0502020204030204" pitchFamily="34" charset="0"/>
                        </a:rPr>
                        <a:t>Department of Biology</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1902</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4621.51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4642.23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1902</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1877</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86393</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7570602"/>
                  </a:ext>
                </a:extLst>
              </a:tr>
              <a:tr h="241430">
                <a:tc>
                  <a:txBody>
                    <a:bodyPr/>
                    <a:lstStyle/>
                    <a:p>
                      <a:pPr algn="l" fontAlgn="b"/>
                      <a:r>
                        <a:rPr lang="en-US" sz="1200" b="0" i="0" u="none" strike="noStrike">
                          <a:solidFill>
                            <a:srgbClr val="000000"/>
                          </a:solidFill>
                          <a:effectLst/>
                          <a:latin typeface="Calibri" panose="020F0502020204030204" pitchFamily="34" charset="0"/>
                        </a:rPr>
                        <a:t>Department of Chemistry and Biochemistry</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21</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104.18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416.55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21</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56</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333</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7525291"/>
                  </a:ext>
                </a:extLst>
              </a:tr>
              <a:tr h="241430">
                <a:tc>
                  <a:txBody>
                    <a:bodyPr/>
                    <a:lstStyle/>
                    <a:p>
                      <a:pPr algn="l" fontAlgn="b"/>
                      <a:r>
                        <a:rPr lang="en-US" sz="1200" b="0" i="0" u="none" strike="noStrike">
                          <a:solidFill>
                            <a:srgbClr val="000000"/>
                          </a:solidFill>
                          <a:effectLst/>
                          <a:latin typeface="Calibri" panose="020F0502020204030204" pitchFamily="34" charset="0"/>
                        </a:rPr>
                        <a:t>Department of Computational and Data Sciences</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1074</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81422.48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12812.25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6888</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1026</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13776</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1265424"/>
                  </a:ext>
                </a:extLst>
              </a:tr>
              <a:tr h="241430">
                <a:tc>
                  <a:txBody>
                    <a:bodyPr/>
                    <a:lstStyle/>
                    <a:p>
                      <a:pPr algn="l" fontAlgn="b"/>
                      <a:r>
                        <a:rPr lang="en-US" sz="1200" b="0" i="0" u="none" strike="noStrike">
                          <a:solidFill>
                            <a:srgbClr val="000000"/>
                          </a:solidFill>
                          <a:effectLst/>
                          <a:latin typeface="Calibri" panose="020F0502020204030204" pitchFamily="34" charset="0"/>
                        </a:rPr>
                        <a:t>Department of Computer Science</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11749</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232019.84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106051.91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42307</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17774</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58731456</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9870180"/>
                  </a:ext>
                </a:extLst>
              </a:tr>
              <a:tr h="241430">
                <a:tc>
                  <a:txBody>
                    <a:bodyPr/>
                    <a:lstStyle/>
                    <a:p>
                      <a:pPr algn="l" fontAlgn="b"/>
                      <a:r>
                        <a:rPr lang="en-US" sz="1200" b="0" i="0" u="none" strike="noStrike">
                          <a:solidFill>
                            <a:srgbClr val="000000"/>
                          </a:solidFill>
                          <a:effectLst/>
                          <a:latin typeface="Calibri" panose="020F0502020204030204" pitchFamily="34" charset="0"/>
                        </a:rPr>
                        <a:t>Department of Electrical and Computer Engineering</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44</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35.89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135.17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44</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128</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3184</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4016905"/>
                  </a:ext>
                </a:extLst>
              </a:tr>
              <a:tr h="241430">
                <a:tc>
                  <a:txBody>
                    <a:bodyPr/>
                    <a:lstStyle/>
                    <a:p>
                      <a:pPr algn="l" fontAlgn="b"/>
                      <a:r>
                        <a:rPr lang="en-US" sz="1200" b="0" i="0" u="none" strike="noStrike">
                          <a:solidFill>
                            <a:srgbClr val="000000"/>
                          </a:solidFill>
                          <a:effectLst/>
                          <a:latin typeface="Calibri" panose="020F0502020204030204" pitchFamily="34" charset="0"/>
                        </a:rPr>
                        <a:t>Department of Information Sciences and Technology</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601</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656.03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619.13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604</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592</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18862</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6642439"/>
                  </a:ext>
                </a:extLst>
              </a:tr>
              <a:tr h="241430">
                <a:tc>
                  <a:txBody>
                    <a:bodyPr/>
                    <a:lstStyle/>
                    <a:p>
                      <a:pPr algn="l" fontAlgn="b"/>
                      <a:r>
                        <a:rPr lang="en-US" sz="1200" b="0" i="0" u="none" strike="noStrike">
                          <a:solidFill>
                            <a:srgbClr val="000000"/>
                          </a:solidFill>
                          <a:effectLst/>
                          <a:latin typeface="Calibri" panose="020F0502020204030204" pitchFamily="34" charset="0"/>
                        </a:rPr>
                        <a:t>Department of Mathematical Sciences</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19</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36.45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36.45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19</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16</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335</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5995353"/>
                  </a:ext>
                </a:extLst>
              </a:tr>
              <a:tr h="241430">
                <a:tc>
                  <a:txBody>
                    <a:bodyPr/>
                    <a:lstStyle/>
                    <a:p>
                      <a:pPr algn="l" fontAlgn="b"/>
                      <a:r>
                        <a:rPr lang="en-US" sz="1200" b="0" i="0" u="none" strike="noStrike">
                          <a:solidFill>
                            <a:srgbClr val="000000"/>
                          </a:solidFill>
                          <a:effectLst/>
                          <a:latin typeface="Calibri" panose="020F0502020204030204" pitchFamily="34" charset="0"/>
                        </a:rPr>
                        <a:t>Department of Physics and Astronomy</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16</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10228.01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10.01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800</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11</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781</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1447266"/>
                  </a:ext>
                </a:extLst>
              </a:tr>
              <a:tr h="241430">
                <a:tc>
                  <a:txBody>
                    <a:bodyPr/>
                    <a:lstStyle/>
                    <a:p>
                      <a:pPr algn="l" fontAlgn="b"/>
                      <a:r>
                        <a:rPr lang="en-US" sz="1200" b="0" i="0" u="none" strike="noStrike">
                          <a:solidFill>
                            <a:srgbClr val="000000"/>
                          </a:solidFill>
                          <a:effectLst/>
                          <a:latin typeface="Calibri" panose="020F0502020204030204" pitchFamily="34" charset="0"/>
                        </a:rPr>
                        <a:t>Department of Statistics</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10</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11.83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1.59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73</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10</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194</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1890555"/>
                  </a:ext>
                </a:extLst>
              </a:tr>
              <a:tr h="241430">
                <a:tc>
                  <a:txBody>
                    <a:bodyPr/>
                    <a:lstStyle/>
                    <a:p>
                      <a:pPr algn="l" fontAlgn="b"/>
                      <a:r>
                        <a:rPr lang="en-US" sz="1200" b="0" i="0" u="none" strike="noStrike">
                          <a:solidFill>
                            <a:srgbClr val="000000"/>
                          </a:solidFill>
                          <a:effectLst/>
                          <a:latin typeface="Calibri" panose="020F0502020204030204" pitchFamily="34" charset="0"/>
                        </a:rPr>
                        <a:t>Office of Research Computing</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68</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341.93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146.34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642</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171</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3777</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4545824"/>
                  </a:ext>
                </a:extLst>
              </a:tr>
              <a:tr h="241430">
                <a:tc>
                  <a:txBody>
                    <a:bodyPr/>
                    <a:lstStyle/>
                    <a:p>
                      <a:pPr algn="l" fontAlgn="b"/>
                      <a:r>
                        <a:rPr lang="en-US" sz="1200" b="0" i="0" u="none" strike="noStrike">
                          <a:solidFill>
                            <a:srgbClr val="000000"/>
                          </a:solidFill>
                          <a:effectLst/>
                          <a:latin typeface="Calibri" panose="020F0502020204030204" pitchFamily="34" charset="0"/>
                        </a:rPr>
                        <a:t>School of Systems Biology</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59</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96761.61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200" b="0" i="0" u="none" strike="noStrike">
                          <a:solidFill>
                            <a:srgbClr val="000000"/>
                          </a:solidFill>
                          <a:effectLst/>
                          <a:latin typeface="Calibri" panose="020F0502020204030204" pitchFamily="34" charset="0"/>
                        </a:rPr>
                        <a:t>11311.36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1056</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118</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panose="020F0502020204030204" pitchFamily="34" charset="0"/>
                        </a:rPr>
                        <a:t>2112</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1537561"/>
                  </a:ext>
                </a:extLst>
              </a:tr>
              <a:tr h="241430">
                <a:tc>
                  <a:txBody>
                    <a:bodyPr/>
                    <a:lstStyle/>
                    <a:p>
                      <a:pPr algn="l" fontAlgn="b"/>
                      <a:r>
                        <a:rPr lang="en-US" sz="1200" b="0" i="0" u="none" strike="noStrike">
                          <a:solidFill>
                            <a:srgbClr val="000000"/>
                          </a:solidFill>
                          <a:effectLst/>
                          <a:latin typeface="Calibri" panose="020F0502020204030204" pitchFamily="34" charset="0"/>
                        </a:rPr>
                        <a:t>TOTALS</a:t>
                      </a:r>
                    </a:p>
                  </a:txBody>
                  <a:tcPr marL="6552" marR="6552" marT="65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r" fontAlgn="b"/>
                      <a:r>
                        <a:rPr lang="en-US" sz="1200" b="0" i="0" u="none" strike="noStrike">
                          <a:solidFill>
                            <a:srgbClr val="000000"/>
                          </a:solidFill>
                          <a:effectLst/>
                          <a:latin typeface="Calibri" panose="020F0502020204030204" pitchFamily="34" charset="0"/>
                        </a:rPr>
                        <a:t>15563</a:t>
                      </a:r>
                    </a:p>
                  </a:txBody>
                  <a:tcPr marL="6552" marR="6552" marT="6552"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r" rtl="0" fontAlgn="b"/>
                      <a:r>
                        <a:rPr lang="en-US" sz="1200" b="0" i="0" u="none" strike="noStrike">
                          <a:solidFill>
                            <a:srgbClr val="000000"/>
                          </a:solidFill>
                          <a:effectLst/>
                          <a:latin typeface="Calibri" panose="020F0502020204030204" pitchFamily="34" charset="0"/>
                        </a:rPr>
                        <a:t>426239.76</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rtl="0" fontAlgn="b"/>
                      <a:r>
                        <a:rPr lang="en-US" sz="1200" b="0" i="0" u="none" strike="noStrike">
                          <a:solidFill>
                            <a:srgbClr val="000000"/>
                          </a:solidFill>
                          <a:effectLst/>
                          <a:latin typeface="Calibri" panose="020F0502020204030204" pitchFamily="34" charset="0"/>
                        </a:rPr>
                        <a:t>136183.00</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200" b="0" i="0" u="none" strike="noStrike">
                          <a:solidFill>
                            <a:srgbClr val="000000"/>
                          </a:solidFill>
                          <a:effectLst/>
                          <a:latin typeface="Calibri" panose="020F0502020204030204" pitchFamily="34" charset="0"/>
                        </a:rPr>
                        <a:t>54356</a:t>
                      </a:r>
                    </a:p>
                  </a:txBody>
                  <a:tcPr marL="6552" marR="6552" marT="655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200" b="0" i="0" u="none" strike="noStrike">
                          <a:solidFill>
                            <a:srgbClr val="000000"/>
                          </a:solidFill>
                          <a:effectLst/>
                          <a:latin typeface="Calibri" panose="020F0502020204030204" pitchFamily="34" charset="0"/>
                        </a:rPr>
                        <a:t>21779</a:t>
                      </a:r>
                    </a:p>
                  </a:txBody>
                  <a:tcPr marL="6552" marR="6552" marT="655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200" b="0" i="0" u="none" strike="noStrike">
                          <a:solidFill>
                            <a:srgbClr val="000000"/>
                          </a:solidFill>
                          <a:effectLst/>
                          <a:latin typeface="Calibri" panose="020F0502020204030204" pitchFamily="34" charset="0"/>
                        </a:rPr>
                        <a:t>58861203</a:t>
                      </a:r>
                    </a:p>
                  </a:txBody>
                  <a:tcPr marL="6552" marR="6552" marT="6552"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61182891"/>
                  </a:ext>
                </a:extLst>
              </a:tr>
            </a:tbl>
          </a:graphicData>
        </a:graphic>
      </p:graphicFrame>
    </p:spTree>
    <p:extLst>
      <p:ext uri="{BB962C8B-B14F-4D97-AF65-F5344CB8AC3E}">
        <p14:creationId xmlns:p14="http://schemas.microsoft.com/office/powerpoint/2010/main" val="3974786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4CB79-2264-4369-91E7-37AC00444215}"/>
              </a:ext>
            </a:extLst>
          </p:cNvPr>
          <p:cNvSpPr>
            <a:spLocks noGrp="1"/>
          </p:cNvSpPr>
          <p:nvPr>
            <p:ph type="title"/>
          </p:nvPr>
        </p:nvSpPr>
        <p:spPr/>
        <p:txBody>
          <a:bodyPr/>
          <a:lstStyle/>
          <a:p>
            <a:r>
              <a:rPr lang="en-US"/>
              <a:t>ARGO CPU Usage by School/College</a:t>
            </a:r>
          </a:p>
        </p:txBody>
      </p:sp>
      <p:sp>
        <p:nvSpPr>
          <p:cNvPr id="3" name="Content Placeholder 2">
            <a:extLst>
              <a:ext uri="{FF2B5EF4-FFF2-40B4-BE49-F238E27FC236}">
                <a16:creationId xmlns:a16="http://schemas.microsoft.com/office/drawing/2014/main" id="{9387C12C-E079-4290-8D64-43EA3E59A162}"/>
              </a:ext>
            </a:extLst>
          </p:cNvPr>
          <p:cNvSpPr>
            <a:spLocks noGrp="1"/>
          </p:cNvSpPr>
          <p:nvPr>
            <p:ph idx="1"/>
          </p:nvPr>
        </p:nvSpPr>
        <p:spPr/>
        <p:txBody>
          <a:bodyPr>
            <a:normAutofit/>
          </a:bodyPr>
          <a:lstStyle/>
          <a:p>
            <a:r>
              <a:rPr lang="en-US"/>
              <a:t>The same holds true for CPU usage on ARGO. From the following tables and figures, most CPU jobs were run by researchers from COS and CEC. </a:t>
            </a:r>
          </a:p>
          <a:p>
            <a:r>
              <a:rPr lang="en-US"/>
              <a:t>Further break down of the CPU job usage metrics show the actual departments in both the CEC and COS and how much they used the clusters in terms of the total number of jobs submitted, total runtime in hours, total number of CPUs used and total memory in GB.</a:t>
            </a:r>
          </a:p>
          <a:p>
            <a:r>
              <a:rPr lang="en-US"/>
              <a:t>The figures cover the 3 years. In 2020, a large number of jobs were submitted from the Statistics department followed by the Cyber Security Engineering (driven by the top users).</a:t>
            </a:r>
          </a:p>
          <a:p>
            <a:endParaRPr lang="en-US"/>
          </a:p>
        </p:txBody>
      </p:sp>
    </p:spTree>
    <p:extLst>
      <p:ext uri="{BB962C8B-B14F-4D97-AF65-F5344CB8AC3E}">
        <p14:creationId xmlns:p14="http://schemas.microsoft.com/office/powerpoint/2010/main" val="25803263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8DAC5-A164-43B5-9EF7-C0E86B81957A}"/>
              </a:ext>
            </a:extLst>
          </p:cNvPr>
          <p:cNvSpPr>
            <a:spLocks noGrp="1"/>
          </p:cNvSpPr>
          <p:nvPr>
            <p:ph type="title"/>
          </p:nvPr>
        </p:nvSpPr>
        <p:spPr/>
        <p:txBody>
          <a:bodyPr/>
          <a:lstStyle/>
          <a:p>
            <a:r>
              <a:rPr lang="en-US"/>
              <a:t>ARGO CPU Usage by School/College</a:t>
            </a:r>
          </a:p>
        </p:txBody>
      </p:sp>
      <p:sp>
        <p:nvSpPr>
          <p:cNvPr id="4" name="Rectangle 2">
            <a:extLst>
              <a:ext uri="{FF2B5EF4-FFF2-40B4-BE49-F238E27FC236}">
                <a16:creationId xmlns:a16="http://schemas.microsoft.com/office/drawing/2014/main" id="{A0D58F3C-EAC5-4056-973D-CECB1A6DC83E}"/>
              </a:ext>
            </a:extLst>
          </p:cNvPr>
          <p:cNvSpPr>
            <a:spLocks noChangeArrowheads="1"/>
          </p:cNvSpPr>
          <p:nvPr/>
        </p:nvSpPr>
        <p:spPr bwMode="auto">
          <a:xfrm>
            <a:off x="629174" y="367437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9217" name="Picture 14">
            <a:extLst>
              <a:ext uri="{FF2B5EF4-FFF2-40B4-BE49-F238E27FC236}">
                <a16:creationId xmlns:a16="http://schemas.microsoft.com/office/drawing/2014/main" id="{4CEEA06D-AC5A-4356-91BF-EFEEE88D69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174" y="4131578"/>
            <a:ext cx="3087149" cy="210343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B1A5BCE-4E4E-483E-A129-BD49758E559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319200" y="4054585"/>
            <a:ext cx="3323171" cy="2257425"/>
          </a:xfrm>
          <a:prstGeom prst="rect">
            <a:avLst/>
          </a:prstGeom>
          <a:noFill/>
          <a:ln>
            <a:noFill/>
          </a:ln>
        </p:spPr>
      </p:pic>
      <p:graphicFrame>
        <p:nvGraphicFramePr>
          <p:cNvPr id="8" name="Table 7">
            <a:extLst>
              <a:ext uri="{FF2B5EF4-FFF2-40B4-BE49-F238E27FC236}">
                <a16:creationId xmlns:a16="http://schemas.microsoft.com/office/drawing/2014/main" id="{9F7615D8-81B8-401B-B2A6-CB29E634277F}"/>
              </a:ext>
            </a:extLst>
          </p:cNvPr>
          <p:cNvGraphicFramePr>
            <a:graphicFrameLocks noGrp="1"/>
          </p:cNvGraphicFramePr>
          <p:nvPr>
            <p:extLst>
              <p:ext uri="{D42A27DB-BD31-4B8C-83A1-F6EECF244321}">
                <p14:modId xmlns:p14="http://schemas.microsoft.com/office/powerpoint/2010/main" val="3665423213"/>
              </p:ext>
            </p:extLst>
          </p:nvPr>
        </p:nvGraphicFramePr>
        <p:xfrm>
          <a:off x="939668" y="2148840"/>
          <a:ext cx="2617264" cy="1647600"/>
        </p:xfrm>
        <a:graphic>
          <a:graphicData uri="http://schemas.openxmlformats.org/drawingml/2006/table">
            <a:tbl>
              <a:tblPr firstRow="1" firstCol="1" bandRow="1"/>
              <a:tblGrid>
                <a:gridCol w="716854">
                  <a:extLst>
                    <a:ext uri="{9D8B030D-6E8A-4147-A177-3AD203B41FA5}">
                      <a16:colId xmlns:a16="http://schemas.microsoft.com/office/drawing/2014/main" val="1161330222"/>
                    </a:ext>
                  </a:extLst>
                </a:gridCol>
                <a:gridCol w="1900410">
                  <a:extLst>
                    <a:ext uri="{9D8B030D-6E8A-4147-A177-3AD203B41FA5}">
                      <a16:colId xmlns:a16="http://schemas.microsoft.com/office/drawing/2014/main" val="2910870694"/>
                    </a:ext>
                  </a:extLst>
                </a:gridCol>
              </a:tblGrid>
              <a:tr h="205950">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Argo 2020 CPU Submits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5139894"/>
                  </a:ext>
                </a:extLst>
              </a:tr>
              <a:tr h="205950">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2768313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3951916"/>
                  </a:ext>
                </a:extLst>
              </a:tr>
              <a:tr h="205950">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CHSS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4757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2851603"/>
                  </a:ext>
                </a:extLst>
              </a:tr>
              <a:tr h="205950">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161197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0453106"/>
                  </a:ext>
                </a:extLst>
              </a:tr>
              <a:tr h="205950">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ORC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780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125834"/>
                  </a:ext>
                </a:extLst>
              </a:tr>
              <a:tr h="205950">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SCHAR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5398816"/>
                  </a:ext>
                </a:extLst>
              </a:tr>
              <a:tr h="205950">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SOM</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28373465"/>
                  </a:ext>
                </a:extLst>
              </a:tr>
              <a:tr h="205950">
                <a:tc>
                  <a:txBody>
                    <a:bodyPr/>
                    <a:lstStyle/>
                    <a:p>
                      <a:pPr marL="0" marR="0" algn="l">
                        <a:lnSpc>
                          <a:spcPct val="107000"/>
                        </a:lnSpc>
                        <a:spcBef>
                          <a:spcPts val="0"/>
                        </a:spcBef>
                        <a:spcAft>
                          <a:spcPts val="0"/>
                        </a:spcAft>
                      </a:pPr>
                      <a:r>
                        <a:rPr lang="en-US" sz="1100" b="1">
                          <a:effectLst/>
                          <a:latin typeface="Calibri" panose="020F0502020204030204" pitchFamily="34" charset="0"/>
                          <a:ea typeface="Calibri" panose="020F0502020204030204" pitchFamily="34" charset="0"/>
                          <a:cs typeface="Arial" panose="020B0604020202020204" pitchFamily="34" charset="0"/>
                        </a:rPr>
                        <a:t>TOTALS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2935200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64774848"/>
                  </a:ext>
                </a:extLst>
              </a:tr>
            </a:tbl>
          </a:graphicData>
        </a:graphic>
      </p:graphicFrame>
      <p:graphicFrame>
        <p:nvGraphicFramePr>
          <p:cNvPr id="9" name="Table 8">
            <a:extLst>
              <a:ext uri="{FF2B5EF4-FFF2-40B4-BE49-F238E27FC236}">
                <a16:creationId xmlns:a16="http://schemas.microsoft.com/office/drawing/2014/main" id="{E0E7A59A-CB40-4BF5-994A-5450BE9F19B6}"/>
              </a:ext>
            </a:extLst>
          </p:cNvPr>
          <p:cNvGraphicFramePr>
            <a:graphicFrameLocks noGrp="1"/>
          </p:cNvGraphicFramePr>
          <p:nvPr>
            <p:extLst>
              <p:ext uri="{D42A27DB-BD31-4B8C-83A1-F6EECF244321}">
                <p14:modId xmlns:p14="http://schemas.microsoft.com/office/powerpoint/2010/main" val="2271923860"/>
              </p:ext>
            </p:extLst>
          </p:nvPr>
        </p:nvGraphicFramePr>
        <p:xfrm>
          <a:off x="4787368" y="2148840"/>
          <a:ext cx="2617264" cy="1681925"/>
        </p:xfrm>
        <a:graphic>
          <a:graphicData uri="http://schemas.openxmlformats.org/drawingml/2006/table">
            <a:tbl>
              <a:tblPr firstRow="1" firstCol="1" bandRow="1"/>
              <a:tblGrid>
                <a:gridCol w="635290">
                  <a:extLst>
                    <a:ext uri="{9D8B030D-6E8A-4147-A177-3AD203B41FA5}">
                      <a16:colId xmlns:a16="http://schemas.microsoft.com/office/drawing/2014/main" val="1849714922"/>
                    </a:ext>
                  </a:extLst>
                </a:gridCol>
                <a:gridCol w="1981974">
                  <a:extLst>
                    <a:ext uri="{9D8B030D-6E8A-4147-A177-3AD203B41FA5}">
                      <a16:colId xmlns:a16="http://schemas.microsoft.com/office/drawing/2014/main" val="2577693329"/>
                    </a:ext>
                  </a:extLst>
                </a:gridCol>
              </a:tblGrid>
              <a:tr h="240275">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Argo 2021 CPU Submits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18224777"/>
                  </a:ext>
                </a:extLst>
              </a:tr>
              <a:tr h="240275">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172577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28806804"/>
                  </a:ext>
                </a:extLst>
              </a:tr>
              <a:tr h="240275">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CHSS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4582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272374"/>
                  </a:ext>
                </a:extLst>
              </a:tr>
              <a:tr h="240275">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129989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8223202"/>
                  </a:ext>
                </a:extLst>
              </a:tr>
              <a:tr h="240275">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ORC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9428152"/>
                  </a:ext>
                </a:extLst>
              </a:tr>
              <a:tr h="240275">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SCHAR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61438225"/>
                  </a:ext>
                </a:extLst>
              </a:tr>
              <a:tr h="240275">
                <a:tc>
                  <a:txBody>
                    <a:bodyPr/>
                    <a:lstStyle/>
                    <a:p>
                      <a:pPr marL="0" marR="0" algn="l">
                        <a:lnSpc>
                          <a:spcPct val="107000"/>
                        </a:lnSpc>
                        <a:spcBef>
                          <a:spcPts val="0"/>
                        </a:spcBef>
                        <a:spcAft>
                          <a:spcPts val="0"/>
                        </a:spcAft>
                      </a:pPr>
                      <a:r>
                        <a:rPr lang="en-US" sz="1100" b="1">
                          <a:effectLst/>
                          <a:latin typeface="Calibri" panose="020F0502020204030204" pitchFamily="34" charset="0"/>
                          <a:ea typeface="Calibri" panose="020F0502020204030204" pitchFamily="34" charset="0"/>
                          <a:cs typeface="Arial" panose="020B0604020202020204" pitchFamily="34" charset="0"/>
                        </a:rPr>
                        <a:t>TOTALS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307210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3579453"/>
                  </a:ext>
                </a:extLst>
              </a:tr>
            </a:tbl>
          </a:graphicData>
        </a:graphic>
      </p:graphicFrame>
      <p:graphicFrame>
        <p:nvGraphicFramePr>
          <p:cNvPr id="10" name="Table 9">
            <a:extLst>
              <a:ext uri="{FF2B5EF4-FFF2-40B4-BE49-F238E27FC236}">
                <a16:creationId xmlns:a16="http://schemas.microsoft.com/office/drawing/2014/main" id="{59749C36-233E-4C82-911F-048240939AE2}"/>
              </a:ext>
            </a:extLst>
          </p:cNvPr>
          <p:cNvGraphicFramePr>
            <a:graphicFrameLocks noGrp="1"/>
          </p:cNvGraphicFramePr>
          <p:nvPr>
            <p:extLst>
              <p:ext uri="{D42A27DB-BD31-4B8C-83A1-F6EECF244321}">
                <p14:modId xmlns:p14="http://schemas.microsoft.com/office/powerpoint/2010/main" val="560912503"/>
              </p:ext>
            </p:extLst>
          </p:nvPr>
        </p:nvGraphicFramePr>
        <p:xfrm>
          <a:off x="8326130" y="2169485"/>
          <a:ext cx="2617264" cy="1546489"/>
        </p:xfrm>
        <a:graphic>
          <a:graphicData uri="http://schemas.openxmlformats.org/drawingml/2006/table">
            <a:tbl>
              <a:tblPr firstRow="1" firstCol="1" bandRow="1"/>
              <a:tblGrid>
                <a:gridCol w="716854">
                  <a:extLst>
                    <a:ext uri="{9D8B030D-6E8A-4147-A177-3AD203B41FA5}">
                      <a16:colId xmlns:a16="http://schemas.microsoft.com/office/drawing/2014/main" val="87185746"/>
                    </a:ext>
                  </a:extLst>
                </a:gridCol>
                <a:gridCol w="1900410">
                  <a:extLst>
                    <a:ext uri="{9D8B030D-6E8A-4147-A177-3AD203B41FA5}">
                      <a16:colId xmlns:a16="http://schemas.microsoft.com/office/drawing/2014/main" val="178420835"/>
                    </a:ext>
                  </a:extLst>
                </a:gridCol>
              </a:tblGrid>
              <a:tr h="220927">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Argo 2022 CPU Submits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3793810"/>
                  </a:ext>
                </a:extLst>
              </a:tr>
              <a:tr h="220927">
                <a:tc>
                  <a:txBody>
                    <a:bodyPr/>
                    <a:lstStyle/>
                    <a:p>
                      <a:pPr algn="l" fontAlgn="b"/>
                      <a:r>
                        <a:rPr lang="en-US" sz="1100" b="0" i="0" u="none" strike="noStrike">
                          <a:solidFill>
                            <a:srgbClr val="000000"/>
                          </a:solidFill>
                          <a:effectLst/>
                          <a:latin typeface="Calibri" panose="020F0502020204030204" pitchFamily="34" charset="0"/>
                        </a:rPr>
                        <a:t>CEC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227085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0199012"/>
                  </a:ext>
                </a:extLst>
              </a:tr>
              <a:tr h="220927">
                <a:tc>
                  <a:txBody>
                    <a:bodyPr/>
                    <a:lstStyle/>
                    <a:p>
                      <a:pPr algn="l" fontAlgn="b"/>
                      <a:r>
                        <a:rPr lang="en-US" sz="1100" b="0" i="0" u="none" strike="noStrike">
                          <a:solidFill>
                            <a:srgbClr val="000000"/>
                          </a:solidFill>
                          <a:effectLst/>
                          <a:latin typeface="Calibri" panose="020F0502020204030204" pitchFamily="34" charset="0"/>
                        </a:rPr>
                        <a:t>CHHS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71771"/>
                  </a:ext>
                </a:extLst>
              </a:tr>
              <a:tr h="220927">
                <a:tc>
                  <a:txBody>
                    <a:bodyPr/>
                    <a:lstStyle/>
                    <a:p>
                      <a:pPr algn="l" fontAlgn="b"/>
                      <a:r>
                        <a:rPr lang="en-US" sz="1100" b="0" i="0" u="none" strike="noStrike">
                          <a:solidFill>
                            <a:srgbClr val="000000"/>
                          </a:solidFill>
                          <a:effectLst/>
                          <a:latin typeface="Calibri" panose="020F0502020204030204" pitchFamily="34" charset="0"/>
                        </a:rPr>
                        <a:t>CHSS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7890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3122198"/>
                  </a:ext>
                </a:extLst>
              </a:tr>
              <a:tr h="220927">
                <a:tc>
                  <a:txBody>
                    <a:bodyPr/>
                    <a:lstStyle/>
                    <a:p>
                      <a:pPr algn="l" fontAlgn="b"/>
                      <a:r>
                        <a:rPr lang="en-US" sz="1100" b="0" i="0" u="none" strike="noStrike">
                          <a:solidFill>
                            <a:srgbClr val="000000"/>
                          </a:solidFill>
                          <a:effectLst/>
                          <a:latin typeface="Calibri" panose="020F0502020204030204" pitchFamily="34" charset="0"/>
                        </a:rPr>
                        <a:t>COS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113295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8585396"/>
                  </a:ext>
                </a:extLst>
              </a:tr>
              <a:tr h="220927">
                <a:tc>
                  <a:txBody>
                    <a:bodyPr/>
                    <a:lstStyle/>
                    <a:p>
                      <a:pPr algn="l" fontAlgn="b"/>
                      <a:r>
                        <a:rPr lang="en-US" sz="1100" b="0" i="0" u="none" strike="noStrike">
                          <a:solidFill>
                            <a:srgbClr val="000000"/>
                          </a:solidFill>
                          <a:effectLst/>
                          <a:latin typeface="Calibri" panose="020F0502020204030204" pitchFamily="34" charset="0"/>
                        </a:rPr>
                        <a:t>ORC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25436"/>
                  </a:ext>
                </a:extLst>
              </a:tr>
              <a:tr h="220927">
                <a:tc>
                  <a:txBody>
                    <a:bodyPr/>
                    <a:lstStyle/>
                    <a:p>
                      <a:pPr algn="l" fontAlgn="b"/>
                      <a:r>
                        <a:rPr lang="en-US" sz="1100" b="1" i="0" u="none" strike="noStrike">
                          <a:solidFill>
                            <a:srgbClr val="000000"/>
                          </a:solidFill>
                          <a:effectLst/>
                          <a:latin typeface="Calibri" panose="020F0502020204030204" pitchFamily="34" charset="0"/>
                        </a:rPr>
                        <a:t>TOTALS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348375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4488018"/>
                  </a:ext>
                </a:extLst>
              </a:tr>
            </a:tbl>
          </a:graphicData>
        </a:graphic>
      </p:graphicFrame>
      <p:pic>
        <p:nvPicPr>
          <p:cNvPr id="5" name="Picture 4">
            <a:extLst>
              <a:ext uri="{FF2B5EF4-FFF2-40B4-BE49-F238E27FC236}">
                <a16:creationId xmlns:a16="http://schemas.microsoft.com/office/drawing/2014/main" id="{F7A0CAD1-8C8F-43D4-A6E6-C45145AD69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5078" y="3902978"/>
            <a:ext cx="3597319" cy="2398213"/>
          </a:xfrm>
          <a:prstGeom prst="rect">
            <a:avLst/>
          </a:prstGeom>
        </p:spPr>
      </p:pic>
    </p:spTree>
    <p:extLst>
      <p:ext uri="{BB962C8B-B14F-4D97-AF65-F5344CB8AC3E}">
        <p14:creationId xmlns:p14="http://schemas.microsoft.com/office/powerpoint/2010/main" val="35613800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27C0F-05E9-47F6-9705-48037CF5E2A2}"/>
              </a:ext>
            </a:extLst>
          </p:cNvPr>
          <p:cNvSpPr>
            <a:spLocks noGrp="1"/>
          </p:cNvSpPr>
          <p:nvPr>
            <p:ph type="title"/>
          </p:nvPr>
        </p:nvSpPr>
        <p:spPr/>
        <p:txBody>
          <a:bodyPr/>
          <a:lstStyle/>
          <a:p>
            <a:r>
              <a:rPr lang="en-US"/>
              <a:t>ARGO CPU Usage by Department in CEC/COS: 2022</a:t>
            </a:r>
          </a:p>
        </p:txBody>
      </p:sp>
      <p:graphicFrame>
        <p:nvGraphicFramePr>
          <p:cNvPr id="3" name="Table 2">
            <a:extLst>
              <a:ext uri="{FF2B5EF4-FFF2-40B4-BE49-F238E27FC236}">
                <a16:creationId xmlns:a16="http://schemas.microsoft.com/office/drawing/2014/main" id="{4E44D569-A85E-4B2B-AF5B-43995855DE14}"/>
              </a:ext>
            </a:extLst>
          </p:cNvPr>
          <p:cNvGraphicFramePr>
            <a:graphicFrameLocks noGrp="1"/>
          </p:cNvGraphicFramePr>
          <p:nvPr>
            <p:extLst>
              <p:ext uri="{D42A27DB-BD31-4B8C-83A1-F6EECF244321}">
                <p14:modId xmlns:p14="http://schemas.microsoft.com/office/powerpoint/2010/main" val="2646321281"/>
              </p:ext>
            </p:extLst>
          </p:nvPr>
        </p:nvGraphicFramePr>
        <p:xfrm>
          <a:off x="1098548" y="1921034"/>
          <a:ext cx="9471193" cy="4160520"/>
        </p:xfrm>
        <a:graphic>
          <a:graphicData uri="http://schemas.openxmlformats.org/drawingml/2006/table">
            <a:tbl>
              <a:tblPr/>
              <a:tblGrid>
                <a:gridCol w="4742962">
                  <a:extLst>
                    <a:ext uri="{9D8B030D-6E8A-4147-A177-3AD203B41FA5}">
                      <a16:colId xmlns:a16="http://schemas.microsoft.com/office/drawing/2014/main" val="505904283"/>
                    </a:ext>
                  </a:extLst>
                </a:gridCol>
                <a:gridCol w="707025">
                  <a:extLst>
                    <a:ext uri="{9D8B030D-6E8A-4147-A177-3AD203B41FA5}">
                      <a16:colId xmlns:a16="http://schemas.microsoft.com/office/drawing/2014/main" val="3197787697"/>
                    </a:ext>
                  </a:extLst>
                </a:gridCol>
                <a:gridCol w="1252024">
                  <a:extLst>
                    <a:ext uri="{9D8B030D-6E8A-4147-A177-3AD203B41FA5}">
                      <a16:colId xmlns:a16="http://schemas.microsoft.com/office/drawing/2014/main" val="570334257"/>
                    </a:ext>
                  </a:extLst>
                </a:gridCol>
                <a:gridCol w="1414050">
                  <a:extLst>
                    <a:ext uri="{9D8B030D-6E8A-4147-A177-3AD203B41FA5}">
                      <a16:colId xmlns:a16="http://schemas.microsoft.com/office/drawing/2014/main" val="3215208727"/>
                    </a:ext>
                  </a:extLst>
                </a:gridCol>
                <a:gridCol w="1355132">
                  <a:extLst>
                    <a:ext uri="{9D8B030D-6E8A-4147-A177-3AD203B41FA5}">
                      <a16:colId xmlns:a16="http://schemas.microsoft.com/office/drawing/2014/main" val="1328089045"/>
                    </a:ext>
                  </a:extLst>
                </a:gridCol>
              </a:tblGrid>
              <a:tr h="182880">
                <a:tc>
                  <a:txBody>
                    <a:bodyPr/>
                    <a:lstStyle/>
                    <a:p>
                      <a:pPr algn="l" fontAlgn="b"/>
                      <a:r>
                        <a:rPr lang="en-US" sz="1100" b="1" i="0" u="none" strike="noStrike">
                          <a:solidFill>
                            <a:srgbClr val="000000"/>
                          </a:solidFill>
                          <a:effectLst/>
                          <a:latin typeface="Calibri" panose="020F0502020204030204" pitchFamily="34" charset="0"/>
                        </a:rPr>
                        <a:t>Department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Calibri" panose="020F0502020204030204" pitchFamily="34" charset="0"/>
                        </a:rPr>
                        <a:t>No. of Jobs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Calibri" panose="020F0502020204030204" pitchFamily="34" charset="0"/>
                        </a:rPr>
                        <a:t>CoreHours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Calibri" panose="020F0502020204030204" pitchFamily="34" charset="0"/>
                        </a:rPr>
                        <a:t>No. of CPUs used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Calibri" panose="020F0502020204030204" pitchFamily="34" charset="0"/>
                        </a:rPr>
                        <a:t>Total Memory used in GB</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8564722"/>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Atmospheric, Oceanic and Earth Sciences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226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140902.15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20748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68940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1742044"/>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Biology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451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169024.32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5830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15636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28621364"/>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Chemistry and Biochemistry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124541.35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2617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2978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5049726"/>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Computational and Data Sciences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6741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84608.94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109679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97173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53537844"/>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Computer Science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155023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81814.35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287354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13991573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1756969"/>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Electrical and Computer Engineering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693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151716.84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6752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4283140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2488830"/>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Environmental Science and Policy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2371.37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427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436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1639910"/>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Geography and Geoinformation Science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872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79127.74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4155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6601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79716967"/>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Global and Community Health</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4.39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330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804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3989726"/>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Information Sciences and Technology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9883.81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385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141994"/>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Mathematical Sciences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16010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25704.13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16010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79165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4576864"/>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Mechanical Engineering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1585.44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267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554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3273591"/>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Physics and Astronomy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88889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4785900.09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2551359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4837804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0005891"/>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Psychology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7890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77541.32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45981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126682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3675957"/>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Statistics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62019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84128.51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65150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1141992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9743037"/>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Systems Engineering and Operations Research</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5475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2966.05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5528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5554508"/>
                  </a:ext>
                </a:extLst>
              </a:tr>
              <a:tr h="182880">
                <a:tc>
                  <a:txBody>
                    <a:bodyPr/>
                    <a:lstStyle/>
                    <a:p>
                      <a:pPr algn="l" fontAlgn="b"/>
                      <a:r>
                        <a:rPr lang="en-US" sz="1100" b="0" i="0" u="none" strike="noStrike">
                          <a:solidFill>
                            <a:srgbClr val="000000"/>
                          </a:solidFill>
                          <a:effectLst/>
                          <a:latin typeface="Calibri" panose="020F0502020204030204" pitchFamily="34" charset="0"/>
                        </a:rPr>
                        <a:t>Office of Research Computing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45.00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771316"/>
                  </a:ext>
                </a:extLst>
              </a:tr>
              <a:tr h="182880">
                <a:tc>
                  <a:txBody>
                    <a:bodyPr/>
                    <a:lstStyle/>
                    <a:p>
                      <a:pPr algn="l" fontAlgn="b"/>
                      <a:r>
                        <a:rPr lang="en-US" sz="1100" b="0" i="0" u="none" strike="noStrike">
                          <a:solidFill>
                            <a:srgbClr val="000000"/>
                          </a:solidFill>
                          <a:effectLst/>
                          <a:latin typeface="Calibri" panose="020F0502020204030204" pitchFamily="34" charset="0"/>
                        </a:rPr>
                        <a:t>School of Systems Biology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185.54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270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0573671"/>
                  </a:ext>
                </a:extLst>
              </a:tr>
              <a:tr h="182880">
                <a:tc>
                  <a:txBody>
                    <a:bodyPr/>
                    <a:lstStyle/>
                    <a:p>
                      <a:pPr algn="l" fontAlgn="b"/>
                      <a:r>
                        <a:rPr lang="en-US" sz="1100" b="0" i="0" u="none" strike="noStrike">
                          <a:solidFill>
                            <a:srgbClr val="000000"/>
                          </a:solidFill>
                          <a:effectLst/>
                          <a:latin typeface="Calibri" panose="020F0502020204030204" pitchFamily="34" charset="0"/>
                        </a:rPr>
                        <a:t>Sid and Reva Dewberry Department of Civil, Environmental, and Infrastructure Engineering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3666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0" i="0" u="none" strike="noStrike">
                          <a:solidFill>
                            <a:srgbClr val="000000"/>
                          </a:solidFill>
                          <a:effectLst/>
                          <a:latin typeface="Calibri" panose="020F0502020204030204" pitchFamily="34" charset="0"/>
                        </a:rPr>
                        <a:t>86215.17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14952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24309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4254667"/>
                  </a:ext>
                </a:extLst>
              </a:tr>
              <a:tr h="182880">
                <a:tc>
                  <a:txBody>
                    <a:bodyPr/>
                    <a:lstStyle/>
                    <a:p>
                      <a:pPr algn="l" fontAlgn="b"/>
                      <a:r>
                        <a:rPr lang="en-US" sz="1100" b="1" i="0" u="none" strike="noStrike">
                          <a:solidFill>
                            <a:srgbClr val="000000"/>
                          </a:solidFill>
                          <a:effectLst/>
                          <a:latin typeface="Calibri" panose="020F0502020204030204" pitchFamily="34" charset="0"/>
                        </a:rPr>
                        <a:t>TOTALS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348375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b"/>
                      <a:r>
                        <a:rPr lang="en-US" sz="1100" b="1" i="0" u="none" strike="noStrike">
                          <a:solidFill>
                            <a:srgbClr val="000000"/>
                          </a:solidFill>
                          <a:effectLst/>
                          <a:latin typeface="Calibri" panose="020F0502020204030204" pitchFamily="34" charset="0"/>
                        </a:rPr>
                        <a:t>5908266.51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3137855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24678736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8619517"/>
                  </a:ext>
                </a:extLst>
              </a:tr>
            </a:tbl>
          </a:graphicData>
        </a:graphic>
      </p:graphicFrame>
    </p:spTree>
    <p:extLst>
      <p:ext uri="{BB962C8B-B14F-4D97-AF65-F5344CB8AC3E}">
        <p14:creationId xmlns:p14="http://schemas.microsoft.com/office/powerpoint/2010/main" val="13067967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EDFC6-2BAA-423D-B422-1219587B9A7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F591D1-9203-4C14-B5FE-CE70987D66D4}"/>
              </a:ext>
            </a:extLst>
          </p:cNvPr>
          <p:cNvSpPr>
            <a:spLocks noGrp="1"/>
          </p:cNvSpPr>
          <p:nvPr>
            <p:ph idx="1"/>
          </p:nvPr>
        </p:nvSpPr>
        <p:spPr/>
        <p:txBody>
          <a:bodyPr/>
          <a:lstStyle/>
          <a:p>
            <a:r>
              <a:rPr lang="en-US"/>
              <a:t>Next, details are provided for the CEC and COS Colleges since they contain the most jobs submitted. </a:t>
            </a:r>
          </a:p>
          <a:p>
            <a:r>
              <a:rPr lang="en-US"/>
              <a:t>Breaking it down further, the following tables and figures show the number of submissions from the departments in the CEC and COS colleges for 2022.</a:t>
            </a:r>
          </a:p>
          <a:p>
            <a:endParaRPr lang="en-US"/>
          </a:p>
        </p:txBody>
      </p:sp>
    </p:spTree>
    <p:extLst>
      <p:ext uri="{BB962C8B-B14F-4D97-AF65-F5344CB8AC3E}">
        <p14:creationId xmlns:p14="http://schemas.microsoft.com/office/powerpoint/2010/main" val="14894800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AA31594-4AE8-4B7B-98A0-3B161C78B589}"/>
              </a:ext>
            </a:extLst>
          </p:cNvPr>
          <p:cNvGraphicFramePr>
            <a:graphicFrameLocks noGrp="1"/>
          </p:cNvGraphicFramePr>
          <p:nvPr>
            <p:extLst>
              <p:ext uri="{D42A27DB-BD31-4B8C-83A1-F6EECF244321}">
                <p14:modId xmlns:p14="http://schemas.microsoft.com/office/powerpoint/2010/main" val="1223304871"/>
              </p:ext>
            </p:extLst>
          </p:nvPr>
        </p:nvGraphicFramePr>
        <p:xfrm>
          <a:off x="4749005" y="847288"/>
          <a:ext cx="6811024" cy="1645920"/>
        </p:xfrm>
        <a:graphic>
          <a:graphicData uri="http://schemas.openxmlformats.org/drawingml/2006/table">
            <a:tbl>
              <a:tblPr firstRow="1" firstCol="1" bandRow="1"/>
              <a:tblGrid>
                <a:gridCol w="4168492">
                  <a:extLst>
                    <a:ext uri="{9D8B030D-6E8A-4147-A177-3AD203B41FA5}">
                      <a16:colId xmlns:a16="http://schemas.microsoft.com/office/drawing/2014/main" val="2433343907"/>
                    </a:ext>
                  </a:extLst>
                </a:gridCol>
                <a:gridCol w="738231">
                  <a:extLst>
                    <a:ext uri="{9D8B030D-6E8A-4147-A177-3AD203B41FA5}">
                      <a16:colId xmlns:a16="http://schemas.microsoft.com/office/drawing/2014/main" val="1203693441"/>
                    </a:ext>
                  </a:extLst>
                </a:gridCol>
                <a:gridCol w="1209028">
                  <a:extLst>
                    <a:ext uri="{9D8B030D-6E8A-4147-A177-3AD203B41FA5}">
                      <a16:colId xmlns:a16="http://schemas.microsoft.com/office/drawing/2014/main" val="4111212245"/>
                    </a:ext>
                  </a:extLst>
                </a:gridCol>
                <a:gridCol w="695273">
                  <a:extLst>
                    <a:ext uri="{9D8B030D-6E8A-4147-A177-3AD203B41FA5}">
                      <a16:colId xmlns:a16="http://schemas.microsoft.com/office/drawing/2014/main" val="2110393779"/>
                    </a:ext>
                  </a:extLst>
                </a:gridCol>
              </a:tblGrid>
              <a:tr h="182880">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2020 Argo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2365755"/>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Civil, Environmental, and Infrastructure Engineering</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CEIE</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3666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CEC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6024835"/>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Computer Science</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l" fontAlgn="b"/>
                      <a:r>
                        <a:rPr lang="en-US" sz="1100" b="0" i="0" u="none" strike="noStrike">
                          <a:solidFill>
                            <a:srgbClr val="000000"/>
                          </a:solidFill>
                          <a:effectLst/>
                          <a:latin typeface="Calibri" panose="020F0502020204030204" pitchFamily="34" charset="0"/>
                        </a:rPr>
                        <a:t>CS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100" b="0" i="0" u="none" strike="noStrike">
                          <a:solidFill>
                            <a:srgbClr val="000000"/>
                          </a:solidFill>
                          <a:effectLst/>
                          <a:latin typeface="Calibri" panose="020F0502020204030204" pitchFamily="34" charset="0"/>
                        </a:rPr>
                        <a:t>155023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l" fontAlgn="b"/>
                      <a:r>
                        <a:rPr lang="en-US" sz="1100" b="0" i="0" u="none" strike="noStrike">
                          <a:solidFill>
                            <a:srgbClr val="000000"/>
                          </a:solidFill>
                          <a:effectLst/>
                          <a:latin typeface="Calibri" panose="020F0502020204030204" pitchFamily="34" charset="0"/>
                        </a:rPr>
                        <a:t>CEC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062961434"/>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Electrical and Computer Engineering</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l" fontAlgn="b"/>
                      <a:r>
                        <a:rPr lang="en-US" sz="1100" b="0" i="0" u="none" strike="noStrike">
                          <a:solidFill>
                            <a:srgbClr val="000000"/>
                          </a:solidFill>
                          <a:effectLst/>
                          <a:latin typeface="Calibri" panose="020F0502020204030204" pitchFamily="34" charset="0"/>
                        </a:rPr>
                        <a:t>ECE</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100" b="0" i="0" u="none" strike="noStrike">
                          <a:solidFill>
                            <a:srgbClr val="000000"/>
                          </a:solidFill>
                          <a:effectLst/>
                          <a:latin typeface="Calibri" panose="020F0502020204030204" pitchFamily="34" charset="0"/>
                        </a:rPr>
                        <a:t>693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l" fontAlgn="b"/>
                      <a:r>
                        <a:rPr lang="en-US" sz="1100" b="0" i="0" u="none" strike="noStrike">
                          <a:solidFill>
                            <a:srgbClr val="000000"/>
                          </a:solidFill>
                          <a:effectLst/>
                          <a:latin typeface="Calibri" panose="020F0502020204030204" pitchFamily="34" charset="0"/>
                        </a:rPr>
                        <a:t>CEC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3776738086"/>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Information Sciences and Technology</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IST</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CEC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7708589"/>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Mechanical Engineering</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ME</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132</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CEC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2469225"/>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Systems Engineering and Operations Research</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SEOR</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5475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CEC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332440"/>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Statistics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STAT</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62019</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CEC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89408577"/>
                  </a:ext>
                </a:extLst>
              </a:tr>
              <a:tr h="182880">
                <a:tc>
                  <a:txBody>
                    <a:bodyPr/>
                    <a:lstStyle/>
                    <a:p>
                      <a:pPr algn="l" fontAlgn="b"/>
                      <a:r>
                        <a:rPr lang="en-U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Total</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227085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4389211"/>
                  </a:ext>
                </a:extLst>
              </a:tr>
            </a:tbl>
          </a:graphicData>
        </a:graphic>
      </p:graphicFrame>
      <p:graphicFrame>
        <p:nvGraphicFramePr>
          <p:cNvPr id="8" name="Table 7">
            <a:extLst>
              <a:ext uri="{FF2B5EF4-FFF2-40B4-BE49-F238E27FC236}">
                <a16:creationId xmlns:a16="http://schemas.microsoft.com/office/drawing/2014/main" id="{05E995D6-5516-4696-B8F9-0F4A1DBAE390}"/>
              </a:ext>
            </a:extLst>
          </p:cNvPr>
          <p:cNvGraphicFramePr>
            <a:graphicFrameLocks noGrp="1"/>
          </p:cNvGraphicFramePr>
          <p:nvPr>
            <p:extLst>
              <p:ext uri="{D42A27DB-BD31-4B8C-83A1-F6EECF244321}">
                <p14:modId xmlns:p14="http://schemas.microsoft.com/office/powerpoint/2010/main" val="3476359536"/>
              </p:ext>
            </p:extLst>
          </p:nvPr>
        </p:nvGraphicFramePr>
        <p:xfrm>
          <a:off x="4855342" y="3909871"/>
          <a:ext cx="6598350" cy="2011680"/>
        </p:xfrm>
        <a:graphic>
          <a:graphicData uri="http://schemas.openxmlformats.org/drawingml/2006/table">
            <a:tbl>
              <a:tblPr firstRow="1" firstCol="1" bandRow="1"/>
              <a:tblGrid>
                <a:gridCol w="4140376">
                  <a:extLst>
                    <a:ext uri="{9D8B030D-6E8A-4147-A177-3AD203B41FA5}">
                      <a16:colId xmlns:a16="http://schemas.microsoft.com/office/drawing/2014/main" val="4118379781"/>
                    </a:ext>
                  </a:extLst>
                </a:gridCol>
                <a:gridCol w="755009">
                  <a:extLst>
                    <a:ext uri="{9D8B030D-6E8A-4147-A177-3AD203B41FA5}">
                      <a16:colId xmlns:a16="http://schemas.microsoft.com/office/drawing/2014/main" val="2773421024"/>
                    </a:ext>
                  </a:extLst>
                </a:gridCol>
                <a:gridCol w="1048624">
                  <a:extLst>
                    <a:ext uri="{9D8B030D-6E8A-4147-A177-3AD203B41FA5}">
                      <a16:colId xmlns:a16="http://schemas.microsoft.com/office/drawing/2014/main" val="3383015559"/>
                    </a:ext>
                  </a:extLst>
                </a:gridCol>
                <a:gridCol w="654341">
                  <a:extLst>
                    <a:ext uri="{9D8B030D-6E8A-4147-A177-3AD203B41FA5}">
                      <a16:colId xmlns:a16="http://schemas.microsoft.com/office/drawing/2014/main" val="1281387541"/>
                    </a:ext>
                  </a:extLst>
                </a:gridCol>
              </a:tblGrid>
              <a:tr h="182880">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2020 Argo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8964100"/>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Atmospheric, Oceanic and Earth Sciences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AOES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226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9092662"/>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Biology</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BIOL</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2353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3837367"/>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Computational and Data Sciences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CDS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7815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7125020"/>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Chemistry and Biochemistry</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CHEM</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1794850"/>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Environmental Science and Policy</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ESP</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68384580"/>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Geography and Geoinformation Science</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GGS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872</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2967075"/>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Mathematical Sciences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MATH</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16029</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4730560"/>
                  </a:ext>
                </a:extLst>
              </a:tr>
              <a:tr h="182880">
                <a:tc>
                  <a:txBody>
                    <a:bodyPr/>
                    <a:lstStyle/>
                    <a:p>
                      <a:pPr algn="l" fontAlgn="b"/>
                      <a:r>
                        <a:rPr lang="en-US" sz="1100" b="0" i="0" u="none" strike="noStrike">
                          <a:solidFill>
                            <a:srgbClr val="000000"/>
                          </a:solidFill>
                          <a:effectLst/>
                          <a:latin typeface="Calibri" panose="020F0502020204030204" pitchFamily="34" charset="0"/>
                        </a:rPr>
                        <a:t>Department of Physics and Astronomy</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PHYS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88999</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6090086"/>
                  </a:ext>
                </a:extLst>
              </a:tr>
              <a:tr h="182880">
                <a:tc>
                  <a:txBody>
                    <a:bodyPr/>
                    <a:lstStyle/>
                    <a:p>
                      <a:pPr algn="l" fontAlgn="b"/>
                      <a:r>
                        <a:rPr lang="en-US" sz="1100" b="0" i="0" u="none" strike="noStrike">
                          <a:solidFill>
                            <a:srgbClr val="000000"/>
                          </a:solidFill>
                          <a:effectLst/>
                          <a:latin typeface="Calibri" panose="020F0502020204030204" pitchFamily="34" charset="0"/>
                        </a:rPr>
                        <a:t>School of Systems Biology</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SSB</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69</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5197265"/>
                  </a:ext>
                </a:extLst>
              </a:tr>
              <a:tr h="182880">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Total</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116480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0403718"/>
                  </a:ext>
                </a:extLst>
              </a:tr>
            </a:tbl>
          </a:graphicData>
        </a:graphic>
      </p:graphicFrame>
      <p:pic>
        <p:nvPicPr>
          <p:cNvPr id="3" name="Picture 2">
            <a:extLst>
              <a:ext uri="{FF2B5EF4-FFF2-40B4-BE49-F238E27FC236}">
                <a16:creationId xmlns:a16="http://schemas.microsoft.com/office/drawing/2014/main" id="{858B7BFD-C403-4826-A2E6-BCCB61F764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393" y="625151"/>
            <a:ext cx="4037479" cy="2691653"/>
          </a:xfrm>
          <a:prstGeom prst="rect">
            <a:avLst/>
          </a:prstGeom>
        </p:spPr>
      </p:pic>
      <p:pic>
        <p:nvPicPr>
          <p:cNvPr id="9" name="Picture 8">
            <a:extLst>
              <a:ext uri="{FF2B5EF4-FFF2-40B4-BE49-F238E27FC236}">
                <a16:creationId xmlns:a16="http://schemas.microsoft.com/office/drawing/2014/main" id="{0411C23B-D2F4-430A-B25B-21F38772C8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372" y="3691182"/>
            <a:ext cx="3897520" cy="2598347"/>
          </a:xfrm>
          <a:prstGeom prst="rect">
            <a:avLst/>
          </a:prstGeom>
        </p:spPr>
      </p:pic>
    </p:spTree>
    <p:extLst>
      <p:ext uri="{BB962C8B-B14F-4D97-AF65-F5344CB8AC3E}">
        <p14:creationId xmlns:p14="http://schemas.microsoft.com/office/powerpoint/2010/main" val="1251931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EAB1B-52F7-46F4-BABF-6908AAD9D69A}"/>
              </a:ext>
            </a:extLst>
          </p:cNvPr>
          <p:cNvSpPr>
            <a:spLocks noGrp="1"/>
          </p:cNvSpPr>
          <p:nvPr>
            <p:ph type="title"/>
          </p:nvPr>
        </p:nvSpPr>
        <p:spPr/>
        <p:txBody>
          <a:bodyPr/>
          <a:lstStyle/>
          <a:p>
            <a:r>
              <a:rPr lang="en-US"/>
              <a:t>HOPPER</a:t>
            </a:r>
          </a:p>
        </p:txBody>
      </p:sp>
      <p:sp>
        <p:nvSpPr>
          <p:cNvPr id="3" name="Text Placeholder 2">
            <a:extLst>
              <a:ext uri="{FF2B5EF4-FFF2-40B4-BE49-F238E27FC236}">
                <a16:creationId xmlns:a16="http://schemas.microsoft.com/office/drawing/2014/main" id="{9730BEAD-039F-459A-8E7F-7D7DDADFDAA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805358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3DC59-A236-4CFA-9565-DDA5916EE292}"/>
              </a:ext>
            </a:extLst>
          </p:cNvPr>
          <p:cNvSpPr>
            <a:spLocks noGrp="1"/>
          </p:cNvSpPr>
          <p:nvPr>
            <p:ph type="title"/>
          </p:nvPr>
        </p:nvSpPr>
        <p:spPr/>
        <p:txBody>
          <a:bodyPr/>
          <a:lstStyle/>
          <a:p>
            <a:r>
              <a:rPr lang="en-US"/>
              <a:t>Hopper Usage</a:t>
            </a:r>
          </a:p>
        </p:txBody>
      </p:sp>
      <p:sp>
        <p:nvSpPr>
          <p:cNvPr id="3" name="Content Placeholder 2">
            <a:extLst>
              <a:ext uri="{FF2B5EF4-FFF2-40B4-BE49-F238E27FC236}">
                <a16:creationId xmlns:a16="http://schemas.microsoft.com/office/drawing/2014/main" id="{3895D68E-3CC7-4F52-8DAF-A42F52A059BA}"/>
              </a:ext>
            </a:extLst>
          </p:cNvPr>
          <p:cNvSpPr>
            <a:spLocks noGrp="1"/>
          </p:cNvSpPr>
          <p:nvPr>
            <p:ph idx="1"/>
          </p:nvPr>
        </p:nvSpPr>
        <p:spPr/>
        <p:txBody>
          <a:bodyPr vert="horz" lIns="91440" tIns="45720" rIns="91440" bIns="45720" rtlCol="0" anchor="t">
            <a:normAutofit/>
          </a:bodyPr>
          <a:lstStyle/>
          <a:p>
            <a:r>
              <a:rPr lang="en-US"/>
              <a:t>Moving on to Hopper, the following tables and figures break down similar details on the </a:t>
            </a:r>
            <a:r>
              <a:rPr lang="en-US" err="1"/>
              <a:t>gpu</a:t>
            </a:r>
            <a:r>
              <a:rPr lang="en-US"/>
              <a:t> and </a:t>
            </a:r>
            <a:r>
              <a:rPr lang="en-US" err="1"/>
              <a:t>cpu</a:t>
            </a:r>
            <a:r>
              <a:rPr lang="en-US"/>
              <a:t> usage and the different departments and colleges running jobs. </a:t>
            </a:r>
          </a:p>
          <a:p>
            <a:r>
              <a:rPr lang="en-US"/>
              <a:t>While it holds true that the CEC and COS drive most jobs on Hopper, the CEC has the most jobs over the two years, 2021 – 2022 that Hopper has been active.</a:t>
            </a:r>
          </a:p>
          <a:p>
            <a:r>
              <a:rPr lang="en-US"/>
              <a:t>Most GPU usage is from the CS department, in terms of the hours and CPUs and GPUs used. This holds for both 2021 and 2022.</a:t>
            </a:r>
            <a:br>
              <a:rPr lang="en-US"/>
            </a:br>
            <a:endParaRPr lang="en-US"/>
          </a:p>
          <a:p>
            <a:endParaRPr lang="en-US"/>
          </a:p>
        </p:txBody>
      </p:sp>
    </p:spTree>
    <p:extLst>
      <p:ext uri="{BB962C8B-B14F-4D97-AF65-F5344CB8AC3E}">
        <p14:creationId xmlns:p14="http://schemas.microsoft.com/office/powerpoint/2010/main" val="9343889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8376C-CD52-44FD-9432-B3B8B99BBE75}"/>
              </a:ext>
            </a:extLst>
          </p:cNvPr>
          <p:cNvSpPr>
            <a:spLocks noGrp="1"/>
          </p:cNvSpPr>
          <p:nvPr>
            <p:ph type="title"/>
          </p:nvPr>
        </p:nvSpPr>
        <p:spPr/>
        <p:txBody>
          <a:bodyPr/>
          <a:lstStyle/>
          <a:p>
            <a:r>
              <a:rPr lang="en-US"/>
              <a:t>Hopper GPU Usage by College/School</a:t>
            </a:r>
          </a:p>
        </p:txBody>
      </p:sp>
      <p:pic>
        <p:nvPicPr>
          <p:cNvPr id="4" name="Picture 3">
            <a:extLst>
              <a:ext uri="{FF2B5EF4-FFF2-40B4-BE49-F238E27FC236}">
                <a16:creationId xmlns:a16="http://schemas.microsoft.com/office/drawing/2014/main" id="{BD22DC38-B4BC-4F38-8823-E3E5156FCD5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55611"/>
            <a:ext cx="3694346" cy="2351276"/>
          </a:xfrm>
          <a:prstGeom prst="rect">
            <a:avLst/>
          </a:prstGeom>
          <a:noFill/>
          <a:ln>
            <a:noFill/>
          </a:ln>
        </p:spPr>
      </p:pic>
      <p:graphicFrame>
        <p:nvGraphicFramePr>
          <p:cNvPr id="7" name="Table 6">
            <a:extLst>
              <a:ext uri="{FF2B5EF4-FFF2-40B4-BE49-F238E27FC236}">
                <a16:creationId xmlns:a16="http://schemas.microsoft.com/office/drawing/2014/main" id="{0868D0D6-2989-4391-A7A7-512CA4D55FA3}"/>
              </a:ext>
            </a:extLst>
          </p:cNvPr>
          <p:cNvGraphicFramePr>
            <a:graphicFrameLocks noGrp="1"/>
          </p:cNvGraphicFramePr>
          <p:nvPr>
            <p:extLst>
              <p:ext uri="{D42A27DB-BD31-4B8C-83A1-F6EECF244321}">
                <p14:modId xmlns:p14="http://schemas.microsoft.com/office/powerpoint/2010/main" val="3861970164"/>
              </p:ext>
            </p:extLst>
          </p:nvPr>
        </p:nvGraphicFramePr>
        <p:xfrm>
          <a:off x="7091945" y="2200708"/>
          <a:ext cx="2671006" cy="1433005"/>
        </p:xfrm>
        <a:graphic>
          <a:graphicData uri="http://schemas.openxmlformats.org/drawingml/2006/table">
            <a:tbl>
              <a:tblPr firstRow="1" firstCol="1" bandRow="1"/>
              <a:tblGrid>
                <a:gridCol w="815469">
                  <a:extLst>
                    <a:ext uri="{9D8B030D-6E8A-4147-A177-3AD203B41FA5}">
                      <a16:colId xmlns:a16="http://schemas.microsoft.com/office/drawing/2014/main" val="3147686958"/>
                    </a:ext>
                  </a:extLst>
                </a:gridCol>
                <a:gridCol w="1855537">
                  <a:extLst>
                    <a:ext uri="{9D8B030D-6E8A-4147-A177-3AD203B41FA5}">
                      <a16:colId xmlns:a16="http://schemas.microsoft.com/office/drawing/2014/main" val="1290469557"/>
                    </a:ext>
                  </a:extLst>
                </a:gridCol>
              </a:tblGrid>
              <a:tr h="204715">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Hopper 2021 GPU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89175607"/>
                  </a:ext>
                </a:extLst>
              </a:tr>
              <a:tr h="204715">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2492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1270197"/>
                  </a:ext>
                </a:extLst>
              </a:tr>
              <a:tr h="204715">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CHSS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8450977"/>
                  </a:ext>
                </a:extLst>
              </a:tr>
              <a:tr h="204715">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694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3457751"/>
                  </a:ext>
                </a:extLst>
              </a:tr>
              <a:tr h="204715">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ORC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729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5423483"/>
                  </a:ext>
                </a:extLst>
              </a:tr>
              <a:tr h="204715">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SOM</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5146483"/>
                  </a:ext>
                </a:extLst>
              </a:tr>
              <a:tr h="204715">
                <a:tc>
                  <a:txBody>
                    <a:bodyPr/>
                    <a:lstStyle/>
                    <a:p>
                      <a:pPr marL="0" marR="0" algn="r">
                        <a:lnSpc>
                          <a:spcPct val="107000"/>
                        </a:lnSpc>
                        <a:spcBef>
                          <a:spcPts val="0"/>
                        </a:spcBef>
                        <a:spcAft>
                          <a:spcPts val="0"/>
                        </a:spcAft>
                      </a:pPr>
                      <a:r>
                        <a:rPr lang="en-US" sz="1100" b="1">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3939</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16364537"/>
                  </a:ext>
                </a:extLst>
              </a:tr>
            </a:tbl>
          </a:graphicData>
        </a:graphic>
      </p:graphicFrame>
      <p:graphicFrame>
        <p:nvGraphicFramePr>
          <p:cNvPr id="9" name="Table 8">
            <a:extLst>
              <a:ext uri="{FF2B5EF4-FFF2-40B4-BE49-F238E27FC236}">
                <a16:creationId xmlns:a16="http://schemas.microsoft.com/office/drawing/2014/main" id="{F3F74ED8-CBC8-4A27-950E-A57717A2E0B3}"/>
              </a:ext>
            </a:extLst>
          </p:cNvPr>
          <p:cNvGraphicFramePr>
            <a:graphicFrameLocks noGrp="1"/>
          </p:cNvGraphicFramePr>
          <p:nvPr>
            <p:extLst>
              <p:ext uri="{D42A27DB-BD31-4B8C-83A1-F6EECF244321}">
                <p14:modId xmlns:p14="http://schemas.microsoft.com/office/powerpoint/2010/main" val="2920586513"/>
              </p:ext>
            </p:extLst>
          </p:nvPr>
        </p:nvGraphicFramePr>
        <p:xfrm>
          <a:off x="7091945" y="4321390"/>
          <a:ext cx="2671006" cy="1645920"/>
        </p:xfrm>
        <a:graphic>
          <a:graphicData uri="http://schemas.openxmlformats.org/drawingml/2006/table">
            <a:tbl>
              <a:tblPr firstRow="1" firstCol="1" bandRow="1"/>
              <a:tblGrid>
                <a:gridCol w="713259">
                  <a:extLst>
                    <a:ext uri="{9D8B030D-6E8A-4147-A177-3AD203B41FA5}">
                      <a16:colId xmlns:a16="http://schemas.microsoft.com/office/drawing/2014/main" val="723537695"/>
                    </a:ext>
                  </a:extLst>
                </a:gridCol>
                <a:gridCol w="1957747">
                  <a:extLst>
                    <a:ext uri="{9D8B030D-6E8A-4147-A177-3AD203B41FA5}">
                      <a16:colId xmlns:a16="http://schemas.microsoft.com/office/drawing/2014/main" val="1259034982"/>
                    </a:ext>
                  </a:extLst>
                </a:gridCol>
              </a:tblGrid>
              <a:tr h="182880">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Hopper 2022 GPU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1230188"/>
                  </a:ext>
                </a:extLst>
              </a:tr>
              <a:tr h="182880">
                <a:tc>
                  <a:txBody>
                    <a:bodyPr/>
                    <a:lstStyle/>
                    <a:p>
                      <a:pPr algn="l" fontAlgn="b"/>
                      <a:r>
                        <a:rPr lang="en-US" sz="1100" b="0" i="0" u="none" strike="noStrike">
                          <a:solidFill>
                            <a:srgbClr val="000000"/>
                          </a:solidFill>
                          <a:effectLst/>
                          <a:latin typeface="Calibri" panose="020F0502020204030204" pitchFamily="34" charset="0"/>
                        </a:rPr>
                        <a:t>CEC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141930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5341848"/>
                  </a:ext>
                </a:extLst>
              </a:tr>
              <a:tr h="182880">
                <a:tc>
                  <a:txBody>
                    <a:bodyPr/>
                    <a:lstStyle/>
                    <a:p>
                      <a:pPr algn="l" fontAlgn="b"/>
                      <a:r>
                        <a:rPr lang="en-US" sz="1100" b="0" i="0" u="none" strike="noStrike">
                          <a:solidFill>
                            <a:srgbClr val="000000"/>
                          </a:solidFill>
                          <a:effectLst/>
                          <a:latin typeface="Calibri" panose="020F0502020204030204" pitchFamily="34" charset="0"/>
                        </a:rPr>
                        <a:t>CHSS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573440"/>
                  </a:ext>
                </a:extLst>
              </a:tr>
              <a:tr h="182880">
                <a:tc>
                  <a:txBody>
                    <a:bodyPr/>
                    <a:lstStyle/>
                    <a:p>
                      <a:pPr algn="l" fontAlgn="b"/>
                      <a:r>
                        <a:rPr lang="en-US" sz="1100" b="0" i="0" u="none" strike="noStrike">
                          <a:solidFill>
                            <a:srgbClr val="000000"/>
                          </a:solidFill>
                          <a:effectLst/>
                          <a:latin typeface="Calibri" panose="020F0502020204030204" pitchFamily="34" charset="0"/>
                        </a:rPr>
                        <a:t>COS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2580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41860412"/>
                  </a:ext>
                </a:extLst>
              </a:tr>
              <a:tr h="182880">
                <a:tc>
                  <a:txBody>
                    <a:bodyPr/>
                    <a:lstStyle/>
                    <a:p>
                      <a:pPr algn="l" fontAlgn="b"/>
                      <a:r>
                        <a:rPr lang="en-US" sz="1100" b="0" i="0" u="none" strike="noStrike">
                          <a:solidFill>
                            <a:srgbClr val="000000"/>
                          </a:solidFill>
                          <a:effectLst/>
                          <a:latin typeface="Calibri" panose="020F0502020204030204" pitchFamily="34" charset="0"/>
                        </a:rPr>
                        <a:t>LAW</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5697003"/>
                  </a:ext>
                </a:extLst>
              </a:tr>
              <a:tr h="182880">
                <a:tc>
                  <a:txBody>
                    <a:bodyPr/>
                    <a:lstStyle/>
                    <a:p>
                      <a:pPr algn="l" fontAlgn="b"/>
                      <a:r>
                        <a:rPr lang="en-US" sz="1100" b="0" i="0" u="none" strike="noStrike">
                          <a:solidFill>
                            <a:srgbClr val="000000"/>
                          </a:solidFill>
                          <a:effectLst/>
                          <a:latin typeface="Calibri" panose="020F0502020204030204" pitchFamily="34" charset="0"/>
                        </a:rPr>
                        <a:t>ORC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694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9156344"/>
                  </a:ext>
                </a:extLst>
              </a:tr>
              <a:tr h="182880">
                <a:tc>
                  <a:txBody>
                    <a:bodyPr/>
                    <a:lstStyle/>
                    <a:p>
                      <a:pPr algn="l" fontAlgn="b"/>
                      <a:r>
                        <a:rPr lang="en-US" sz="1100" b="0" i="0" u="none" strike="noStrike">
                          <a:solidFill>
                            <a:srgbClr val="000000"/>
                          </a:solidFill>
                          <a:effectLst/>
                          <a:latin typeface="Calibri" panose="020F0502020204030204" pitchFamily="34" charset="0"/>
                        </a:rPr>
                        <a:t>SOM</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6880889"/>
                  </a:ext>
                </a:extLst>
              </a:tr>
              <a:tr h="182880">
                <a:tc>
                  <a:txBody>
                    <a:bodyPr/>
                    <a:lstStyle/>
                    <a:p>
                      <a:pPr algn="l" fontAlgn="b"/>
                      <a:r>
                        <a:rPr lang="en-US" sz="1100" b="0" i="0" u="none" strike="noStrike">
                          <a:solidFill>
                            <a:srgbClr val="000000"/>
                          </a:solidFill>
                          <a:effectLst/>
                          <a:latin typeface="Calibri" panose="020F0502020204030204" pitchFamily="34" charset="0"/>
                        </a:rPr>
                        <a:t>VPA</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3155254"/>
                  </a:ext>
                </a:extLst>
              </a:tr>
              <a:tr h="182880">
                <a:tc>
                  <a:txBody>
                    <a:bodyPr/>
                    <a:lstStyle/>
                    <a:p>
                      <a:pPr algn="l" fontAlgn="b"/>
                      <a:r>
                        <a:rPr lang="en-US" sz="1100" b="0" i="0" u="none" strike="noStrike">
                          <a:solidFill>
                            <a:srgbClr val="000000"/>
                          </a:solidFill>
                          <a:effectLst/>
                          <a:latin typeface="Calibri" panose="020F0502020204030204" pitchFamily="34" charset="0"/>
                        </a:rPr>
                        <a:t>TOTAL</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145253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6437433"/>
                  </a:ext>
                </a:extLst>
              </a:tr>
            </a:tbl>
          </a:graphicData>
        </a:graphic>
      </p:graphicFrame>
      <p:pic>
        <p:nvPicPr>
          <p:cNvPr id="6" name="Picture 5">
            <a:extLst>
              <a:ext uri="{FF2B5EF4-FFF2-40B4-BE49-F238E27FC236}">
                <a16:creationId xmlns:a16="http://schemas.microsoft.com/office/drawing/2014/main" id="{4B26176E-D4DC-429E-A77F-75EEC7F75E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984204"/>
            <a:ext cx="3939507" cy="2626338"/>
          </a:xfrm>
          <a:prstGeom prst="rect">
            <a:avLst/>
          </a:prstGeom>
        </p:spPr>
      </p:pic>
    </p:spTree>
    <p:extLst>
      <p:ext uri="{BB962C8B-B14F-4D97-AF65-F5344CB8AC3E}">
        <p14:creationId xmlns:p14="http://schemas.microsoft.com/office/powerpoint/2010/main" val="22336460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D54C1-78EC-49E5-ACEF-5FB694F4AD23}"/>
              </a:ext>
            </a:extLst>
          </p:cNvPr>
          <p:cNvSpPr>
            <a:spLocks noGrp="1"/>
          </p:cNvSpPr>
          <p:nvPr>
            <p:ph type="title"/>
          </p:nvPr>
        </p:nvSpPr>
        <p:spPr/>
        <p:txBody>
          <a:bodyPr/>
          <a:lstStyle/>
          <a:p>
            <a:r>
              <a:rPr lang="en-US"/>
              <a:t>GPU Usage by Department Hopper 2021</a:t>
            </a:r>
          </a:p>
        </p:txBody>
      </p:sp>
      <p:graphicFrame>
        <p:nvGraphicFramePr>
          <p:cNvPr id="5" name="Table 4">
            <a:extLst>
              <a:ext uri="{FF2B5EF4-FFF2-40B4-BE49-F238E27FC236}">
                <a16:creationId xmlns:a16="http://schemas.microsoft.com/office/drawing/2014/main" id="{EA23CA89-49BD-4047-87DB-ADFD444F74AE}"/>
              </a:ext>
            </a:extLst>
          </p:cNvPr>
          <p:cNvGraphicFramePr>
            <a:graphicFrameLocks noGrp="1"/>
          </p:cNvGraphicFramePr>
          <p:nvPr>
            <p:extLst>
              <p:ext uri="{D42A27DB-BD31-4B8C-83A1-F6EECF244321}">
                <p14:modId xmlns:p14="http://schemas.microsoft.com/office/powerpoint/2010/main" val="3004670448"/>
              </p:ext>
            </p:extLst>
          </p:nvPr>
        </p:nvGraphicFramePr>
        <p:xfrm>
          <a:off x="838199" y="1845578"/>
          <a:ext cx="10158663" cy="4860181"/>
        </p:xfrm>
        <a:graphic>
          <a:graphicData uri="http://schemas.openxmlformats.org/drawingml/2006/table">
            <a:tbl>
              <a:tblPr firstRow="1" firstCol="1" bandRow="1"/>
              <a:tblGrid>
                <a:gridCol w="4407049">
                  <a:extLst>
                    <a:ext uri="{9D8B030D-6E8A-4147-A177-3AD203B41FA5}">
                      <a16:colId xmlns:a16="http://schemas.microsoft.com/office/drawing/2014/main" val="1210509777"/>
                    </a:ext>
                  </a:extLst>
                </a:gridCol>
                <a:gridCol w="863798">
                  <a:extLst>
                    <a:ext uri="{9D8B030D-6E8A-4147-A177-3AD203B41FA5}">
                      <a16:colId xmlns:a16="http://schemas.microsoft.com/office/drawing/2014/main" val="2778370717"/>
                    </a:ext>
                  </a:extLst>
                </a:gridCol>
                <a:gridCol w="1148211">
                  <a:extLst>
                    <a:ext uri="{9D8B030D-6E8A-4147-A177-3AD203B41FA5}">
                      <a16:colId xmlns:a16="http://schemas.microsoft.com/office/drawing/2014/main" val="80742079"/>
                    </a:ext>
                  </a:extLst>
                </a:gridCol>
                <a:gridCol w="1148211">
                  <a:extLst>
                    <a:ext uri="{9D8B030D-6E8A-4147-A177-3AD203B41FA5}">
                      <a16:colId xmlns:a16="http://schemas.microsoft.com/office/drawing/2014/main" val="398821029"/>
                    </a:ext>
                  </a:extLst>
                </a:gridCol>
                <a:gridCol w="863798">
                  <a:extLst>
                    <a:ext uri="{9D8B030D-6E8A-4147-A177-3AD203B41FA5}">
                      <a16:colId xmlns:a16="http://schemas.microsoft.com/office/drawing/2014/main" val="1194432627"/>
                    </a:ext>
                  </a:extLst>
                </a:gridCol>
                <a:gridCol w="863798">
                  <a:extLst>
                    <a:ext uri="{9D8B030D-6E8A-4147-A177-3AD203B41FA5}">
                      <a16:colId xmlns:a16="http://schemas.microsoft.com/office/drawing/2014/main" val="3509746387"/>
                    </a:ext>
                  </a:extLst>
                </a:gridCol>
                <a:gridCol w="863798">
                  <a:extLst>
                    <a:ext uri="{9D8B030D-6E8A-4147-A177-3AD203B41FA5}">
                      <a16:colId xmlns:a16="http://schemas.microsoft.com/office/drawing/2014/main" val="2716715242"/>
                    </a:ext>
                  </a:extLst>
                </a:gridCol>
              </a:tblGrid>
              <a:tr h="205594">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All Jobs Submitted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err="1">
                          <a:solidFill>
                            <a:srgbClr val="000000"/>
                          </a:solidFill>
                          <a:effectLst/>
                          <a:latin typeface="Calibri" panose="020F0502020204030204" pitchFamily="34" charset="0"/>
                        </a:rPr>
                        <a:t>CoreHours</a:t>
                      </a:r>
                      <a:endParaRPr lang="en-US" sz="1100" b="1" i="0" u="none" strike="noStrike">
                        <a:solidFill>
                          <a:srgbClr val="000000"/>
                        </a:solidFill>
                        <a:effectLst/>
                        <a:latin typeface="Calibri" panose="020F050202020403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ctr"/>
                      <a:r>
                        <a:rPr lang="en-US" sz="1100" b="1" i="0" u="none" strike="noStrike">
                          <a:solidFill>
                            <a:srgbClr val="000000"/>
                          </a:solidFill>
                          <a:effectLst/>
                          <a:latin typeface="Calibri" panose="020F0502020204030204" pitchFamily="34" charset="0"/>
                        </a:rPr>
                        <a:t>GPUHours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 of CPUS used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 of GPUS used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Total Memory used in GB</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5139683"/>
                  </a:ext>
                </a:extLst>
              </a:tr>
              <a:tr h="205594">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Data Analytics and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72</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043906"/>
                  </a:ext>
                </a:extLst>
              </a:tr>
              <a:tr h="205594">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Bioengineering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321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34026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16430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321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155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12929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1431310"/>
                  </a:ext>
                </a:extLst>
              </a:tr>
              <a:tr h="205594">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Chemistry and Biochemistry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7544769"/>
                  </a:ext>
                </a:extLst>
              </a:tr>
              <a:tr h="205594">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Computational and Data Sciences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244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8246385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826588</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2115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212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4322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9249938"/>
                  </a:ext>
                </a:extLst>
              </a:tr>
              <a:tr h="205594">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Computer 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1847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100" b="0" i="0" u="none" strike="noStrike">
                          <a:solidFill>
                            <a:srgbClr val="000000"/>
                          </a:solidFill>
                          <a:effectLst/>
                          <a:latin typeface="Calibri" panose="020F0502020204030204" pitchFamily="34" charset="0"/>
                        </a:rPr>
                        <a:t>34483164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100" b="0" i="0" u="none" strike="noStrike">
                          <a:solidFill>
                            <a:srgbClr val="000000"/>
                          </a:solidFill>
                          <a:effectLst/>
                          <a:latin typeface="Calibri" panose="020F0502020204030204" pitchFamily="34" charset="0"/>
                        </a:rPr>
                        <a:t>12314376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4738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1692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189589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11625726"/>
                  </a:ext>
                </a:extLst>
              </a:tr>
              <a:tr h="205594">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Cyber Security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882426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19764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2411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22144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7439"/>
                  </a:ext>
                </a:extLst>
              </a:tr>
              <a:tr h="205594">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Electrical and Computer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36207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4698</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447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5011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581670"/>
                  </a:ext>
                </a:extLst>
              </a:tr>
              <a:tr h="36291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Geography and Geoinformation 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315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144780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45524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1905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599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29212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3656706"/>
                  </a:ext>
                </a:extLst>
              </a:tr>
              <a:tr h="205594">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Information Sciences and Technology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482670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115218</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465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111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2439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4439502"/>
                  </a:ext>
                </a:extLst>
              </a:tr>
              <a:tr h="205594">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Mathematical Sciences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7910850"/>
                  </a:ext>
                </a:extLst>
              </a:tr>
              <a:tr h="205594">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Physics and Astronomy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635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4582649"/>
                  </a:ext>
                </a:extLst>
              </a:tr>
              <a:tr h="205594">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Sociology and Anthropology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42</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19</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1528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1796263"/>
                  </a:ext>
                </a:extLst>
              </a:tr>
              <a:tr h="36291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Systems Engineering and Operations Research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133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9155097"/>
                  </a:ext>
                </a:extLst>
              </a:tr>
              <a:tr h="205594">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Office of Research Computing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729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716958</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138159</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4686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903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26962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7558715"/>
                  </a:ext>
                </a:extLst>
              </a:tr>
              <a:tr h="205594">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School of Business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669142"/>
                  </a:ext>
                </a:extLst>
              </a:tr>
              <a:tr h="205594">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School of Systems Biology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1533600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97200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2272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7738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8159908"/>
                  </a:ext>
                </a:extLst>
              </a:tr>
              <a:tr h="36291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Civil, Environmental, and Infrastructure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810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648</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280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0278727"/>
                  </a:ext>
                </a:extLst>
              </a:tr>
              <a:tr h="362910">
                <a:tc>
                  <a:txBody>
                    <a:bodyPr/>
                    <a:lstStyle/>
                    <a:p>
                      <a:pPr marL="0" marR="0">
                        <a:lnSpc>
                          <a:spcPct val="107000"/>
                        </a:lnSpc>
                        <a:spcBef>
                          <a:spcPts val="0"/>
                        </a:spcBef>
                        <a:spcAft>
                          <a:spcPts val="0"/>
                        </a:spcAft>
                      </a:pPr>
                      <a:r>
                        <a:rPr lang="en-US" sz="1100" b="1">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3939</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46561144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13578628</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19526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3989</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303044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0356332"/>
                  </a:ext>
                </a:extLst>
              </a:tr>
            </a:tbl>
          </a:graphicData>
        </a:graphic>
      </p:graphicFrame>
    </p:spTree>
    <p:extLst>
      <p:ext uri="{BB962C8B-B14F-4D97-AF65-F5344CB8AC3E}">
        <p14:creationId xmlns:p14="http://schemas.microsoft.com/office/powerpoint/2010/main" val="36012198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ACD5A-2F94-435F-A669-E988F115C4B8}"/>
              </a:ext>
            </a:extLst>
          </p:cNvPr>
          <p:cNvSpPr>
            <a:spLocks noGrp="1"/>
          </p:cNvSpPr>
          <p:nvPr>
            <p:ph type="title"/>
          </p:nvPr>
        </p:nvSpPr>
        <p:spPr/>
        <p:txBody>
          <a:bodyPr/>
          <a:lstStyle/>
          <a:p>
            <a:r>
              <a:rPr lang="en-US"/>
              <a:t>GPU Usage by Department Hopper 2022</a:t>
            </a:r>
          </a:p>
        </p:txBody>
      </p:sp>
      <p:graphicFrame>
        <p:nvGraphicFramePr>
          <p:cNvPr id="3" name="Table 2">
            <a:extLst>
              <a:ext uri="{FF2B5EF4-FFF2-40B4-BE49-F238E27FC236}">
                <a16:creationId xmlns:a16="http://schemas.microsoft.com/office/drawing/2014/main" id="{DCD266F9-8C5B-45E4-B455-A8C520F59CC3}"/>
              </a:ext>
            </a:extLst>
          </p:cNvPr>
          <p:cNvGraphicFramePr>
            <a:graphicFrameLocks noGrp="1"/>
          </p:cNvGraphicFramePr>
          <p:nvPr>
            <p:extLst>
              <p:ext uri="{D42A27DB-BD31-4B8C-83A1-F6EECF244321}">
                <p14:modId xmlns:p14="http://schemas.microsoft.com/office/powerpoint/2010/main" val="2627877574"/>
              </p:ext>
            </p:extLst>
          </p:nvPr>
        </p:nvGraphicFramePr>
        <p:xfrm>
          <a:off x="494522" y="1446012"/>
          <a:ext cx="10020341" cy="5104694"/>
        </p:xfrm>
        <a:graphic>
          <a:graphicData uri="http://schemas.openxmlformats.org/drawingml/2006/table">
            <a:tbl>
              <a:tblPr/>
              <a:tblGrid>
                <a:gridCol w="3689988">
                  <a:extLst>
                    <a:ext uri="{9D8B030D-6E8A-4147-A177-3AD203B41FA5}">
                      <a16:colId xmlns:a16="http://schemas.microsoft.com/office/drawing/2014/main" val="2637628612"/>
                    </a:ext>
                  </a:extLst>
                </a:gridCol>
                <a:gridCol w="1021943">
                  <a:extLst>
                    <a:ext uri="{9D8B030D-6E8A-4147-A177-3AD203B41FA5}">
                      <a16:colId xmlns:a16="http://schemas.microsoft.com/office/drawing/2014/main" val="1683232118"/>
                    </a:ext>
                  </a:extLst>
                </a:gridCol>
                <a:gridCol w="1324087">
                  <a:extLst>
                    <a:ext uri="{9D8B030D-6E8A-4147-A177-3AD203B41FA5}">
                      <a16:colId xmlns:a16="http://schemas.microsoft.com/office/drawing/2014/main" val="3333440134"/>
                    </a:ext>
                  </a:extLst>
                </a:gridCol>
                <a:gridCol w="1013862">
                  <a:extLst>
                    <a:ext uri="{9D8B030D-6E8A-4147-A177-3AD203B41FA5}">
                      <a16:colId xmlns:a16="http://schemas.microsoft.com/office/drawing/2014/main" val="1823067040"/>
                    </a:ext>
                  </a:extLst>
                </a:gridCol>
                <a:gridCol w="565877">
                  <a:extLst>
                    <a:ext uri="{9D8B030D-6E8A-4147-A177-3AD203B41FA5}">
                      <a16:colId xmlns:a16="http://schemas.microsoft.com/office/drawing/2014/main" val="3274966427"/>
                    </a:ext>
                  </a:extLst>
                </a:gridCol>
                <a:gridCol w="943129">
                  <a:extLst>
                    <a:ext uri="{9D8B030D-6E8A-4147-A177-3AD203B41FA5}">
                      <a16:colId xmlns:a16="http://schemas.microsoft.com/office/drawing/2014/main" val="1945848887"/>
                    </a:ext>
                  </a:extLst>
                </a:gridCol>
                <a:gridCol w="1461455">
                  <a:extLst>
                    <a:ext uri="{9D8B030D-6E8A-4147-A177-3AD203B41FA5}">
                      <a16:colId xmlns:a16="http://schemas.microsoft.com/office/drawing/2014/main" val="1799408949"/>
                    </a:ext>
                  </a:extLst>
                </a:gridCol>
              </a:tblGrid>
              <a:tr h="588179">
                <a:tc>
                  <a:txBody>
                    <a:bodyPr/>
                    <a:lstStyle/>
                    <a:p>
                      <a:pPr algn="l" fontAlgn="b"/>
                      <a:r>
                        <a:rPr lang="en-US" sz="1100" b="1" i="0" u="none" strike="noStrike">
                          <a:solidFill>
                            <a:srgbClr val="000000"/>
                          </a:solidFill>
                          <a:effectLst/>
                          <a:latin typeface="Calibri" panose="020F0502020204030204" pitchFamily="34" charset="0"/>
                        </a:rPr>
                        <a:t>Department</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Calibri" panose="020F0502020204030204" pitchFamily="34" charset="0"/>
                        </a:rPr>
                        <a:t>All Jobs Submitted</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err="1">
                          <a:solidFill>
                            <a:srgbClr val="000000"/>
                          </a:solidFill>
                          <a:effectLst/>
                          <a:latin typeface="Calibri" panose="020F0502020204030204" pitchFamily="34" charset="0"/>
                        </a:rPr>
                        <a:t>CoreHours</a:t>
                      </a:r>
                      <a:endParaRPr lang="en-US" sz="1100" b="1" i="0" u="none" strike="noStrike">
                        <a:solidFill>
                          <a:srgbClr val="000000"/>
                        </a:solidFill>
                        <a:effectLst/>
                        <a:latin typeface="Calibri" panose="020F0502020204030204" pitchFamily="34" charset="0"/>
                      </a:endParaRP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Calibri" panose="020F0502020204030204" pitchFamily="34" charset="0"/>
                        </a:rPr>
                        <a:t>GPUHours</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Calibri" panose="020F0502020204030204" pitchFamily="34" charset="0"/>
                        </a:rPr>
                        <a:t>No. of CPUs used</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Calibri" panose="020F0502020204030204" pitchFamily="34" charset="0"/>
                        </a:rPr>
                        <a:t>No. of GPUs used</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Calibri" panose="020F0502020204030204" pitchFamily="34" charset="0"/>
                        </a:rPr>
                        <a:t>Total Memory used in GB</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5819149"/>
                  </a:ext>
                </a:extLst>
              </a:tr>
              <a:tr h="158611">
                <a:tc>
                  <a:txBody>
                    <a:bodyPr/>
                    <a:lstStyle/>
                    <a:p>
                      <a:pPr algn="l" fontAlgn="b"/>
                      <a:r>
                        <a:rPr lang="en-US" sz="1100" b="0" i="0" u="none" strike="noStrike">
                          <a:solidFill>
                            <a:srgbClr val="000000"/>
                          </a:solidFill>
                          <a:effectLst/>
                          <a:latin typeface="Calibri" panose="020F0502020204030204" pitchFamily="34" charset="0"/>
                        </a:rPr>
                        <a:t>Data Analytics and Engineering</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938</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42429.52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4098.60</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22008</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1451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150200</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0871159"/>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Atmospheric, Oceanic and Earth Sciences</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436</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191477.66</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11969.54</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25114</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1351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173197</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2962719"/>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Bioengineering</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1605</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1311.71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1291.31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1636</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1537</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32853</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9655254"/>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Chemistry and Biochemistry</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16</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30.45</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4.09</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66</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16</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596</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8332198"/>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Computational and Data Sciences</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324</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17664.38</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2266.93</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2800</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357</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7771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185761"/>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Computer Science</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125132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1108249.52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182398.41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1916238</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120161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23515173</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3104110"/>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Criminology, Law and Society</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0.23</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0.12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2732331"/>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Cyber Security Engineering</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23</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72.88</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6.08</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422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20</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948</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0211417"/>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Economics</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5.55</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5.55</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50</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2381068"/>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Electrical and Computer Engineering</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404</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119264.41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16411.43</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6952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1086</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70036</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3532332"/>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Environmental Science and Policy</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33</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71.09</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59.85</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83</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4689</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9199647"/>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Geography and Geoinformation Science</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959</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9415.00</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3286.06</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6853</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1620</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139995</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2836948"/>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Information Sciences and Technology</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13725</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145039.79</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8341.85</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26628</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13832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245829</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9908271"/>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Mathematical Sciences</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0.32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0.23</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20</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664</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7122914"/>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Mechanical Engineering</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40.06</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2.50</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64</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2917221"/>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Physics and Astronomy</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796</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14635.51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964.00</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8921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819</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63778</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4302284"/>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Statistics</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0.01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0.00</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9911295"/>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Systems Engineering and Operations Research</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13424.60</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754.79</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662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54</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3662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958246"/>
                  </a:ext>
                </a:extLst>
              </a:tr>
              <a:tr h="158611">
                <a:tc>
                  <a:txBody>
                    <a:bodyPr/>
                    <a:lstStyle/>
                    <a:p>
                      <a:pPr algn="l" fontAlgn="b"/>
                      <a:r>
                        <a:rPr lang="en-US" sz="1100" b="0" i="0" u="none" strike="noStrike">
                          <a:solidFill>
                            <a:srgbClr val="000000"/>
                          </a:solidFill>
                          <a:effectLst/>
                          <a:latin typeface="Calibri" panose="020F0502020204030204" pitchFamily="34" charset="0"/>
                        </a:rPr>
                        <a:t>Office of Research Computing</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694</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3694.55</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385.09</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10998</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632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64026</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7736161"/>
                  </a:ext>
                </a:extLst>
              </a:tr>
              <a:tr h="158611">
                <a:tc>
                  <a:txBody>
                    <a:bodyPr/>
                    <a:lstStyle/>
                    <a:p>
                      <a:pPr algn="l" fontAlgn="b"/>
                      <a:r>
                        <a:rPr lang="en-US" sz="1100" b="0" i="0" u="none" strike="noStrike">
                          <a:solidFill>
                            <a:srgbClr val="000000"/>
                          </a:solidFill>
                          <a:effectLst/>
                          <a:latin typeface="Calibri" panose="020F0502020204030204" pitchFamily="34" charset="0"/>
                        </a:rPr>
                        <a:t>School of Business</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36</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924.23</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101.20</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347</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39</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2098</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2487670"/>
                  </a:ext>
                </a:extLst>
              </a:tr>
              <a:tr h="158611">
                <a:tc>
                  <a:txBody>
                    <a:bodyPr/>
                    <a:lstStyle/>
                    <a:p>
                      <a:pPr algn="l" fontAlgn="b"/>
                      <a:r>
                        <a:rPr lang="en-US" sz="1100" b="0" i="0" u="none" strike="noStrike">
                          <a:solidFill>
                            <a:srgbClr val="000000"/>
                          </a:solidFill>
                          <a:effectLst/>
                          <a:latin typeface="Calibri" panose="020F0502020204030204" pitchFamily="34" charset="0"/>
                        </a:rPr>
                        <a:t>School of Law</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0.04</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0.02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6162483"/>
                  </a:ext>
                </a:extLst>
              </a:tr>
              <a:tr h="158611">
                <a:tc>
                  <a:txBody>
                    <a:bodyPr/>
                    <a:lstStyle/>
                    <a:p>
                      <a:pPr algn="l" fontAlgn="b"/>
                      <a:r>
                        <a:rPr lang="en-US" sz="1100" b="0" i="0" u="none" strike="noStrike">
                          <a:solidFill>
                            <a:srgbClr val="000000"/>
                          </a:solidFill>
                          <a:effectLst/>
                          <a:latin typeface="Calibri" panose="020F0502020204030204" pitchFamily="34" charset="0"/>
                        </a:rPr>
                        <a:t>School of Music</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9</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8.39</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2.37</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130</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996308"/>
                  </a:ext>
                </a:extLst>
              </a:tr>
              <a:tr h="158611">
                <a:tc>
                  <a:txBody>
                    <a:bodyPr/>
                    <a:lstStyle/>
                    <a:p>
                      <a:pPr algn="l" fontAlgn="b"/>
                      <a:r>
                        <a:rPr lang="en-US" sz="1100" b="0" i="0" u="none" strike="noStrike">
                          <a:solidFill>
                            <a:srgbClr val="000000"/>
                          </a:solidFill>
                          <a:effectLst/>
                          <a:latin typeface="Calibri" panose="020F0502020204030204" pitchFamily="34" charset="0"/>
                        </a:rPr>
                        <a:t>School of Systems Biology</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58.01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4.83</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132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403</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7225944"/>
                  </a:ext>
                </a:extLst>
              </a:tr>
              <a:tr h="158611">
                <a:tc>
                  <a:txBody>
                    <a:bodyPr/>
                    <a:lstStyle/>
                    <a:p>
                      <a:pPr algn="l" fontAlgn="b"/>
                      <a:r>
                        <a:rPr lang="en-US" sz="1100" b="0" i="0" u="none" strike="noStrike">
                          <a:solidFill>
                            <a:srgbClr val="000000"/>
                          </a:solidFill>
                          <a:effectLst/>
                          <a:latin typeface="Calibri" panose="020F0502020204030204" pitchFamily="34" charset="0"/>
                        </a:rPr>
                        <a:t>Department of Civil, Environmental, and Infrastructure Engineering</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49</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1515.42</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117.67</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609</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44</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3250</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6255633"/>
                  </a:ext>
                </a:extLst>
              </a:tr>
              <a:tr h="158611">
                <a:tc>
                  <a:txBody>
                    <a:bodyPr/>
                    <a:lstStyle/>
                    <a:p>
                      <a:pPr algn="l" fontAlgn="b"/>
                      <a:r>
                        <a:rPr lang="en-US" sz="1100" b="1" i="0" u="none" strike="noStrike">
                          <a:solidFill>
                            <a:srgbClr val="000000"/>
                          </a:solidFill>
                          <a:effectLst/>
                          <a:latin typeface="Calibri" panose="020F0502020204030204" pitchFamily="34" charset="0"/>
                        </a:rPr>
                        <a:t>TOTAL</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145253</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1669333.35</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232472.55</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2030543</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143081</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24479428</a:t>
                      </a:r>
                    </a:p>
                  </a:txBody>
                  <a:tcPr marL="6315" marR="6315" marT="63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027168"/>
                  </a:ext>
                </a:extLst>
              </a:tr>
            </a:tbl>
          </a:graphicData>
        </a:graphic>
      </p:graphicFrame>
    </p:spTree>
    <p:extLst>
      <p:ext uri="{BB962C8B-B14F-4D97-AF65-F5344CB8AC3E}">
        <p14:creationId xmlns:p14="http://schemas.microsoft.com/office/powerpoint/2010/main" val="18952573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57A76-9ECD-41D3-8965-3A727922F9BA}"/>
              </a:ext>
            </a:extLst>
          </p:cNvPr>
          <p:cNvSpPr>
            <a:spLocks noGrp="1"/>
          </p:cNvSpPr>
          <p:nvPr>
            <p:ph type="title"/>
          </p:nvPr>
        </p:nvSpPr>
        <p:spPr/>
        <p:txBody>
          <a:bodyPr/>
          <a:lstStyle/>
          <a:p>
            <a:r>
              <a:rPr lang="en-US"/>
              <a:t>Hopper CPU Usage</a:t>
            </a:r>
          </a:p>
        </p:txBody>
      </p:sp>
      <p:sp>
        <p:nvSpPr>
          <p:cNvPr id="3" name="Content Placeholder 2">
            <a:extLst>
              <a:ext uri="{FF2B5EF4-FFF2-40B4-BE49-F238E27FC236}">
                <a16:creationId xmlns:a16="http://schemas.microsoft.com/office/drawing/2014/main" id="{7290688E-0273-467A-9199-30C82C23F84D}"/>
              </a:ext>
            </a:extLst>
          </p:cNvPr>
          <p:cNvSpPr>
            <a:spLocks noGrp="1"/>
          </p:cNvSpPr>
          <p:nvPr>
            <p:ph idx="1"/>
          </p:nvPr>
        </p:nvSpPr>
        <p:spPr/>
        <p:txBody>
          <a:bodyPr/>
          <a:lstStyle/>
          <a:p>
            <a:r>
              <a:rPr lang="en-US"/>
              <a:t>The next tables and figures show how the CPUs on Hopper are being used. </a:t>
            </a:r>
          </a:p>
          <a:p>
            <a:r>
              <a:rPr lang="en-US"/>
              <a:t>We see the CEC and COS leading in usage. In 2021, most CPUs were used by the Bioengineering Department followed by the  Computer Science Department. </a:t>
            </a:r>
          </a:p>
          <a:p>
            <a:r>
              <a:rPr lang="en-US"/>
              <a:t>In 2022, we see the Statistics Department usage picking up, as well as the ECE and CS departments.</a:t>
            </a:r>
          </a:p>
          <a:p>
            <a:r>
              <a:rPr lang="en-US"/>
              <a:t>From the COS, most use is by the AOES, Physics, CDS and Chemistry departments.</a:t>
            </a:r>
          </a:p>
          <a:p>
            <a:endParaRPr lang="en-US"/>
          </a:p>
        </p:txBody>
      </p:sp>
    </p:spTree>
    <p:extLst>
      <p:ext uri="{BB962C8B-B14F-4D97-AF65-F5344CB8AC3E}">
        <p14:creationId xmlns:p14="http://schemas.microsoft.com/office/powerpoint/2010/main" val="32689230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D0C12-398B-424B-9FDF-4D1C46FD3BCD}"/>
              </a:ext>
            </a:extLst>
          </p:cNvPr>
          <p:cNvSpPr>
            <a:spLocks noGrp="1"/>
          </p:cNvSpPr>
          <p:nvPr>
            <p:ph type="title"/>
          </p:nvPr>
        </p:nvSpPr>
        <p:spPr/>
        <p:txBody>
          <a:bodyPr/>
          <a:lstStyle/>
          <a:p>
            <a:r>
              <a:rPr lang="en-US"/>
              <a:t>CPU Usage by Department Hopper 2021</a:t>
            </a:r>
          </a:p>
        </p:txBody>
      </p:sp>
      <p:graphicFrame>
        <p:nvGraphicFramePr>
          <p:cNvPr id="5" name="Table 4">
            <a:extLst>
              <a:ext uri="{FF2B5EF4-FFF2-40B4-BE49-F238E27FC236}">
                <a16:creationId xmlns:a16="http://schemas.microsoft.com/office/drawing/2014/main" id="{740056F9-48C3-41CC-A234-9EB8AB497F9D}"/>
              </a:ext>
            </a:extLst>
          </p:cNvPr>
          <p:cNvGraphicFramePr>
            <a:graphicFrameLocks noGrp="1"/>
          </p:cNvGraphicFramePr>
          <p:nvPr>
            <p:extLst>
              <p:ext uri="{D42A27DB-BD31-4B8C-83A1-F6EECF244321}">
                <p14:modId xmlns:p14="http://schemas.microsoft.com/office/powerpoint/2010/main" val="4073121298"/>
              </p:ext>
            </p:extLst>
          </p:nvPr>
        </p:nvGraphicFramePr>
        <p:xfrm>
          <a:off x="939565" y="1511226"/>
          <a:ext cx="9915785" cy="2269728"/>
        </p:xfrm>
        <a:graphic>
          <a:graphicData uri="http://schemas.openxmlformats.org/drawingml/2006/table">
            <a:tbl>
              <a:tblPr firstRow="1" firstCol="1" bandRow="1"/>
              <a:tblGrid>
                <a:gridCol w="4202883">
                  <a:extLst>
                    <a:ext uri="{9D8B030D-6E8A-4147-A177-3AD203B41FA5}">
                      <a16:colId xmlns:a16="http://schemas.microsoft.com/office/drawing/2014/main" val="1672884196"/>
                    </a:ext>
                  </a:extLst>
                </a:gridCol>
                <a:gridCol w="1459685">
                  <a:extLst>
                    <a:ext uri="{9D8B030D-6E8A-4147-A177-3AD203B41FA5}">
                      <a16:colId xmlns:a16="http://schemas.microsoft.com/office/drawing/2014/main" val="3962744410"/>
                    </a:ext>
                  </a:extLst>
                </a:gridCol>
                <a:gridCol w="1661020">
                  <a:extLst>
                    <a:ext uri="{9D8B030D-6E8A-4147-A177-3AD203B41FA5}">
                      <a16:colId xmlns:a16="http://schemas.microsoft.com/office/drawing/2014/main" val="1558232098"/>
                    </a:ext>
                  </a:extLst>
                </a:gridCol>
                <a:gridCol w="1174459">
                  <a:extLst>
                    <a:ext uri="{9D8B030D-6E8A-4147-A177-3AD203B41FA5}">
                      <a16:colId xmlns:a16="http://schemas.microsoft.com/office/drawing/2014/main" val="3984211542"/>
                    </a:ext>
                  </a:extLst>
                </a:gridCol>
                <a:gridCol w="1417738">
                  <a:extLst>
                    <a:ext uri="{9D8B030D-6E8A-4147-A177-3AD203B41FA5}">
                      <a16:colId xmlns:a16="http://schemas.microsoft.com/office/drawing/2014/main" val="3132958103"/>
                    </a:ext>
                  </a:extLst>
                </a:gridCol>
              </a:tblGrid>
              <a:tr h="311519">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 Department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 of Jobs Submitted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Cumulative </a:t>
                      </a:r>
                      <a:r>
                        <a:rPr lang="en-US" sz="1100" b="1"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RunTime</a:t>
                      </a: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US" sz="1100" b="1"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Hrs</a:t>
                      </a: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 of CPUS Used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Calibri" panose="020F0502020204030204" pitchFamily="34" charset="0"/>
                        </a:rPr>
                        <a:t>Total Memory Used (GB)</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7643072"/>
                  </a:ext>
                </a:extLst>
              </a:tr>
              <a:tr h="191889">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Data Analytics and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21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95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194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54960106"/>
                  </a:ext>
                </a:extLst>
              </a:tr>
              <a:tr h="191889">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Bioengineering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16672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sz="1100" b="0" i="0" u="none" strike="noStrike">
                          <a:solidFill>
                            <a:srgbClr val="000000"/>
                          </a:solidFill>
                          <a:effectLst/>
                          <a:latin typeface="Calibri" panose="020F0502020204030204" pitchFamily="34" charset="0"/>
                        </a:rPr>
                        <a:t>12500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101578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218779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3196248357"/>
                  </a:ext>
                </a:extLst>
              </a:tr>
              <a:tr h="191889">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Computer 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37441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sz="1100" b="0" i="0" u="none" strike="noStrike">
                          <a:solidFill>
                            <a:srgbClr val="000000"/>
                          </a:solidFill>
                          <a:effectLst/>
                          <a:latin typeface="Calibri" panose="020F0502020204030204" pitchFamily="34" charset="0"/>
                        </a:rPr>
                        <a:t>90009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41532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360534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63601171"/>
                  </a:ext>
                </a:extLst>
              </a:tr>
              <a:tr h="191889">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Cyber Security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1668</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10627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39247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2755426"/>
                  </a:ext>
                </a:extLst>
              </a:tr>
              <a:tr h="191889">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Electrical and Computer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1153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4274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221809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592901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4901063"/>
                  </a:ext>
                </a:extLst>
              </a:tr>
              <a:tr h="191889">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Information Sciences and Technology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320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616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5816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594746"/>
                  </a:ext>
                </a:extLst>
              </a:tr>
              <a:tr h="191889">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Statistics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27692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329284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108828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360848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2620964"/>
                  </a:ext>
                </a:extLst>
              </a:tr>
              <a:tr h="191889">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Systems Engineering and Operations Research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858</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1343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1548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9516743"/>
                  </a:ext>
                </a:extLst>
              </a:tr>
              <a:tr h="191889">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Civil, Environmental, and Infrastructure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7580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30637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24743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141622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9916788"/>
                  </a:ext>
                </a:extLst>
              </a:tr>
              <a:tr h="191889">
                <a:tc>
                  <a:txBody>
                    <a:bodyPr/>
                    <a:lstStyle/>
                    <a:p>
                      <a:pPr marL="0" marR="0">
                        <a:lnSpc>
                          <a:spcPct val="107000"/>
                        </a:lnSpc>
                        <a:spcBef>
                          <a:spcPts val="0"/>
                        </a:spcBef>
                        <a:spcAft>
                          <a:spcPts val="0"/>
                        </a:spcAft>
                      </a:pPr>
                      <a:r>
                        <a:rPr lang="en-US" sz="1100" b="1">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90948</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469571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511171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1721489</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6228105"/>
                  </a:ext>
                </a:extLst>
              </a:tr>
            </a:tbl>
          </a:graphicData>
        </a:graphic>
      </p:graphicFrame>
      <p:graphicFrame>
        <p:nvGraphicFramePr>
          <p:cNvPr id="7" name="Table 6">
            <a:extLst>
              <a:ext uri="{FF2B5EF4-FFF2-40B4-BE49-F238E27FC236}">
                <a16:creationId xmlns:a16="http://schemas.microsoft.com/office/drawing/2014/main" id="{D90A8BC1-4CAD-4F6A-A089-090357E4C5A0}"/>
              </a:ext>
            </a:extLst>
          </p:cNvPr>
          <p:cNvGraphicFramePr>
            <a:graphicFrameLocks noGrp="1"/>
          </p:cNvGraphicFramePr>
          <p:nvPr>
            <p:extLst>
              <p:ext uri="{D42A27DB-BD31-4B8C-83A1-F6EECF244321}">
                <p14:modId xmlns:p14="http://schemas.microsoft.com/office/powerpoint/2010/main" val="348280667"/>
              </p:ext>
            </p:extLst>
          </p:nvPr>
        </p:nvGraphicFramePr>
        <p:xfrm>
          <a:off x="939566" y="3939264"/>
          <a:ext cx="9915784" cy="2406725"/>
        </p:xfrm>
        <a:graphic>
          <a:graphicData uri="http://schemas.openxmlformats.org/drawingml/2006/table">
            <a:tbl>
              <a:tblPr firstRow="1" firstCol="1" bandRow="1"/>
              <a:tblGrid>
                <a:gridCol w="4202885">
                  <a:extLst>
                    <a:ext uri="{9D8B030D-6E8A-4147-A177-3AD203B41FA5}">
                      <a16:colId xmlns:a16="http://schemas.microsoft.com/office/drawing/2014/main" val="3549582456"/>
                    </a:ext>
                  </a:extLst>
                </a:gridCol>
                <a:gridCol w="1661021">
                  <a:extLst>
                    <a:ext uri="{9D8B030D-6E8A-4147-A177-3AD203B41FA5}">
                      <a16:colId xmlns:a16="http://schemas.microsoft.com/office/drawing/2014/main" val="3638216868"/>
                    </a:ext>
                  </a:extLst>
                </a:gridCol>
                <a:gridCol w="1671030">
                  <a:extLst>
                    <a:ext uri="{9D8B030D-6E8A-4147-A177-3AD203B41FA5}">
                      <a16:colId xmlns:a16="http://schemas.microsoft.com/office/drawing/2014/main" val="1958121584"/>
                    </a:ext>
                  </a:extLst>
                </a:gridCol>
                <a:gridCol w="1324579">
                  <a:extLst>
                    <a:ext uri="{9D8B030D-6E8A-4147-A177-3AD203B41FA5}">
                      <a16:colId xmlns:a16="http://schemas.microsoft.com/office/drawing/2014/main" val="411498036"/>
                    </a:ext>
                  </a:extLst>
                </a:gridCol>
                <a:gridCol w="1056269">
                  <a:extLst>
                    <a:ext uri="{9D8B030D-6E8A-4147-A177-3AD203B41FA5}">
                      <a16:colId xmlns:a16="http://schemas.microsoft.com/office/drawing/2014/main" val="1162174184"/>
                    </a:ext>
                  </a:extLst>
                </a:gridCol>
              </a:tblGrid>
              <a:tr h="360492">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 Department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 of Jobs Submitted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Cumulative </a:t>
                      </a:r>
                      <a:r>
                        <a:rPr lang="en-US" sz="1100" b="1"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RunTime</a:t>
                      </a: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US" sz="1100" b="1"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Hrs</a:t>
                      </a: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 of CPUS Used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Calibri" panose="020F0502020204030204" pitchFamily="34" charset="0"/>
                        </a:rPr>
                        <a:t>Total Memory Used (GB)</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0437288"/>
                  </a:ext>
                </a:extLst>
              </a:tr>
              <a:tr h="220696">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Atmospheric, Oceanic and Earth Sciences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18409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sz="1100" b="0" i="0" u="none" strike="noStrike">
                          <a:solidFill>
                            <a:srgbClr val="000000"/>
                          </a:solidFill>
                          <a:effectLst/>
                          <a:latin typeface="Calibri" panose="020F0502020204030204" pitchFamily="34" charset="0"/>
                        </a:rPr>
                        <a:t>29299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2183054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4398352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5669141"/>
                  </a:ext>
                </a:extLst>
              </a:tr>
              <a:tr h="194669">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Biology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461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2481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16962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114609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31981413"/>
                  </a:ext>
                </a:extLst>
              </a:tr>
              <a:tr h="194669">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Chemistry and Biochemistry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366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2303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17091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74196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7872978"/>
                  </a:ext>
                </a:extLst>
              </a:tr>
              <a:tr h="194669">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Computational and Data Sciences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1157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sz="1100" b="0" i="0" u="none" strike="noStrike">
                          <a:solidFill>
                            <a:srgbClr val="000000"/>
                          </a:solidFill>
                          <a:effectLst/>
                          <a:latin typeface="Calibri" panose="020F0502020204030204" pitchFamily="34" charset="0"/>
                        </a:rPr>
                        <a:t>14274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25517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67919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3767499922"/>
                  </a:ext>
                </a:extLst>
              </a:tr>
              <a:tr h="194669">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Environmental Science and Policy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219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4116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25337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5699335"/>
                  </a:ext>
                </a:extLst>
              </a:tr>
              <a:tr h="249481">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Geography and Geoinformation 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83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127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692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1236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504762"/>
                  </a:ext>
                </a:extLst>
              </a:tr>
              <a:tr h="194669">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Mathematical Sciences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360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7241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3117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14139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4974459"/>
                  </a:ext>
                </a:extLst>
              </a:tr>
              <a:tr h="242545">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Physics and Astronomy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57417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rtl="0" fontAlgn="ctr"/>
                      <a:r>
                        <a:rPr lang="en-US" sz="1100" b="0" i="0" u="none" strike="noStrike">
                          <a:solidFill>
                            <a:srgbClr val="000000"/>
                          </a:solidFill>
                          <a:effectLst/>
                          <a:latin typeface="Calibri" panose="020F0502020204030204" pitchFamily="34" charset="0"/>
                        </a:rPr>
                        <a:t>25243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992613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3911920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3604215467"/>
                  </a:ext>
                </a:extLst>
              </a:tr>
              <a:tr h="180083">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School of Systems Biology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0" fontAlgn="ctr"/>
                      <a:r>
                        <a:rPr lang="en-US" sz="1100" b="0" i="0" u="none" strike="noStrike">
                          <a:solidFill>
                            <a:srgbClr val="000000"/>
                          </a:solidFill>
                          <a:effectLst/>
                          <a:latin typeface="Calibri" panose="020F0502020204030204" pitchFamily="34" charset="0"/>
                        </a:rPr>
                        <a:t>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314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640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8575146"/>
                  </a:ext>
                </a:extLst>
              </a:tr>
              <a:tr h="180083">
                <a:tc>
                  <a:txBody>
                    <a:bodyPr/>
                    <a:lstStyle/>
                    <a:p>
                      <a:pPr marL="0" marR="0">
                        <a:lnSpc>
                          <a:spcPct val="107000"/>
                        </a:lnSpc>
                        <a:spcBef>
                          <a:spcPts val="0"/>
                        </a:spcBef>
                        <a:spcAft>
                          <a:spcPts val="0"/>
                        </a:spcAft>
                      </a:pPr>
                      <a:r>
                        <a:rPr lang="en-US" sz="1100" b="1">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78375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81192</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3243476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8608348</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3427420"/>
                  </a:ext>
                </a:extLst>
              </a:tr>
            </a:tbl>
          </a:graphicData>
        </a:graphic>
      </p:graphicFrame>
    </p:spTree>
    <p:extLst>
      <p:ext uri="{BB962C8B-B14F-4D97-AF65-F5344CB8AC3E}">
        <p14:creationId xmlns:p14="http://schemas.microsoft.com/office/powerpoint/2010/main" val="38709951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40919-05DA-42D5-89DC-159066E38354}"/>
              </a:ext>
            </a:extLst>
          </p:cNvPr>
          <p:cNvSpPr>
            <a:spLocks noGrp="1"/>
          </p:cNvSpPr>
          <p:nvPr>
            <p:ph type="title"/>
          </p:nvPr>
        </p:nvSpPr>
        <p:spPr/>
        <p:txBody>
          <a:bodyPr/>
          <a:lstStyle/>
          <a:p>
            <a:r>
              <a:rPr lang="en-US"/>
              <a:t>CPU Usage by Department Hopper 2022</a:t>
            </a:r>
          </a:p>
        </p:txBody>
      </p:sp>
      <p:graphicFrame>
        <p:nvGraphicFramePr>
          <p:cNvPr id="3" name="Table 2">
            <a:extLst>
              <a:ext uri="{FF2B5EF4-FFF2-40B4-BE49-F238E27FC236}">
                <a16:creationId xmlns:a16="http://schemas.microsoft.com/office/drawing/2014/main" id="{6F6DEEE4-7195-43C7-BAD0-C87A00FC0B3A}"/>
              </a:ext>
            </a:extLst>
          </p:cNvPr>
          <p:cNvGraphicFramePr>
            <a:graphicFrameLocks noGrp="1"/>
          </p:cNvGraphicFramePr>
          <p:nvPr>
            <p:extLst>
              <p:ext uri="{D42A27DB-BD31-4B8C-83A1-F6EECF244321}">
                <p14:modId xmlns:p14="http://schemas.microsoft.com/office/powerpoint/2010/main" val="448691542"/>
              </p:ext>
            </p:extLst>
          </p:nvPr>
        </p:nvGraphicFramePr>
        <p:xfrm>
          <a:off x="699796" y="1539551"/>
          <a:ext cx="9545093" cy="5136780"/>
        </p:xfrm>
        <a:graphic>
          <a:graphicData uri="http://schemas.openxmlformats.org/drawingml/2006/table">
            <a:tbl>
              <a:tblPr/>
              <a:tblGrid>
                <a:gridCol w="4310686">
                  <a:extLst>
                    <a:ext uri="{9D8B030D-6E8A-4147-A177-3AD203B41FA5}">
                      <a16:colId xmlns:a16="http://schemas.microsoft.com/office/drawing/2014/main" val="2683082626"/>
                    </a:ext>
                  </a:extLst>
                </a:gridCol>
                <a:gridCol w="1455557">
                  <a:extLst>
                    <a:ext uri="{9D8B030D-6E8A-4147-A177-3AD203B41FA5}">
                      <a16:colId xmlns:a16="http://schemas.microsoft.com/office/drawing/2014/main" val="85291734"/>
                    </a:ext>
                  </a:extLst>
                </a:gridCol>
                <a:gridCol w="1077673">
                  <a:extLst>
                    <a:ext uri="{9D8B030D-6E8A-4147-A177-3AD203B41FA5}">
                      <a16:colId xmlns:a16="http://schemas.microsoft.com/office/drawing/2014/main" val="420891579"/>
                    </a:ext>
                  </a:extLst>
                </a:gridCol>
                <a:gridCol w="1371583">
                  <a:extLst>
                    <a:ext uri="{9D8B030D-6E8A-4147-A177-3AD203B41FA5}">
                      <a16:colId xmlns:a16="http://schemas.microsoft.com/office/drawing/2014/main" val="3708626859"/>
                    </a:ext>
                  </a:extLst>
                </a:gridCol>
                <a:gridCol w="1329594">
                  <a:extLst>
                    <a:ext uri="{9D8B030D-6E8A-4147-A177-3AD203B41FA5}">
                      <a16:colId xmlns:a16="http://schemas.microsoft.com/office/drawing/2014/main" val="1032155304"/>
                    </a:ext>
                  </a:extLst>
                </a:gridCol>
              </a:tblGrid>
              <a:tr h="150200">
                <a:tc>
                  <a:txBody>
                    <a:bodyPr/>
                    <a:lstStyle/>
                    <a:p>
                      <a:pPr algn="l" fontAlgn="b"/>
                      <a:r>
                        <a:rPr lang="en-US" sz="1050" b="1" i="0" u="none" strike="noStrike">
                          <a:solidFill>
                            <a:srgbClr val="000000"/>
                          </a:solidFill>
                          <a:effectLst/>
                          <a:latin typeface="Calibri" panose="020F0502020204030204" pitchFamily="34" charset="0"/>
                        </a:rPr>
                        <a:t>Department</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50" b="1" i="0" u="none" strike="noStrike">
                          <a:solidFill>
                            <a:srgbClr val="000000"/>
                          </a:solidFill>
                          <a:effectLst/>
                          <a:latin typeface="Calibri" panose="020F0502020204030204" pitchFamily="34" charset="0"/>
                        </a:rPr>
                        <a:t>No. of Jobs Submitted</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50" b="1" i="0" u="none" strike="noStrike">
                          <a:solidFill>
                            <a:srgbClr val="000000"/>
                          </a:solidFill>
                          <a:effectLst/>
                          <a:latin typeface="Calibri" panose="020F0502020204030204" pitchFamily="34" charset="0"/>
                        </a:rPr>
                        <a:t>CoreHours</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50" b="1" i="0" u="none" strike="noStrike">
                          <a:solidFill>
                            <a:srgbClr val="000000"/>
                          </a:solidFill>
                          <a:effectLst/>
                          <a:latin typeface="Calibri" panose="020F0502020204030204" pitchFamily="34" charset="0"/>
                        </a:rPr>
                        <a:t>No. of CPUs used</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50" b="1" i="0" u="none" strike="noStrike">
                          <a:solidFill>
                            <a:srgbClr val="000000"/>
                          </a:solidFill>
                          <a:effectLst/>
                          <a:latin typeface="Calibri" panose="020F0502020204030204" pitchFamily="34" charset="0"/>
                        </a:rPr>
                        <a:t>Total Memory in GB</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0439890"/>
                  </a:ext>
                </a:extLst>
              </a:tr>
              <a:tr h="150200">
                <a:tc>
                  <a:txBody>
                    <a:bodyPr/>
                    <a:lstStyle/>
                    <a:p>
                      <a:pPr algn="l" fontAlgn="b"/>
                      <a:r>
                        <a:rPr lang="en-US" sz="1050" b="0" i="0" u="none" strike="noStrike">
                          <a:solidFill>
                            <a:srgbClr val="000000"/>
                          </a:solidFill>
                          <a:effectLst/>
                          <a:latin typeface="Calibri" panose="020F0502020204030204" pitchFamily="34" charset="0"/>
                        </a:rPr>
                        <a:t>Data Analytics and Engineering</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427</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4942.33</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1919</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6016</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4399730"/>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Atmospheric, Oceanic and Earth Sciences</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97898</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4225800.00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4650374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15249948</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82556262"/>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Bioengineering</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12714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33388.43</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16086</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53018</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7504645"/>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Biology</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434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133751.04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10802</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89031</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9266901"/>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Chemistry and Biochemistry</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69000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781653.60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323810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1152018</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9484562"/>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Computational and Data Sciences</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2886</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618718.09</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30376</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64817</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5913797"/>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Computer Science</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284762</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750871.33</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2079820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13408189</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2241095"/>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Criminology, Law and Society</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26</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47.26</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212</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648</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9612231"/>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Cyber Security Engineering</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53</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12706.94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1988</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47908</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82991148"/>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Economics</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722</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57350.36</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8016</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31430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6797668"/>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Electrical and Computer Engineering</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64094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2566719.22</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184170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708529</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6746883"/>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English</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404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42129.60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5557</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121459</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09521012"/>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Environmental Science and Policy</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16</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93.64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47</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121</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6837503"/>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Geography and Geoinformation Science</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1480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13297.49</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37204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125252</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4893297"/>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Global and Community Health</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15621</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4688.30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187083</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747872</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7295067"/>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Information Sciences and Technology</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1791</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484596.24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29776</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156097</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5057485"/>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Mathematical Sciences</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2010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444430.11</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47352</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420468</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2425293"/>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Mechanical Engineering</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7</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958.28</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104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232</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0560294"/>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Physics and Astronomy</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199674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6644592.97</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9095182</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37591423</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0282735"/>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Psychology</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6852</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11990.61</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38397</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216001</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7677968"/>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Statistics</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253527</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938674.38</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291694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2787176</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36868015"/>
                  </a:ext>
                </a:extLst>
              </a:tr>
              <a:tr h="150200">
                <a:tc>
                  <a:txBody>
                    <a:bodyPr/>
                    <a:lstStyle/>
                    <a:p>
                      <a:pPr algn="l" fontAlgn="b"/>
                      <a:r>
                        <a:rPr lang="en-US" sz="1050" b="0" i="0" u="none" strike="noStrike">
                          <a:solidFill>
                            <a:srgbClr val="000000"/>
                          </a:solidFill>
                          <a:effectLst/>
                          <a:latin typeface="Calibri" panose="020F0502020204030204" pitchFamily="34" charset="0"/>
                        </a:rPr>
                        <a:t>Department of Systems Engineering and Operations Research</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1560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567069.12</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81810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54170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7839843"/>
                  </a:ext>
                </a:extLst>
              </a:tr>
              <a:tr h="150200">
                <a:tc>
                  <a:txBody>
                    <a:bodyPr/>
                    <a:lstStyle/>
                    <a:p>
                      <a:pPr algn="l" fontAlgn="b"/>
                      <a:r>
                        <a:rPr lang="en-US" sz="1050" b="0" i="0" u="none" strike="noStrike">
                          <a:solidFill>
                            <a:srgbClr val="000000"/>
                          </a:solidFill>
                          <a:effectLst/>
                          <a:latin typeface="Calibri" panose="020F0502020204030204" pitchFamily="34" charset="0"/>
                        </a:rPr>
                        <a:t>Information Technology Services</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188.32</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56</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156</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7362298"/>
                  </a:ext>
                </a:extLst>
              </a:tr>
              <a:tr h="150200">
                <a:tc>
                  <a:txBody>
                    <a:bodyPr/>
                    <a:lstStyle/>
                    <a:p>
                      <a:pPr algn="l" fontAlgn="b"/>
                      <a:r>
                        <a:rPr lang="en-US" sz="1050" b="0" i="0" u="none" strike="noStrike">
                          <a:solidFill>
                            <a:srgbClr val="000000"/>
                          </a:solidFill>
                          <a:effectLst/>
                          <a:latin typeface="Calibri" panose="020F0502020204030204" pitchFamily="34" charset="0"/>
                        </a:rPr>
                        <a:t>Office of Research Computing</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2275</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59325.26</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83233</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461870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1496032"/>
                  </a:ext>
                </a:extLst>
              </a:tr>
              <a:tr h="150200">
                <a:tc>
                  <a:txBody>
                    <a:bodyPr/>
                    <a:lstStyle/>
                    <a:p>
                      <a:pPr algn="l" fontAlgn="b"/>
                      <a:r>
                        <a:rPr lang="en-US" sz="1050" b="0" i="0" u="none" strike="noStrike">
                          <a:solidFill>
                            <a:srgbClr val="000000"/>
                          </a:solidFill>
                          <a:effectLst/>
                          <a:latin typeface="Calibri" panose="020F0502020204030204" pitchFamily="34" charset="0"/>
                        </a:rPr>
                        <a:t>School of Business</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555</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36158.57</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4378</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37094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51873626"/>
                  </a:ext>
                </a:extLst>
              </a:tr>
              <a:tr h="150200">
                <a:tc>
                  <a:txBody>
                    <a:bodyPr/>
                    <a:lstStyle/>
                    <a:p>
                      <a:pPr algn="l" fontAlgn="b"/>
                      <a:r>
                        <a:rPr lang="en-US" sz="1050" b="0" i="0" u="none" strike="noStrike">
                          <a:solidFill>
                            <a:srgbClr val="000000"/>
                          </a:solidFill>
                          <a:effectLst/>
                          <a:latin typeface="Calibri" panose="020F0502020204030204" pitchFamily="34" charset="0"/>
                        </a:rPr>
                        <a:t>School of Law</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245</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13537.52</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5284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94709</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3722569"/>
                  </a:ext>
                </a:extLst>
              </a:tr>
              <a:tr h="150200">
                <a:tc>
                  <a:txBody>
                    <a:bodyPr/>
                    <a:lstStyle/>
                    <a:p>
                      <a:pPr algn="l" fontAlgn="b"/>
                      <a:r>
                        <a:rPr lang="en-US" sz="1050" b="0" i="0" u="none" strike="noStrike">
                          <a:solidFill>
                            <a:srgbClr val="000000"/>
                          </a:solidFill>
                          <a:effectLst/>
                          <a:latin typeface="Calibri" panose="020F0502020204030204" pitchFamily="34" charset="0"/>
                        </a:rPr>
                        <a:t>School of Systems Biology</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57</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24809.90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2680</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10114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4340806"/>
                  </a:ext>
                </a:extLst>
              </a:tr>
              <a:tr h="281624">
                <a:tc>
                  <a:txBody>
                    <a:bodyPr/>
                    <a:lstStyle/>
                    <a:p>
                      <a:pPr algn="l" fontAlgn="b"/>
                      <a:r>
                        <a:rPr lang="en-US" sz="1050" b="0" i="0" u="none" strike="noStrike">
                          <a:solidFill>
                            <a:srgbClr val="000000"/>
                          </a:solidFill>
                          <a:effectLst/>
                          <a:latin typeface="Calibri" panose="020F0502020204030204" pitchFamily="34" charset="0"/>
                        </a:rPr>
                        <a:t>Sid and Reva Dewberry Department of Civil, Environmental, and Infrastructure Engineering</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11548</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322727.62</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70131</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0" i="0" u="none" strike="noStrike">
                          <a:solidFill>
                            <a:srgbClr val="000000"/>
                          </a:solidFill>
                          <a:effectLst/>
                          <a:latin typeface="Calibri" panose="020F0502020204030204" pitchFamily="34" charset="0"/>
                        </a:rPr>
                        <a:t>856686</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3280216"/>
                  </a:ext>
                </a:extLst>
              </a:tr>
              <a:tr h="150200">
                <a:tc>
                  <a:txBody>
                    <a:bodyPr/>
                    <a:lstStyle/>
                    <a:p>
                      <a:pPr algn="l" fontAlgn="b"/>
                      <a:r>
                        <a:rPr lang="en-US" sz="1050" b="1" i="0" u="none" strike="noStrike">
                          <a:solidFill>
                            <a:srgbClr val="000000"/>
                          </a:solidFill>
                          <a:effectLst/>
                          <a:latin typeface="Calibri" panose="020F0502020204030204" pitchFamily="34" charset="0"/>
                        </a:rPr>
                        <a:t>TOTAL</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1" i="0" u="none" strike="noStrike">
                          <a:solidFill>
                            <a:srgbClr val="000000"/>
                          </a:solidFill>
                          <a:effectLst/>
                          <a:latin typeface="Calibri" panose="020F0502020204030204" pitchFamily="34" charset="0"/>
                        </a:rPr>
                        <a:t>1030658</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1" i="0" u="none" strike="noStrike">
                          <a:solidFill>
                            <a:srgbClr val="000000"/>
                          </a:solidFill>
                          <a:effectLst/>
                          <a:latin typeface="Calibri" panose="020F0502020204030204" pitchFamily="34" charset="0"/>
                        </a:rPr>
                        <a:t>18795216.54</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1" i="0" u="none" strike="noStrike">
                          <a:solidFill>
                            <a:srgbClr val="000000"/>
                          </a:solidFill>
                          <a:effectLst/>
                          <a:latin typeface="Calibri" panose="020F0502020204030204" pitchFamily="34" charset="0"/>
                        </a:rPr>
                        <a:t>17287541</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50" b="1" i="0" u="none" strike="noStrike">
                          <a:solidFill>
                            <a:srgbClr val="000000"/>
                          </a:solidFill>
                          <a:effectLst/>
                          <a:latin typeface="Calibri" panose="020F0502020204030204" pitchFamily="34" charset="0"/>
                        </a:rPr>
                        <a:t>74492452</a:t>
                      </a:r>
                    </a:p>
                  </a:txBody>
                  <a:tcPr marL="5872" marR="5872" marT="587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2695780"/>
                  </a:ext>
                </a:extLst>
              </a:tr>
            </a:tbl>
          </a:graphicData>
        </a:graphic>
      </p:graphicFrame>
    </p:spTree>
    <p:extLst>
      <p:ext uri="{BB962C8B-B14F-4D97-AF65-F5344CB8AC3E}">
        <p14:creationId xmlns:p14="http://schemas.microsoft.com/office/powerpoint/2010/main" val="27997639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30E4A-DA2C-43C4-B6A6-D7E4B4D99B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EF7767-7ED1-4A3C-A16F-7017B8EED5B6}"/>
              </a:ext>
            </a:extLst>
          </p:cNvPr>
          <p:cNvSpPr>
            <a:spLocks noGrp="1"/>
          </p:cNvSpPr>
          <p:nvPr>
            <p:ph idx="1"/>
          </p:nvPr>
        </p:nvSpPr>
        <p:spPr/>
        <p:txBody>
          <a:bodyPr/>
          <a:lstStyle/>
          <a:p>
            <a:r>
              <a:rPr lang="en-US"/>
              <a:t>The next tables and figures show submission numbers for CPU jobs on Hopper broken down by the originating School/College of the researcher and then further by the respective departments for both 2021 and 2022.</a:t>
            </a:r>
          </a:p>
          <a:p>
            <a:r>
              <a:rPr lang="en-US"/>
              <a:t>A further breakdown is given on the Departments from the CEC which had the most runs submitted to Hopper  </a:t>
            </a:r>
          </a:p>
        </p:txBody>
      </p:sp>
    </p:spTree>
    <p:extLst>
      <p:ext uri="{BB962C8B-B14F-4D97-AF65-F5344CB8AC3E}">
        <p14:creationId xmlns:p14="http://schemas.microsoft.com/office/powerpoint/2010/main" val="27127180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44EFA-2ADF-48DA-94C7-C7C218D049F5}"/>
              </a:ext>
            </a:extLst>
          </p:cNvPr>
          <p:cNvSpPr>
            <a:spLocks noGrp="1"/>
          </p:cNvSpPr>
          <p:nvPr>
            <p:ph type="title"/>
          </p:nvPr>
        </p:nvSpPr>
        <p:spPr/>
        <p:txBody>
          <a:bodyPr/>
          <a:lstStyle/>
          <a:p>
            <a:r>
              <a:rPr lang="en-US"/>
              <a:t>Hopper CPU Jobs by School/College</a:t>
            </a:r>
          </a:p>
        </p:txBody>
      </p:sp>
      <p:pic>
        <p:nvPicPr>
          <p:cNvPr id="4" name="Picture 3">
            <a:extLst>
              <a:ext uri="{FF2B5EF4-FFF2-40B4-BE49-F238E27FC236}">
                <a16:creationId xmlns:a16="http://schemas.microsoft.com/office/drawing/2014/main" id="{FC99CE26-2E60-47E8-8671-E93E2425D7A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43000"/>
            <a:ext cx="3532464" cy="2275994"/>
          </a:xfrm>
          <a:prstGeom prst="rect">
            <a:avLst/>
          </a:prstGeom>
          <a:noFill/>
          <a:ln>
            <a:noFill/>
          </a:ln>
        </p:spPr>
      </p:pic>
      <p:graphicFrame>
        <p:nvGraphicFramePr>
          <p:cNvPr id="6" name="Table 5">
            <a:extLst>
              <a:ext uri="{FF2B5EF4-FFF2-40B4-BE49-F238E27FC236}">
                <a16:creationId xmlns:a16="http://schemas.microsoft.com/office/drawing/2014/main" id="{C8EE6FF9-AE18-488B-87F7-EA61DAACB888}"/>
              </a:ext>
            </a:extLst>
          </p:cNvPr>
          <p:cNvGraphicFramePr>
            <a:graphicFrameLocks noGrp="1"/>
          </p:cNvGraphicFramePr>
          <p:nvPr>
            <p:extLst>
              <p:ext uri="{D42A27DB-BD31-4B8C-83A1-F6EECF244321}">
                <p14:modId xmlns:p14="http://schemas.microsoft.com/office/powerpoint/2010/main" val="3050138464"/>
              </p:ext>
            </p:extLst>
          </p:nvPr>
        </p:nvGraphicFramePr>
        <p:xfrm>
          <a:off x="6526633" y="2004968"/>
          <a:ext cx="3934438" cy="1700401"/>
        </p:xfrm>
        <a:graphic>
          <a:graphicData uri="http://schemas.openxmlformats.org/drawingml/2006/table">
            <a:tbl>
              <a:tblPr firstRow="1" firstCol="1" bandRow="1"/>
              <a:tblGrid>
                <a:gridCol w="1967219">
                  <a:extLst>
                    <a:ext uri="{9D8B030D-6E8A-4147-A177-3AD203B41FA5}">
                      <a16:colId xmlns:a16="http://schemas.microsoft.com/office/drawing/2014/main" val="2686117081"/>
                    </a:ext>
                  </a:extLst>
                </a:gridCol>
                <a:gridCol w="1967219">
                  <a:extLst>
                    <a:ext uri="{9D8B030D-6E8A-4147-A177-3AD203B41FA5}">
                      <a16:colId xmlns:a16="http://schemas.microsoft.com/office/drawing/2014/main" val="2901842674"/>
                    </a:ext>
                  </a:extLst>
                </a:gridCol>
              </a:tblGrid>
              <a:tr h="276229">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Hopper 2021 CPU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9890226"/>
                  </a:ext>
                </a:extLst>
              </a:tr>
              <a:tr h="237362">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90948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1297269"/>
                  </a:ext>
                </a:extLst>
              </a:tr>
              <a:tr h="237362">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CHSS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807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4545443"/>
                  </a:ext>
                </a:extLst>
              </a:tr>
              <a:tr h="237362">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78375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0571409"/>
                  </a:ext>
                </a:extLst>
              </a:tr>
              <a:tr h="237362">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ORC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3647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4457625"/>
                  </a:ext>
                </a:extLst>
              </a:tr>
              <a:tr h="237362">
                <a:tc>
                  <a:txBody>
                    <a:bodyPr/>
                    <a:lstStyle/>
                    <a:p>
                      <a:pPr marL="0" marR="0" algn="l">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SOM</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4802449"/>
                  </a:ext>
                </a:extLst>
              </a:tr>
              <a:tr h="237362">
                <a:tc>
                  <a:txBody>
                    <a:bodyPr/>
                    <a:lstStyle/>
                    <a:p>
                      <a:pPr marL="0" marR="0" algn="l">
                        <a:lnSpc>
                          <a:spcPct val="107000"/>
                        </a:lnSpc>
                        <a:spcBef>
                          <a:spcPts val="0"/>
                        </a:spcBef>
                        <a:spcAft>
                          <a:spcPts val="0"/>
                        </a:spcAft>
                      </a:pPr>
                      <a:r>
                        <a:rPr lang="en-US" sz="1100" b="1">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173780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8943372"/>
                  </a:ext>
                </a:extLst>
              </a:tr>
            </a:tbl>
          </a:graphicData>
        </a:graphic>
      </p:graphicFrame>
      <p:graphicFrame>
        <p:nvGraphicFramePr>
          <p:cNvPr id="7" name="Table 6">
            <a:extLst>
              <a:ext uri="{FF2B5EF4-FFF2-40B4-BE49-F238E27FC236}">
                <a16:creationId xmlns:a16="http://schemas.microsoft.com/office/drawing/2014/main" id="{E534E51F-1343-4538-BE36-B98A9011DBA1}"/>
              </a:ext>
            </a:extLst>
          </p:cNvPr>
          <p:cNvGraphicFramePr>
            <a:graphicFrameLocks noGrp="1"/>
          </p:cNvGraphicFramePr>
          <p:nvPr>
            <p:extLst>
              <p:ext uri="{D42A27DB-BD31-4B8C-83A1-F6EECF244321}">
                <p14:modId xmlns:p14="http://schemas.microsoft.com/office/powerpoint/2010/main" val="2745361131"/>
              </p:ext>
            </p:extLst>
          </p:nvPr>
        </p:nvGraphicFramePr>
        <p:xfrm>
          <a:off x="6526634" y="4410677"/>
          <a:ext cx="3934438" cy="1828800"/>
        </p:xfrm>
        <a:graphic>
          <a:graphicData uri="http://schemas.openxmlformats.org/drawingml/2006/table">
            <a:tbl>
              <a:tblPr firstRow="1" firstCol="1" bandRow="1"/>
              <a:tblGrid>
                <a:gridCol w="1967219">
                  <a:extLst>
                    <a:ext uri="{9D8B030D-6E8A-4147-A177-3AD203B41FA5}">
                      <a16:colId xmlns:a16="http://schemas.microsoft.com/office/drawing/2014/main" val="1024548323"/>
                    </a:ext>
                  </a:extLst>
                </a:gridCol>
                <a:gridCol w="1967219">
                  <a:extLst>
                    <a:ext uri="{9D8B030D-6E8A-4147-A177-3AD203B41FA5}">
                      <a16:colId xmlns:a16="http://schemas.microsoft.com/office/drawing/2014/main" val="1102876303"/>
                    </a:ext>
                  </a:extLst>
                </a:gridCol>
              </a:tblGrid>
              <a:tr h="182880">
                <a:tc>
                  <a:txBody>
                    <a:bodyPr/>
                    <a:lstStyle/>
                    <a:p>
                      <a:pPr marL="0" marR="0" algn="l">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Hopper 2022 CPU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4824914"/>
                  </a:ext>
                </a:extLst>
              </a:tr>
              <a:tr h="182880">
                <a:tc>
                  <a:txBody>
                    <a:bodyPr/>
                    <a:lstStyle/>
                    <a:p>
                      <a:pPr algn="l" fontAlgn="b"/>
                      <a:r>
                        <a:rPr lang="en-US" sz="1100" b="0" i="0" u="none" strike="noStrike">
                          <a:solidFill>
                            <a:srgbClr val="000000"/>
                          </a:solidFill>
                          <a:effectLst/>
                          <a:latin typeface="Calibri" panose="020F0502020204030204" pitchFamily="34" charset="0"/>
                        </a:rPr>
                        <a:t>CEC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630483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1544855"/>
                  </a:ext>
                </a:extLst>
              </a:tr>
              <a:tr h="182880">
                <a:tc>
                  <a:txBody>
                    <a:bodyPr/>
                    <a:lstStyle/>
                    <a:p>
                      <a:pPr algn="l" fontAlgn="b"/>
                      <a:r>
                        <a:rPr lang="en-US" sz="1100" b="0" i="0" u="none" strike="noStrike">
                          <a:solidFill>
                            <a:srgbClr val="000000"/>
                          </a:solidFill>
                          <a:effectLst/>
                          <a:latin typeface="Calibri" panose="020F0502020204030204" pitchFamily="34" charset="0"/>
                        </a:rPr>
                        <a:t>CHHS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15621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0426556"/>
                  </a:ext>
                </a:extLst>
              </a:tr>
              <a:tr h="182880">
                <a:tc>
                  <a:txBody>
                    <a:bodyPr/>
                    <a:lstStyle/>
                    <a:p>
                      <a:pPr algn="l" fontAlgn="b"/>
                      <a:r>
                        <a:rPr lang="en-US" sz="1100" b="0" i="0" u="none" strike="noStrike">
                          <a:solidFill>
                            <a:srgbClr val="000000"/>
                          </a:solidFill>
                          <a:effectLst/>
                          <a:latin typeface="Calibri" panose="020F0502020204030204" pitchFamily="34" charset="0"/>
                        </a:rPr>
                        <a:t>CHSS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8004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8108175"/>
                  </a:ext>
                </a:extLst>
              </a:tr>
              <a:tr h="182880">
                <a:tc>
                  <a:txBody>
                    <a:bodyPr/>
                    <a:lstStyle/>
                    <a:p>
                      <a:pPr algn="l" fontAlgn="b"/>
                      <a:r>
                        <a:rPr lang="en-US" sz="1100" b="0" i="0" u="none" strike="noStrike">
                          <a:solidFill>
                            <a:srgbClr val="000000"/>
                          </a:solidFill>
                          <a:effectLst/>
                          <a:latin typeface="Calibri" panose="020F0502020204030204" pitchFamily="34" charset="0"/>
                        </a:rPr>
                        <a:t>COS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373455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6417077"/>
                  </a:ext>
                </a:extLst>
              </a:tr>
              <a:tr h="182880">
                <a:tc>
                  <a:txBody>
                    <a:bodyPr/>
                    <a:lstStyle/>
                    <a:p>
                      <a:pPr algn="l" fontAlgn="b"/>
                      <a:r>
                        <a:rPr lang="en-US" sz="1100" b="0" i="0" u="none" strike="noStrike">
                          <a:solidFill>
                            <a:srgbClr val="000000"/>
                          </a:solidFill>
                          <a:effectLst/>
                          <a:latin typeface="Calibri" panose="020F0502020204030204" pitchFamily="34" charset="0"/>
                        </a:rPr>
                        <a:t>ITS</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0838378"/>
                  </a:ext>
                </a:extLst>
              </a:tr>
              <a:tr h="182880">
                <a:tc>
                  <a:txBody>
                    <a:bodyPr/>
                    <a:lstStyle/>
                    <a:p>
                      <a:pPr algn="l" fontAlgn="b"/>
                      <a:r>
                        <a:rPr lang="en-US" sz="1100" b="0" i="0" u="none" strike="noStrike">
                          <a:solidFill>
                            <a:srgbClr val="000000"/>
                          </a:solidFill>
                          <a:effectLst/>
                          <a:latin typeface="Calibri" panose="020F0502020204030204" pitchFamily="34" charset="0"/>
                        </a:rPr>
                        <a:t>LAW</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245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0686148"/>
                  </a:ext>
                </a:extLst>
              </a:tr>
              <a:tr h="182880">
                <a:tc>
                  <a:txBody>
                    <a:bodyPr/>
                    <a:lstStyle/>
                    <a:p>
                      <a:pPr algn="l" fontAlgn="b"/>
                      <a:r>
                        <a:rPr lang="en-US" sz="1100" b="0" i="0" u="none" strike="noStrike">
                          <a:solidFill>
                            <a:srgbClr val="000000"/>
                          </a:solidFill>
                          <a:effectLst/>
                          <a:latin typeface="Calibri" panose="020F0502020204030204" pitchFamily="34" charset="0"/>
                        </a:rPr>
                        <a:t>ORC</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2275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4996864"/>
                  </a:ext>
                </a:extLst>
              </a:tr>
              <a:tr h="182880">
                <a:tc>
                  <a:txBody>
                    <a:bodyPr/>
                    <a:lstStyle/>
                    <a:p>
                      <a:pPr algn="l" fontAlgn="b"/>
                      <a:r>
                        <a:rPr lang="en-US" sz="1100" b="0" i="0" u="none" strike="noStrike">
                          <a:solidFill>
                            <a:srgbClr val="000000"/>
                          </a:solidFill>
                          <a:effectLst/>
                          <a:latin typeface="Calibri" panose="020F0502020204030204" pitchFamily="34" charset="0"/>
                        </a:rPr>
                        <a:t>SOM</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555</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9511438"/>
                  </a:ext>
                </a:extLst>
              </a:tr>
              <a:tr h="182880">
                <a:tc>
                  <a:txBody>
                    <a:bodyPr/>
                    <a:lstStyle/>
                    <a:p>
                      <a:pPr algn="l" fontAlgn="b"/>
                      <a:r>
                        <a:rPr lang="en-US" sz="1100" b="1" i="0" u="none" strike="noStrike">
                          <a:solidFill>
                            <a:srgbClr val="000000"/>
                          </a:solidFill>
                          <a:effectLst/>
                          <a:latin typeface="Calibri" panose="020F0502020204030204" pitchFamily="34" charset="0"/>
                        </a:rPr>
                        <a:t>TOTAL</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1030658</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8218390"/>
                  </a:ext>
                </a:extLst>
              </a:tr>
            </a:tbl>
          </a:graphicData>
        </a:graphic>
      </p:graphicFrame>
      <p:pic>
        <p:nvPicPr>
          <p:cNvPr id="8" name="Picture 7">
            <a:extLst>
              <a:ext uri="{FF2B5EF4-FFF2-40B4-BE49-F238E27FC236}">
                <a16:creationId xmlns:a16="http://schemas.microsoft.com/office/drawing/2014/main" id="{9ED58F82-B7F3-4244-96E1-3B447E6DB5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820" y="4174122"/>
            <a:ext cx="4025817" cy="2683878"/>
          </a:xfrm>
          <a:prstGeom prst="rect">
            <a:avLst/>
          </a:prstGeom>
        </p:spPr>
      </p:pic>
    </p:spTree>
    <p:extLst>
      <p:ext uri="{BB962C8B-B14F-4D97-AF65-F5344CB8AC3E}">
        <p14:creationId xmlns:p14="http://schemas.microsoft.com/office/powerpoint/2010/main" val="35041920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E7487-E1E0-4025-B173-78BA550637D0}"/>
              </a:ext>
            </a:extLst>
          </p:cNvPr>
          <p:cNvSpPr>
            <a:spLocks noGrp="1"/>
          </p:cNvSpPr>
          <p:nvPr>
            <p:ph type="title"/>
          </p:nvPr>
        </p:nvSpPr>
        <p:spPr/>
        <p:txBody>
          <a:bodyPr/>
          <a:lstStyle/>
          <a:p>
            <a:r>
              <a:rPr lang="en-US"/>
              <a:t>Hopper jobs by Department in CEC : 2021</a:t>
            </a:r>
          </a:p>
        </p:txBody>
      </p:sp>
      <p:pic>
        <p:nvPicPr>
          <p:cNvPr id="4" name="Picture 3">
            <a:extLst>
              <a:ext uri="{FF2B5EF4-FFF2-40B4-BE49-F238E27FC236}">
                <a16:creationId xmlns:a16="http://schemas.microsoft.com/office/drawing/2014/main" id="{AD95AB7F-86A8-4EE2-B7B4-46272A82EE3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56526" y="1690688"/>
            <a:ext cx="3105150" cy="2070100"/>
          </a:xfrm>
          <a:prstGeom prst="rect">
            <a:avLst/>
          </a:prstGeom>
          <a:noFill/>
          <a:ln>
            <a:noFill/>
          </a:ln>
        </p:spPr>
      </p:pic>
      <p:pic>
        <p:nvPicPr>
          <p:cNvPr id="5" name="Picture 4">
            <a:extLst>
              <a:ext uri="{FF2B5EF4-FFF2-40B4-BE49-F238E27FC236}">
                <a16:creationId xmlns:a16="http://schemas.microsoft.com/office/drawing/2014/main" id="{3AF0135C-FBD8-44CD-AC5E-32A793AF89A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92822" y="3929630"/>
            <a:ext cx="3333226" cy="2202721"/>
          </a:xfrm>
          <a:prstGeom prst="rect">
            <a:avLst/>
          </a:prstGeom>
          <a:noFill/>
          <a:ln>
            <a:noFill/>
          </a:ln>
        </p:spPr>
      </p:pic>
      <p:graphicFrame>
        <p:nvGraphicFramePr>
          <p:cNvPr id="6" name="Table 5">
            <a:extLst>
              <a:ext uri="{FF2B5EF4-FFF2-40B4-BE49-F238E27FC236}">
                <a16:creationId xmlns:a16="http://schemas.microsoft.com/office/drawing/2014/main" id="{E279B478-F718-4EB7-B156-B61EE7AAF387}"/>
              </a:ext>
            </a:extLst>
          </p:cNvPr>
          <p:cNvGraphicFramePr>
            <a:graphicFrameLocks noGrp="1"/>
          </p:cNvGraphicFramePr>
          <p:nvPr>
            <p:extLst>
              <p:ext uri="{D42A27DB-BD31-4B8C-83A1-F6EECF244321}">
                <p14:modId xmlns:p14="http://schemas.microsoft.com/office/powerpoint/2010/main" val="394305357"/>
              </p:ext>
            </p:extLst>
          </p:nvPr>
        </p:nvGraphicFramePr>
        <p:xfrm>
          <a:off x="4504889" y="1690688"/>
          <a:ext cx="6887972" cy="1996758"/>
        </p:xfrm>
        <a:graphic>
          <a:graphicData uri="http://schemas.openxmlformats.org/drawingml/2006/table">
            <a:tbl>
              <a:tblPr firstRow="1" firstCol="1" bandRow="1"/>
              <a:tblGrid>
                <a:gridCol w="4060271">
                  <a:extLst>
                    <a:ext uri="{9D8B030D-6E8A-4147-A177-3AD203B41FA5}">
                      <a16:colId xmlns:a16="http://schemas.microsoft.com/office/drawing/2014/main" val="186805300"/>
                    </a:ext>
                  </a:extLst>
                </a:gridCol>
                <a:gridCol w="855677">
                  <a:extLst>
                    <a:ext uri="{9D8B030D-6E8A-4147-A177-3AD203B41FA5}">
                      <a16:colId xmlns:a16="http://schemas.microsoft.com/office/drawing/2014/main" val="2320083829"/>
                    </a:ext>
                  </a:extLst>
                </a:gridCol>
                <a:gridCol w="1213715">
                  <a:extLst>
                    <a:ext uri="{9D8B030D-6E8A-4147-A177-3AD203B41FA5}">
                      <a16:colId xmlns:a16="http://schemas.microsoft.com/office/drawing/2014/main" val="1931415241"/>
                    </a:ext>
                  </a:extLst>
                </a:gridCol>
                <a:gridCol w="758309">
                  <a:extLst>
                    <a:ext uri="{9D8B030D-6E8A-4147-A177-3AD203B41FA5}">
                      <a16:colId xmlns:a16="http://schemas.microsoft.com/office/drawing/2014/main" val="3601007401"/>
                    </a:ext>
                  </a:extLst>
                </a:gridCol>
              </a:tblGrid>
              <a:tr h="182880">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2021 Hopper GPU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9571610"/>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Bioengineering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BENG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321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63373069"/>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Civil, Environmental, and Infrastructure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CEIE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4318857"/>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Computer 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1847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9967416"/>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Cyber Security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CYSE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4787528"/>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Data Analytics and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DAEN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9114097"/>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Electrical and Computer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84003516"/>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Information Sciences and Technology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IST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46679"/>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Systems Engineering and Operations Research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SEOR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4402904"/>
                  </a:ext>
                </a:extLst>
              </a:tr>
              <a:tr h="182880">
                <a:tc>
                  <a:txBody>
                    <a:bodyPr/>
                    <a:lstStyle/>
                    <a:p>
                      <a:pPr marL="0" marR="0">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2492</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4196435"/>
                  </a:ext>
                </a:extLst>
              </a:tr>
            </a:tbl>
          </a:graphicData>
        </a:graphic>
      </p:graphicFrame>
      <p:graphicFrame>
        <p:nvGraphicFramePr>
          <p:cNvPr id="7" name="Table 6">
            <a:extLst>
              <a:ext uri="{FF2B5EF4-FFF2-40B4-BE49-F238E27FC236}">
                <a16:creationId xmlns:a16="http://schemas.microsoft.com/office/drawing/2014/main" id="{09A5A79C-29F3-4445-8FE4-87F510F259A9}"/>
              </a:ext>
            </a:extLst>
          </p:cNvPr>
          <p:cNvGraphicFramePr>
            <a:graphicFrameLocks noGrp="1"/>
          </p:cNvGraphicFramePr>
          <p:nvPr>
            <p:extLst>
              <p:ext uri="{D42A27DB-BD31-4B8C-83A1-F6EECF244321}">
                <p14:modId xmlns:p14="http://schemas.microsoft.com/office/powerpoint/2010/main" val="4026435432"/>
              </p:ext>
            </p:extLst>
          </p:nvPr>
        </p:nvGraphicFramePr>
        <p:xfrm>
          <a:off x="4504888" y="3929631"/>
          <a:ext cx="6887970" cy="2179638"/>
        </p:xfrm>
        <a:graphic>
          <a:graphicData uri="http://schemas.openxmlformats.org/drawingml/2006/table">
            <a:tbl>
              <a:tblPr firstRow="1" firstCol="1" bandRow="1"/>
              <a:tblGrid>
                <a:gridCol w="4347695">
                  <a:extLst>
                    <a:ext uri="{9D8B030D-6E8A-4147-A177-3AD203B41FA5}">
                      <a16:colId xmlns:a16="http://schemas.microsoft.com/office/drawing/2014/main" val="1947679353"/>
                    </a:ext>
                  </a:extLst>
                </a:gridCol>
                <a:gridCol w="660533">
                  <a:extLst>
                    <a:ext uri="{9D8B030D-6E8A-4147-A177-3AD203B41FA5}">
                      <a16:colId xmlns:a16="http://schemas.microsoft.com/office/drawing/2014/main" val="1441982389"/>
                    </a:ext>
                  </a:extLst>
                </a:gridCol>
                <a:gridCol w="1160998">
                  <a:extLst>
                    <a:ext uri="{9D8B030D-6E8A-4147-A177-3AD203B41FA5}">
                      <a16:colId xmlns:a16="http://schemas.microsoft.com/office/drawing/2014/main" val="3363966059"/>
                    </a:ext>
                  </a:extLst>
                </a:gridCol>
                <a:gridCol w="718744">
                  <a:extLst>
                    <a:ext uri="{9D8B030D-6E8A-4147-A177-3AD203B41FA5}">
                      <a16:colId xmlns:a16="http://schemas.microsoft.com/office/drawing/2014/main" val="808747562"/>
                    </a:ext>
                  </a:extLst>
                </a:gridCol>
              </a:tblGrid>
              <a:tr h="182880">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2021 Hopper CPU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9732738"/>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Bioengineering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BENG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16672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61030774"/>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Civil, Environmental, and Infrastructure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CEIE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7580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903115"/>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Computer 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37441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5647029"/>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Cyber Security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CYSE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4043195"/>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Data Analytics and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DAEN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720776"/>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Electrical and Computer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1153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8754179"/>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Information Sciences and Technology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IST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1529524"/>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Systems Engineering and Operations Research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SEOR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54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2588138"/>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Statistics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STAT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27692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3549664"/>
                  </a:ext>
                </a:extLst>
              </a:tr>
              <a:tr h="182880">
                <a:tc>
                  <a:txBody>
                    <a:bodyPr/>
                    <a:lstStyle/>
                    <a:p>
                      <a:pPr marL="0" marR="0">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90948</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34640201"/>
                  </a:ext>
                </a:extLst>
              </a:tr>
            </a:tbl>
          </a:graphicData>
        </a:graphic>
      </p:graphicFrame>
    </p:spTree>
    <p:extLst>
      <p:ext uri="{BB962C8B-B14F-4D97-AF65-F5344CB8AC3E}">
        <p14:creationId xmlns:p14="http://schemas.microsoft.com/office/powerpoint/2010/main" val="1885689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DE5FF-A4C6-46D5-8E48-C6E97E654131}"/>
              </a:ext>
            </a:extLst>
          </p:cNvPr>
          <p:cNvSpPr>
            <a:spLocks noGrp="1"/>
          </p:cNvSpPr>
          <p:nvPr>
            <p:ph type="title"/>
          </p:nvPr>
        </p:nvSpPr>
        <p:spPr/>
        <p:txBody>
          <a:bodyPr/>
          <a:lstStyle/>
          <a:p>
            <a:r>
              <a:rPr lang="en-US"/>
              <a:t>Hopper CPU jobs by Department in CEC : 2022</a:t>
            </a:r>
          </a:p>
        </p:txBody>
      </p:sp>
      <p:pic>
        <p:nvPicPr>
          <p:cNvPr id="4" name="Picture 3">
            <a:extLst>
              <a:ext uri="{FF2B5EF4-FFF2-40B4-BE49-F238E27FC236}">
                <a16:creationId xmlns:a16="http://schemas.microsoft.com/office/drawing/2014/main" id="{BF34B841-5E89-4C22-AF01-E465865A7CC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44609" y="1738925"/>
            <a:ext cx="3146571" cy="2121586"/>
          </a:xfrm>
          <a:prstGeom prst="rect">
            <a:avLst/>
          </a:prstGeom>
          <a:noFill/>
          <a:ln>
            <a:noFill/>
          </a:ln>
        </p:spPr>
      </p:pic>
      <p:pic>
        <p:nvPicPr>
          <p:cNvPr id="5" name="Picture 4">
            <a:extLst>
              <a:ext uri="{FF2B5EF4-FFF2-40B4-BE49-F238E27FC236}">
                <a16:creationId xmlns:a16="http://schemas.microsoft.com/office/drawing/2014/main" id="{C1C75474-3A4A-476D-8458-3FC715C85E0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51019" y="4073614"/>
            <a:ext cx="3333750" cy="2222500"/>
          </a:xfrm>
          <a:prstGeom prst="rect">
            <a:avLst/>
          </a:prstGeom>
          <a:noFill/>
          <a:ln>
            <a:noFill/>
          </a:ln>
        </p:spPr>
      </p:pic>
      <p:graphicFrame>
        <p:nvGraphicFramePr>
          <p:cNvPr id="6" name="Table 5">
            <a:extLst>
              <a:ext uri="{FF2B5EF4-FFF2-40B4-BE49-F238E27FC236}">
                <a16:creationId xmlns:a16="http://schemas.microsoft.com/office/drawing/2014/main" id="{6CCF39A8-EC32-4925-B1E5-ABE2001F42AE}"/>
              </a:ext>
            </a:extLst>
          </p:cNvPr>
          <p:cNvGraphicFramePr>
            <a:graphicFrameLocks noGrp="1"/>
          </p:cNvGraphicFramePr>
          <p:nvPr>
            <p:extLst>
              <p:ext uri="{D42A27DB-BD31-4B8C-83A1-F6EECF244321}">
                <p14:modId xmlns:p14="http://schemas.microsoft.com/office/powerpoint/2010/main" val="2826319241"/>
              </p:ext>
            </p:extLst>
          </p:nvPr>
        </p:nvGraphicFramePr>
        <p:xfrm>
          <a:off x="4781913" y="1892779"/>
          <a:ext cx="6571887" cy="1813878"/>
        </p:xfrm>
        <a:graphic>
          <a:graphicData uri="http://schemas.openxmlformats.org/drawingml/2006/table">
            <a:tbl>
              <a:tblPr firstRow="1" firstCol="1" bandRow="1"/>
              <a:tblGrid>
                <a:gridCol w="3927600">
                  <a:extLst>
                    <a:ext uri="{9D8B030D-6E8A-4147-A177-3AD203B41FA5}">
                      <a16:colId xmlns:a16="http://schemas.microsoft.com/office/drawing/2014/main" val="2011228278"/>
                    </a:ext>
                  </a:extLst>
                </a:gridCol>
                <a:gridCol w="613687">
                  <a:extLst>
                    <a:ext uri="{9D8B030D-6E8A-4147-A177-3AD203B41FA5}">
                      <a16:colId xmlns:a16="http://schemas.microsoft.com/office/drawing/2014/main" val="3348601367"/>
                    </a:ext>
                  </a:extLst>
                </a:gridCol>
                <a:gridCol w="1065399">
                  <a:extLst>
                    <a:ext uri="{9D8B030D-6E8A-4147-A177-3AD203B41FA5}">
                      <a16:colId xmlns:a16="http://schemas.microsoft.com/office/drawing/2014/main" val="1297750882"/>
                    </a:ext>
                  </a:extLst>
                </a:gridCol>
                <a:gridCol w="965201">
                  <a:extLst>
                    <a:ext uri="{9D8B030D-6E8A-4147-A177-3AD203B41FA5}">
                      <a16:colId xmlns:a16="http://schemas.microsoft.com/office/drawing/2014/main" val="2410352983"/>
                    </a:ext>
                  </a:extLst>
                </a:gridCol>
              </a:tblGrid>
              <a:tr h="182880">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Hopper 2022 GPU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4329029"/>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Bioengineering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BENG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1530946"/>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Computer 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69808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6609342"/>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Cyber Security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CYSE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508971"/>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Data Analytics and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DAEN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274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745005"/>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Electrical and Computer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82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8854382"/>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Information Sciences and Technology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IST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988711"/>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Systems Engineering and Operations Research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SEOR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216131"/>
                  </a:ext>
                </a:extLst>
              </a:tr>
              <a:tr h="182880">
                <a:tc>
                  <a:txBody>
                    <a:bodyPr/>
                    <a:lstStyle/>
                    <a:p>
                      <a:pPr marL="0" marR="0">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1" i="0" u="none" strike="noStrike">
                          <a:solidFill>
                            <a:srgbClr val="000000"/>
                          </a:solidFill>
                          <a:effectLst/>
                          <a:latin typeface="Calibri" panose="020F0502020204030204" pitchFamily="34" charset="0"/>
                        </a:rPr>
                        <a:t>70546</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3034607"/>
                  </a:ext>
                </a:extLst>
              </a:tr>
            </a:tbl>
          </a:graphicData>
        </a:graphic>
      </p:graphicFrame>
      <p:graphicFrame>
        <p:nvGraphicFramePr>
          <p:cNvPr id="7" name="Table 6">
            <a:extLst>
              <a:ext uri="{FF2B5EF4-FFF2-40B4-BE49-F238E27FC236}">
                <a16:creationId xmlns:a16="http://schemas.microsoft.com/office/drawing/2014/main" id="{3DC69B65-6049-479A-A23F-9BA2297BD660}"/>
              </a:ext>
            </a:extLst>
          </p:cNvPr>
          <p:cNvGraphicFramePr>
            <a:graphicFrameLocks noGrp="1"/>
          </p:cNvGraphicFramePr>
          <p:nvPr>
            <p:extLst>
              <p:ext uri="{D42A27DB-BD31-4B8C-83A1-F6EECF244321}">
                <p14:modId xmlns:p14="http://schemas.microsoft.com/office/powerpoint/2010/main" val="319523670"/>
              </p:ext>
            </p:extLst>
          </p:nvPr>
        </p:nvGraphicFramePr>
        <p:xfrm>
          <a:off x="4770029" y="4055110"/>
          <a:ext cx="6678018" cy="2362518"/>
        </p:xfrm>
        <a:graphic>
          <a:graphicData uri="http://schemas.openxmlformats.org/drawingml/2006/table">
            <a:tbl>
              <a:tblPr firstRow="1" firstCol="1" bandRow="1"/>
              <a:tblGrid>
                <a:gridCol w="4336308">
                  <a:extLst>
                    <a:ext uri="{9D8B030D-6E8A-4147-A177-3AD203B41FA5}">
                      <a16:colId xmlns:a16="http://schemas.microsoft.com/office/drawing/2014/main" val="1361928439"/>
                    </a:ext>
                  </a:extLst>
                </a:gridCol>
                <a:gridCol w="666837">
                  <a:extLst>
                    <a:ext uri="{9D8B030D-6E8A-4147-A177-3AD203B41FA5}">
                      <a16:colId xmlns:a16="http://schemas.microsoft.com/office/drawing/2014/main" val="1044585469"/>
                    </a:ext>
                  </a:extLst>
                </a:gridCol>
                <a:gridCol w="1053203">
                  <a:extLst>
                    <a:ext uri="{9D8B030D-6E8A-4147-A177-3AD203B41FA5}">
                      <a16:colId xmlns:a16="http://schemas.microsoft.com/office/drawing/2014/main" val="1632771878"/>
                    </a:ext>
                  </a:extLst>
                </a:gridCol>
                <a:gridCol w="621670">
                  <a:extLst>
                    <a:ext uri="{9D8B030D-6E8A-4147-A177-3AD203B41FA5}">
                      <a16:colId xmlns:a16="http://schemas.microsoft.com/office/drawing/2014/main" val="3909590486"/>
                    </a:ext>
                  </a:extLst>
                </a:gridCol>
              </a:tblGrid>
              <a:tr h="174236">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Hopper 2022 CPU Runs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College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60404"/>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Bioengineering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BENG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12714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11497325"/>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Civil, Environmental, and Infrastructure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CEIE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11548</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8964869"/>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Computer 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284762</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8785841"/>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Cyber Security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CYSE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53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5625455"/>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Data Analytics and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DAEN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427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3213949"/>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Electrical and Computer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64094</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6887283"/>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Information Sciences and Technology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IST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1791</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3565474"/>
                  </a:ext>
                </a:extLst>
              </a:tr>
              <a:tr h="182880">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Mechanical Engineering</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ME</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Arial" panose="020B0604020202020204" pitchFamily="34" charset="0"/>
                        </a:rPr>
                        <a:t>CEC</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4617710"/>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Systems Engineering and Operations Research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SEOR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1560</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365670"/>
                  </a:ext>
                </a:extLst>
              </a:tr>
              <a:tr h="182880">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 of Statistics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STAT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253527</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CEC</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591494"/>
                  </a:ext>
                </a:extLst>
              </a:tr>
              <a:tr h="182880">
                <a:tc>
                  <a:txBody>
                    <a:bodyPr/>
                    <a:lstStyle/>
                    <a:p>
                      <a:pPr marL="0" marR="0">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b="1">
                          <a:effectLst/>
                          <a:latin typeface="Calibri" panose="020F0502020204030204" pitchFamily="34" charset="0"/>
                          <a:ea typeface="Calibri" panose="020F0502020204030204" pitchFamily="34" charset="0"/>
                          <a:cs typeface="Arial" panose="020B0604020202020204" pitchFamily="34" charset="0"/>
                        </a:rPr>
                        <a:t>Total</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solidFill>
                            <a:srgbClr val="000000"/>
                          </a:solidFill>
                          <a:effectLst/>
                          <a:latin typeface="Calibri" panose="020F0502020204030204" pitchFamily="34" charset="0"/>
                        </a:rPr>
                        <a:t>630483</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5527053"/>
                  </a:ext>
                </a:extLst>
              </a:tr>
            </a:tbl>
          </a:graphicData>
        </a:graphic>
      </p:graphicFrame>
    </p:spTree>
    <p:extLst>
      <p:ext uri="{BB962C8B-B14F-4D97-AF65-F5344CB8AC3E}">
        <p14:creationId xmlns:p14="http://schemas.microsoft.com/office/powerpoint/2010/main" val="1686856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45</Slides>
  <Notes>0</Notes>
  <HiddenSlides>0</HiddenSlide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ARGO – HOPPER Clusters Usage Statistics 2020 - 2022</vt:lpstr>
      <vt:lpstr>Contents</vt:lpstr>
      <vt:lpstr>Cluster Account Requests and Training</vt:lpstr>
      <vt:lpstr>Cluster Account Requests and Training</vt:lpstr>
      <vt:lpstr>Cluster Account Requests by Faculty 2019 - 2022</vt:lpstr>
      <vt:lpstr>Cluster Accounts Requested by Students Each month 2019 - 2022</vt:lpstr>
      <vt:lpstr>Cluster Accounts Requested by Students arranged by School/College 2019 – 2022</vt:lpstr>
      <vt:lpstr>Students trained by School/College in 2022</vt:lpstr>
      <vt:lpstr>Students trained per month by School/College in 2022 </vt:lpstr>
      <vt:lpstr>Summary of Usage Numbers</vt:lpstr>
      <vt:lpstr>Total number of Jobs Run on both Argo and Hopper  </vt:lpstr>
      <vt:lpstr>GPU/CPU Jobs – Single Core vs. Multi-Core </vt:lpstr>
      <vt:lpstr>Jobs Submitted by School/Colleges</vt:lpstr>
      <vt:lpstr>All Jobs Submitted by School/College: ARGO</vt:lpstr>
      <vt:lpstr>All Jobs Submitted by School/College: Hopper</vt:lpstr>
      <vt:lpstr>Jobs Exit States</vt:lpstr>
      <vt:lpstr>Exit States for all Jobs on ARGO [2021, 2022]</vt:lpstr>
      <vt:lpstr>Exit States for all Jobs on HOPPER [2021, 2022]</vt:lpstr>
      <vt:lpstr>Monthly Usage Stats</vt:lpstr>
      <vt:lpstr>ARGO Active Users Monthly 2020-2021</vt:lpstr>
      <vt:lpstr>HOPPER Active Users Monthly 2021-2022</vt:lpstr>
      <vt:lpstr>ARGO</vt:lpstr>
      <vt:lpstr>GPU Usage by School/College</vt:lpstr>
      <vt:lpstr>GPU Usage by School/College</vt:lpstr>
      <vt:lpstr>ARGO GPU Usage by department </vt:lpstr>
      <vt:lpstr>GPU Usage by department: ARGO 2020</vt:lpstr>
      <vt:lpstr>GPU Usage by department: ARGO 2021</vt:lpstr>
      <vt:lpstr>GPU Usage by department: ARGO 2022</vt:lpstr>
      <vt:lpstr>ARGO CPU Usage by School/College</vt:lpstr>
      <vt:lpstr>ARGO CPU Usage by School/College</vt:lpstr>
      <vt:lpstr>ARGO CPU Usage by Department in CEC/COS: 2022</vt:lpstr>
      <vt:lpstr>PowerPoint Presentation</vt:lpstr>
      <vt:lpstr>PowerPoint Presentation</vt:lpstr>
      <vt:lpstr>HOPPER</vt:lpstr>
      <vt:lpstr>Hopper Usage</vt:lpstr>
      <vt:lpstr>Hopper GPU Usage by College/School</vt:lpstr>
      <vt:lpstr>GPU Usage by Department Hopper 2021</vt:lpstr>
      <vt:lpstr>GPU Usage by Department Hopper 2022</vt:lpstr>
      <vt:lpstr>Hopper CPU Usage</vt:lpstr>
      <vt:lpstr>CPU Usage by Department Hopper 2021</vt:lpstr>
      <vt:lpstr>CPU Usage by Department Hopper 2022</vt:lpstr>
      <vt:lpstr>PowerPoint Presentation</vt:lpstr>
      <vt:lpstr>Hopper CPU Jobs by School/College</vt:lpstr>
      <vt:lpstr>Hopper jobs by Department in CEC : 2021</vt:lpstr>
      <vt:lpstr>Hopper CPU jobs by Department in CEC : 2022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ARGO – HOPPER Clusters Usage Statistics 2020 - 2021</dc:title>
  <dc:creator>Swabir Silayi</dc:creator>
  <cp:revision>2</cp:revision>
  <dcterms:created xsi:type="dcterms:W3CDTF">2022-08-06T01:49:27Z</dcterms:created>
  <dcterms:modified xsi:type="dcterms:W3CDTF">2026-05-11T15:58:26Z</dcterms:modified>
</cp:coreProperties>
</file>